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Tahoma Bold" charset="1" panose="020B0804030504040204"/>
      <p:regular r:id="rId24"/>
    </p:embeddedFont>
    <p:embeddedFont>
      <p:font typeface="Tahoma" charset="1" panose="020B0604030504040204"/>
      <p:regular r:id="rId25"/>
    </p:embeddedFont>
    <p:embeddedFont>
      <p:font typeface="Canva Sans Bold" charset="1" panose="020B0803030501040103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svg" Type="http://schemas.openxmlformats.org/officeDocument/2006/relationships/image"/><Relationship Id="rId11" Target="../media/image22.png" Type="http://schemas.openxmlformats.org/officeDocument/2006/relationships/image"/><Relationship Id="rId2" Target="../media/image18.png" Type="http://schemas.openxmlformats.org/officeDocument/2006/relationships/image"/><Relationship Id="rId3" Target="../media/image19.sv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5.png" Type="http://schemas.openxmlformats.org/officeDocument/2006/relationships/image"/><Relationship Id="rId9" Target="../media/image1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0.png" Type="http://schemas.openxmlformats.org/officeDocument/2006/relationships/image"/><Relationship Id="rId11" Target="../media/image41.svg" Type="http://schemas.openxmlformats.org/officeDocument/2006/relationships/image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Relationship Id="rId6" Target="../media/image36.png" Type="http://schemas.openxmlformats.org/officeDocument/2006/relationships/image"/><Relationship Id="rId7" Target="../media/image37.svg" Type="http://schemas.openxmlformats.org/officeDocument/2006/relationships/image"/><Relationship Id="rId8" Target="../media/image38.png" Type="http://schemas.openxmlformats.org/officeDocument/2006/relationships/image"/><Relationship Id="rId9" Target="../media/image39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png" Type="http://schemas.openxmlformats.org/officeDocument/2006/relationships/image"/><Relationship Id="rId4" Target="../media/image44.svg" Type="http://schemas.openxmlformats.org/officeDocument/2006/relationships/image"/><Relationship Id="rId5" Target="../media/image4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3364777"/>
            <a:ext cx="18288000" cy="3086100"/>
            <a:chOff x="0" y="0"/>
            <a:chExt cx="4816593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12800"/>
            </a:xfrm>
            <a:custGeom>
              <a:avLst/>
              <a:gdLst/>
              <a:ahLst/>
              <a:cxnLst/>
              <a:rect r="r" b="b" t="t" l="l"/>
              <a:pathLst>
                <a:path h="81280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12636" y="148019"/>
            <a:ext cx="1099788" cy="1099788"/>
          </a:xfrm>
          <a:custGeom>
            <a:avLst/>
            <a:gdLst/>
            <a:ahLst/>
            <a:cxnLst/>
            <a:rect r="r" b="b" t="t" l="l"/>
            <a:pathLst>
              <a:path h="1099788" w="1099788">
                <a:moveTo>
                  <a:pt x="0" y="0"/>
                </a:moveTo>
                <a:lnTo>
                  <a:pt x="1099788" y="0"/>
                </a:lnTo>
                <a:lnTo>
                  <a:pt x="1099788" y="1099788"/>
                </a:lnTo>
                <a:lnTo>
                  <a:pt x="0" y="10997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61231" y="307388"/>
            <a:ext cx="5921454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TRƯỜNG KỸ THUẬT VÀ CÔNG NGHỆ</a:t>
            </a:r>
          </a:p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KHOA CÔNG NGHỆ THÔNG TIN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112770" y="1509395"/>
            <a:ext cx="12062460" cy="7524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b="true" sz="44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BÁO CÁO THỰC TẬP ĐỒ ÁN CƠ SỞ NGÀNH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396526" y="2499316"/>
            <a:ext cx="1494949" cy="570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ĐỀ TÀI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38737" y="6984277"/>
            <a:ext cx="5342013" cy="181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 VIÊN THỰC HIỆN: 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 TÊN: </a:t>
            </a: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LÊ TUẤN HUY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LỚP: DA23TTC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MSSV: 110123105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0" y="3715931"/>
            <a:ext cx="18288000" cy="2333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b="true" sz="4499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THIẾT KẾ WEBSITE HỖ TRỢ HỌC TẬP </a:t>
            </a:r>
          </a:p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b="true" sz="4499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CHO SINH VIÊN CÔNG NGHỆ THÔNG TIN</a:t>
            </a:r>
          </a:p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b="true" sz="4499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TRƯỜNG ĐẠI HỌC TRÀ VINH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984277"/>
            <a:ext cx="5596890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GIẢNG VIÊN HƯỚNG DẪN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THS. NGUYỄN HOÀNG DUY THIỆN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56014" y="75565"/>
            <a:ext cx="6854190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Nội dung trình bày 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42627" y="2337794"/>
            <a:ext cx="11441363" cy="1059048"/>
            <a:chOff x="0" y="0"/>
            <a:chExt cx="15255151" cy="1412065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755536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275553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80307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680307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name="TextBox 13" id="13"/>
          <p:cNvSpPr txBox="true"/>
          <p:nvPr/>
        </p:nvSpPr>
        <p:spPr>
          <a:xfrm rot="0">
            <a:off x="5270810" y="2499018"/>
            <a:ext cx="4053721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Giới thiệu đề tài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702323" y="4270662"/>
            <a:ext cx="511135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 quan hệ thống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031861" y="2550639"/>
            <a:ext cx="32349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355354" y="4270662"/>
            <a:ext cx="32349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2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42627" y="3820639"/>
            <a:ext cx="11441363" cy="1059048"/>
            <a:chOff x="0" y="0"/>
            <a:chExt cx="15255151" cy="1412065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2755536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275553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680307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680307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name="TextBox 24" id="24"/>
          <p:cNvSpPr txBox="true"/>
          <p:nvPr/>
        </p:nvSpPr>
        <p:spPr>
          <a:xfrm rot="0">
            <a:off x="5270810" y="3981863"/>
            <a:ext cx="511135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 quan</a:t>
            </a: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hệ thống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031861" y="3969037"/>
            <a:ext cx="32349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2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42627" y="5346413"/>
            <a:ext cx="11441363" cy="1059048"/>
            <a:chOff x="0" y="0"/>
            <a:chExt cx="15255151" cy="1412065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2755536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275553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680307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680307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name="TextBox 33" id="33"/>
          <p:cNvSpPr txBox="true"/>
          <p:nvPr/>
        </p:nvSpPr>
        <p:spPr>
          <a:xfrm rot="0">
            <a:off x="5270810" y="5507637"/>
            <a:ext cx="4360545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Kế</a:t>
            </a: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 quả đạt được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702323" y="7279281"/>
            <a:ext cx="511135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 quan hệ thống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676731" y="6829258"/>
            <a:ext cx="11607259" cy="1059048"/>
            <a:chOff x="0" y="0"/>
            <a:chExt cx="15476346" cy="1412065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1324173" y="0"/>
              <a:ext cx="14152172" cy="1412065"/>
              <a:chOff x="0" y="0"/>
              <a:chExt cx="2795491" cy="278926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2795491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2795491">
                    <a:moveTo>
                      <a:pt x="12400" y="0"/>
                    </a:moveTo>
                    <a:lnTo>
                      <a:pt x="2783091" y="0"/>
                    </a:lnTo>
                    <a:cubicBezTo>
                      <a:pt x="2789939" y="0"/>
                      <a:pt x="2795491" y="5552"/>
                      <a:pt x="2795491" y="12400"/>
                    </a:cubicBezTo>
                    <a:lnTo>
                      <a:pt x="2795491" y="266527"/>
                    </a:lnTo>
                    <a:cubicBezTo>
                      <a:pt x="2795491" y="269815"/>
                      <a:pt x="2794184" y="272969"/>
                      <a:pt x="2791859" y="275295"/>
                    </a:cubicBezTo>
                    <a:cubicBezTo>
                      <a:pt x="2789534" y="277620"/>
                      <a:pt x="2786380" y="278926"/>
                      <a:pt x="2783091" y="278926"/>
                    </a:cubicBezTo>
                    <a:lnTo>
                      <a:pt x="12400" y="278926"/>
                    </a:lnTo>
                    <a:cubicBezTo>
                      <a:pt x="9111" y="278926"/>
                      <a:pt x="5957" y="277620"/>
                      <a:pt x="3632" y="275295"/>
                    </a:cubicBezTo>
                    <a:cubicBezTo>
                      <a:pt x="1306" y="272969"/>
                      <a:pt x="0" y="269815"/>
                      <a:pt x="0" y="266527"/>
                    </a:cubicBezTo>
                    <a:lnTo>
                      <a:pt x="0" y="12400"/>
                    </a:lnTo>
                    <a:cubicBezTo>
                      <a:pt x="0" y="9111"/>
                      <a:pt x="1306" y="5957"/>
                      <a:pt x="3632" y="3632"/>
                    </a:cubicBezTo>
                    <a:cubicBezTo>
                      <a:pt x="5957" y="1306"/>
                      <a:pt x="9111" y="0"/>
                      <a:pt x="1240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47625"/>
                <a:ext cx="2795491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0" y="0"/>
              <a:ext cx="3493992" cy="1412065"/>
              <a:chOff x="0" y="0"/>
              <a:chExt cx="690171" cy="27892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90171" cy="278926"/>
              </a:xfrm>
              <a:custGeom>
                <a:avLst/>
                <a:gdLst/>
                <a:ahLst/>
                <a:cxnLst/>
                <a:rect r="r" b="b" t="t" l="l"/>
                <a:pathLst>
                  <a:path h="278926" w="690171">
                    <a:moveTo>
                      <a:pt x="0" y="0"/>
                    </a:moveTo>
                    <a:lnTo>
                      <a:pt x="486971" y="0"/>
                    </a:lnTo>
                    <a:lnTo>
                      <a:pt x="690171" y="139463"/>
                    </a:lnTo>
                    <a:lnTo>
                      <a:pt x="486971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77800" y="-47625"/>
                <a:ext cx="436171" cy="32655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name="TextBox 42" id="42"/>
          <p:cNvSpPr txBox="true"/>
          <p:nvPr/>
        </p:nvSpPr>
        <p:spPr>
          <a:xfrm rot="0">
            <a:off x="5270810" y="6990482"/>
            <a:ext cx="7338298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Kết luận</a:t>
            </a:r>
            <a:r>
              <a:rPr lang="en-US" b="true" sz="39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và hướng phát triển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031861" y="5521612"/>
            <a:ext cx="32349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3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031861" y="6990482"/>
            <a:ext cx="323493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403533" y="75565"/>
            <a:ext cx="655915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1. Giới thiệu đề tài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89069" y="1697430"/>
            <a:ext cx="43165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Bối cảnh thực tế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564372" y="8279820"/>
            <a:ext cx="17159256" cy="1356418"/>
            <a:chOff x="0" y="0"/>
            <a:chExt cx="4519310" cy="35724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519310" cy="357246"/>
            </a:xfrm>
            <a:custGeom>
              <a:avLst/>
              <a:gdLst/>
              <a:ahLst/>
              <a:cxnLst/>
              <a:rect r="r" b="b" t="t" l="l"/>
              <a:pathLst>
                <a:path h="357246" w="4519310">
                  <a:moveTo>
                    <a:pt x="7670" y="0"/>
                  </a:moveTo>
                  <a:lnTo>
                    <a:pt x="4511640" y="0"/>
                  </a:lnTo>
                  <a:cubicBezTo>
                    <a:pt x="4515876" y="0"/>
                    <a:pt x="4519310" y="3434"/>
                    <a:pt x="4519310" y="7670"/>
                  </a:cubicBezTo>
                  <a:lnTo>
                    <a:pt x="4519310" y="349576"/>
                  </a:lnTo>
                  <a:cubicBezTo>
                    <a:pt x="4519310" y="353812"/>
                    <a:pt x="4515876" y="357246"/>
                    <a:pt x="4511640" y="357246"/>
                  </a:cubicBezTo>
                  <a:lnTo>
                    <a:pt x="7670" y="357246"/>
                  </a:lnTo>
                  <a:cubicBezTo>
                    <a:pt x="3434" y="357246"/>
                    <a:pt x="0" y="353812"/>
                    <a:pt x="0" y="349576"/>
                  </a:cubicBezTo>
                  <a:lnTo>
                    <a:pt x="0" y="7670"/>
                  </a:lnTo>
                  <a:cubicBezTo>
                    <a:pt x="0" y="3434"/>
                    <a:pt x="3434" y="0"/>
                    <a:pt x="7670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4519310" cy="4048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937876" y="8431614"/>
            <a:ext cx="16483206" cy="986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=&gt; </a:t>
            </a:r>
            <a:r>
              <a:rPr lang="en-US" b="true" sz="27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Nhu cầu cấp thiết về một công cụ học tập hiệu quả và linh hoạt để hỗ trợ sinh viên ngoài </a:t>
            </a:r>
          </a:p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giờ học chính khóa.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7876" y="2478171"/>
            <a:ext cx="11024810" cy="986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Sinh viên ngành Công nghệ thông tin phải tiếp cần với khối lượng kiến thức lớn, trong khi thời lượng học trên lớp có hạn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9069" y="3591326"/>
            <a:ext cx="4727235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Những thách thức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37876" y="4394602"/>
            <a:ext cx="11428041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</a:t>
            </a: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hời lượng trên lớp có hạn: </a:t>
            </a: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khó nắm vững toàn bộ nội dung ngay tại buổi học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7876" y="5617730"/>
            <a:ext cx="11428041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</a:t>
            </a: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hó khăn trong việc ôn tập: </a:t>
            </a: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Việc xem lại bài giảng, ôn tập trước kỳ thi gặp nhiều khó khăn khi chỉ dựa vào tài liệu rời rạc.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37876" y="6840858"/>
            <a:ext cx="11428041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Khối lượng kiến thức lớn: </a:t>
            </a: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Các môn chuyên ngành đòi hỏi sinh viên phải tiếp cận với lượng kiến thức khổng lồ</a:t>
            </a:r>
            <a:r>
              <a:rPr lang="en-US" b="true" sz="29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4329501" y="6646430"/>
            <a:ext cx="1367271" cy="1292692"/>
          </a:xfrm>
          <a:custGeom>
            <a:avLst/>
            <a:gdLst/>
            <a:ahLst/>
            <a:cxnLst/>
            <a:rect r="r" b="b" t="t" l="l"/>
            <a:pathLst>
              <a:path h="1292692" w="1367271">
                <a:moveTo>
                  <a:pt x="0" y="0"/>
                </a:moveTo>
                <a:lnTo>
                  <a:pt x="1367271" y="0"/>
                </a:lnTo>
                <a:lnTo>
                  <a:pt x="1367271" y="1292693"/>
                </a:lnTo>
                <a:lnTo>
                  <a:pt x="0" y="12926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915686" y="3434375"/>
            <a:ext cx="1629699" cy="1653753"/>
          </a:xfrm>
          <a:custGeom>
            <a:avLst/>
            <a:gdLst/>
            <a:ahLst/>
            <a:cxnLst/>
            <a:rect r="r" b="b" t="t" l="l"/>
            <a:pathLst>
              <a:path h="1653753" w="1629699">
                <a:moveTo>
                  <a:pt x="0" y="0"/>
                </a:moveTo>
                <a:lnTo>
                  <a:pt x="1629699" y="0"/>
                </a:lnTo>
                <a:lnTo>
                  <a:pt x="1629699" y="1653753"/>
                </a:lnTo>
                <a:lnTo>
                  <a:pt x="0" y="16537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810366" y="5143500"/>
            <a:ext cx="1610716" cy="1347144"/>
          </a:xfrm>
          <a:custGeom>
            <a:avLst/>
            <a:gdLst/>
            <a:ahLst/>
            <a:cxnLst/>
            <a:rect r="r" b="b" t="t" l="l"/>
            <a:pathLst>
              <a:path h="1347144" w="1610716">
                <a:moveTo>
                  <a:pt x="0" y="0"/>
                </a:moveTo>
                <a:lnTo>
                  <a:pt x="1610716" y="0"/>
                </a:lnTo>
                <a:lnTo>
                  <a:pt x="1610716" y="1347144"/>
                </a:lnTo>
                <a:lnTo>
                  <a:pt x="0" y="13471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531572" y="2685216"/>
            <a:ext cx="6977900" cy="5683816"/>
          </a:xfrm>
          <a:custGeom>
            <a:avLst/>
            <a:gdLst/>
            <a:ahLst/>
            <a:cxnLst/>
            <a:rect r="r" b="b" t="t" l="l"/>
            <a:pathLst>
              <a:path h="5683816" w="6977900">
                <a:moveTo>
                  <a:pt x="0" y="0"/>
                </a:moveTo>
                <a:lnTo>
                  <a:pt x="6977900" y="0"/>
                </a:lnTo>
                <a:lnTo>
                  <a:pt x="6977900" y="5683816"/>
                </a:lnTo>
                <a:lnTo>
                  <a:pt x="0" y="56838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744281" y="3096776"/>
            <a:ext cx="6552482" cy="4093448"/>
          </a:xfrm>
          <a:custGeom>
            <a:avLst/>
            <a:gdLst/>
            <a:ahLst/>
            <a:cxnLst/>
            <a:rect r="r" b="b" t="t" l="l"/>
            <a:pathLst>
              <a:path h="4093448" w="6552482">
                <a:moveTo>
                  <a:pt x="0" y="0"/>
                </a:moveTo>
                <a:lnTo>
                  <a:pt x="6552482" y="0"/>
                </a:lnTo>
                <a:lnTo>
                  <a:pt x="6552482" y="4093448"/>
                </a:lnTo>
                <a:lnTo>
                  <a:pt x="0" y="40934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220" t="0" r="-2424" b="-45522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403533" y="75565"/>
            <a:ext cx="655915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1. Giới thiệu đề tài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89069" y="1697430"/>
            <a:ext cx="43165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Giải pháp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542492"/>
            <a:ext cx="8904312" cy="148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Xây</a:t>
            </a: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dựng một hệ thống học tập trực tuyến được thiết kế riêng cho sinh viên Công nghệ Thông tin Trường Đại học Trà Vinh.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89069" y="4195397"/>
            <a:ext cx="5172169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Mục tiêu của đề tài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9069" y="6549757"/>
            <a:ext cx="899013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2" indent="-323851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Tăng tính chủ động: </a:t>
            </a:r>
            <a:r>
              <a:rPr lang="en-US" sz="3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giúp sinh viên không bị hạn chế thời gian học.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9069" y="5285228"/>
            <a:ext cx="899013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sinh viên học tập: </a:t>
            </a:r>
            <a:r>
              <a:rPr lang="en-US" sz="3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cung cấp môi trường để sinh viên ôn tập kiến thức.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7816582"/>
            <a:ext cx="899013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viên: </a:t>
            </a:r>
            <a:r>
              <a:rPr lang="en-US" sz="3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dễ dàng chia sẽ bài giảng, tài liệu, bài kiểm tra,...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4065471"/>
            <a:ext cx="3458117" cy="4821716"/>
            <a:chOff x="0" y="0"/>
            <a:chExt cx="910780" cy="12699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0780" cy="1269917"/>
            </a:xfrm>
            <a:custGeom>
              <a:avLst/>
              <a:gdLst/>
              <a:ahLst/>
              <a:cxnLst/>
              <a:rect r="r" b="b" t="t" l="l"/>
              <a:pathLst>
                <a:path h="1269917" w="910780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14709" y="4358550"/>
            <a:ext cx="3086100" cy="1133010"/>
            <a:chOff x="0" y="0"/>
            <a:chExt cx="812800" cy="2984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298406"/>
            </a:xfrm>
            <a:custGeom>
              <a:avLst/>
              <a:gdLst/>
              <a:ahLst/>
              <a:cxnLst/>
              <a:rect r="r" b="b" t="t" l="l"/>
              <a:pathLst>
                <a:path h="298406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  <a:r>
                <a:rPr lang="en-US" b="true" sz="2600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CLIENT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/>
                  <a:ea typeface="Tahoma"/>
                  <a:cs typeface="Tahoma"/>
                  <a:sym typeface="Tahoma"/>
                </a:rPr>
                <a:t>(Frontend)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810483" y="4065471"/>
            <a:ext cx="3458117" cy="4782407"/>
            <a:chOff x="0" y="0"/>
            <a:chExt cx="910780" cy="12595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10780" cy="1259564"/>
            </a:xfrm>
            <a:custGeom>
              <a:avLst/>
              <a:gdLst/>
              <a:ahLst/>
              <a:cxnLst/>
              <a:rect r="r" b="b" t="t" l="l"/>
              <a:pathLst>
                <a:path h="1259564" w="910780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21505"/>
                  </a:lnTo>
                  <a:cubicBezTo>
                    <a:pt x="910780" y="1231599"/>
                    <a:pt x="906770" y="1241279"/>
                    <a:pt x="899633" y="1248417"/>
                  </a:cubicBezTo>
                  <a:cubicBezTo>
                    <a:pt x="892495" y="1255554"/>
                    <a:pt x="882815" y="1259564"/>
                    <a:pt x="872721" y="1259564"/>
                  </a:cubicBezTo>
                  <a:lnTo>
                    <a:pt x="38059" y="1259564"/>
                  </a:lnTo>
                  <a:cubicBezTo>
                    <a:pt x="27965" y="1259564"/>
                    <a:pt x="18285" y="1255554"/>
                    <a:pt x="11147" y="1248417"/>
                  </a:cubicBezTo>
                  <a:cubicBezTo>
                    <a:pt x="4010" y="1241279"/>
                    <a:pt x="0" y="1231599"/>
                    <a:pt x="0" y="1221505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910780" cy="13071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996492" y="4358550"/>
            <a:ext cx="3086100" cy="1133010"/>
            <a:chOff x="0" y="0"/>
            <a:chExt cx="812800" cy="29840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298406"/>
            </a:xfrm>
            <a:custGeom>
              <a:avLst/>
              <a:gdLst/>
              <a:ahLst/>
              <a:cxnLst/>
              <a:rect r="r" b="b" t="t" l="l"/>
              <a:pathLst>
                <a:path h="298406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  <a:r>
                <a:rPr lang="en-US" b="true" sz="2600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DATABASE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326314" y="5806278"/>
            <a:ext cx="2107055" cy="735554"/>
          </a:xfrm>
          <a:custGeom>
            <a:avLst/>
            <a:gdLst/>
            <a:ahLst/>
            <a:cxnLst/>
            <a:rect r="r" b="b" t="t" l="l"/>
            <a:pathLst>
              <a:path h="735554" w="2107055">
                <a:moveTo>
                  <a:pt x="0" y="0"/>
                </a:moveTo>
                <a:lnTo>
                  <a:pt x="2107054" y="0"/>
                </a:lnTo>
                <a:lnTo>
                  <a:pt x="2107054" y="735554"/>
                </a:lnTo>
                <a:lnTo>
                  <a:pt x="0" y="7355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326314" y="6856550"/>
            <a:ext cx="2732484" cy="569966"/>
          </a:xfrm>
          <a:custGeom>
            <a:avLst/>
            <a:gdLst/>
            <a:ahLst/>
            <a:cxnLst/>
            <a:rect r="r" b="b" t="t" l="l"/>
            <a:pathLst>
              <a:path h="569966" w="2732484">
                <a:moveTo>
                  <a:pt x="0" y="0"/>
                </a:moveTo>
                <a:lnTo>
                  <a:pt x="2732484" y="0"/>
                </a:lnTo>
                <a:lnTo>
                  <a:pt x="273248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314" t="-219543" r="-4287" b="-21549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8828505" y="3643171"/>
            <a:ext cx="9525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grpSp>
        <p:nvGrpSpPr>
          <p:cNvPr name="Group 20" id="20"/>
          <p:cNvGrpSpPr/>
          <p:nvPr/>
        </p:nvGrpSpPr>
        <p:grpSpPr>
          <a:xfrm rot="0">
            <a:off x="7639244" y="4065471"/>
            <a:ext cx="3458117" cy="4821716"/>
            <a:chOff x="0" y="0"/>
            <a:chExt cx="910780" cy="126991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10780" cy="1269917"/>
            </a:xfrm>
            <a:custGeom>
              <a:avLst/>
              <a:gdLst/>
              <a:ahLst/>
              <a:cxnLst/>
              <a:rect r="r" b="b" t="t" l="l"/>
              <a:pathLst>
                <a:path h="1269917" w="910780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825252" y="4358550"/>
            <a:ext cx="3086100" cy="1133010"/>
            <a:chOff x="0" y="0"/>
            <a:chExt cx="812800" cy="29840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298406"/>
            </a:xfrm>
            <a:custGeom>
              <a:avLst/>
              <a:gdLst/>
              <a:ahLst/>
              <a:cxnLst/>
              <a:rect r="r" b="b" t="t" l="l"/>
              <a:pathLst>
                <a:path h="298406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  <a:r>
                <a:rPr lang="en-US" b="true" sz="2600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SERVER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/>
                  <a:ea typeface="Tahoma"/>
                  <a:cs typeface="Tahoma"/>
                  <a:sym typeface="Tahoma"/>
                </a:rPr>
                <a:t>(Backend)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4519980" y="5491560"/>
            <a:ext cx="3086100" cy="1649973"/>
            <a:chOff x="0" y="0"/>
            <a:chExt cx="812800" cy="43456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434561"/>
            </a:xfrm>
            <a:custGeom>
              <a:avLst/>
              <a:gdLst/>
              <a:ahLst/>
              <a:cxnLst/>
              <a:rect r="r" b="b" t="t" l="l"/>
              <a:pathLst>
                <a:path h="434561" w="812800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539750" y="301211"/>
                  </a:lnTo>
                  <a:lnTo>
                    <a:pt x="539750" y="434561"/>
                  </a:lnTo>
                  <a:lnTo>
                    <a:pt x="812800" y="217280"/>
                  </a:lnTo>
                  <a:lnTo>
                    <a:pt x="539750" y="0"/>
                  </a:lnTo>
                  <a:lnTo>
                    <a:pt x="539750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101600" y="92075"/>
              <a:ext cx="609600" cy="2027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097361" y="5491560"/>
            <a:ext cx="2713122" cy="1649973"/>
            <a:chOff x="0" y="0"/>
            <a:chExt cx="714567" cy="43456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14567" cy="434561"/>
            </a:xfrm>
            <a:custGeom>
              <a:avLst/>
              <a:gdLst/>
              <a:ahLst/>
              <a:cxnLst/>
              <a:rect r="r" b="b" t="t" l="l"/>
              <a:pathLst>
                <a:path h="434561" w="714567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441517" y="301211"/>
                  </a:lnTo>
                  <a:lnTo>
                    <a:pt x="441517" y="434561"/>
                  </a:lnTo>
                  <a:lnTo>
                    <a:pt x="714567" y="217280"/>
                  </a:lnTo>
                  <a:lnTo>
                    <a:pt x="441517" y="0"/>
                  </a:lnTo>
                  <a:lnTo>
                    <a:pt x="441517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101600" y="92075"/>
              <a:ext cx="511367" cy="2027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8564634" y="5663010"/>
            <a:ext cx="803668" cy="885807"/>
          </a:xfrm>
          <a:custGeom>
            <a:avLst/>
            <a:gdLst/>
            <a:ahLst/>
            <a:cxnLst/>
            <a:rect r="r" b="b" t="t" l="l"/>
            <a:pathLst>
              <a:path h="885807" w="803668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8304574" y="6720267"/>
            <a:ext cx="2094294" cy="569966"/>
          </a:xfrm>
          <a:custGeom>
            <a:avLst/>
            <a:gdLst/>
            <a:ahLst/>
            <a:cxnLst/>
            <a:rect r="r" b="b" t="t" l="l"/>
            <a:pathLst>
              <a:path h="569966" w="2094294">
                <a:moveTo>
                  <a:pt x="0" y="0"/>
                </a:moveTo>
                <a:lnTo>
                  <a:pt x="2094294" y="0"/>
                </a:lnTo>
                <a:lnTo>
                  <a:pt x="209429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4577945" y="5811271"/>
            <a:ext cx="1923193" cy="1010550"/>
          </a:xfrm>
          <a:custGeom>
            <a:avLst/>
            <a:gdLst/>
            <a:ahLst/>
            <a:cxnLst/>
            <a:rect r="r" b="b" t="t" l="l"/>
            <a:pathLst>
              <a:path h="1010550" w="1923193">
                <a:moveTo>
                  <a:pt x="0" y="0"/>
                </a:moveTo>
                <a:lnTo>
                  <a:pt x="1923193" y="0"/>
                </a:lnTo>
                <a:lnTo>
                  <a:pt x="1923193" y="1010551"/>
                </a:lnTo>
                <a:lnTo>
                  <a:pt x="0" y="10105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4663162" y="75565"/>
            <a:ext cx="803989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Tổng quan hệ thống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9069" y="1697430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Kiến trúc hệ thống: hiện đại và linh hoạt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28700" y="2479210"/>
            <a:ext cx="1667920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 thống được xây dựng với Frontend và Backend tách biệt, giao tiếp qua RESTful API.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26314" y="7803304"/>
            <a:ext cx="2732484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Giao diện người dùng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057614" y="6073342"/>
            <a:ext cx="2010833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RESTFUL API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95782" y="7803304"/>
            <a:ext cx="2711878" cy="1044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Xử lý</a:t>
            </a: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 logic, xác thực,</a:t>
            </a: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nghiệp vụ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1" id="41"/>
          <p:cNvSpPr txBox="true"/>
          <p:nvPr/>
        </p:nvSpPr>
        <p:spPr>
          <a:xfrm rot="0">
            <a:off x="13996492" y="7450879"/>
            <a:ext cx="3272109" cy="1044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</a:p>
          <a:p>
            <a:pPr algn="l">
              <a:lnSpc>
                <a:spcPts val="2800"/>
              </a:lnSpc>
            </a:pP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Lưu</a:t>
            </a: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 trữ dự</a:t>
            </a:r>
            <a:r>
              <a:rPr lang="en-US" sz="2000" b="true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 liệu hệ thống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7619" y="2872181"/>
            <a:ext cx="5406471" cy="6386119"/>
            <a:chOff x="0" y="0"/>
            <a:chExt cx="1423927" cy="168194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23927" cy="1681941"/>
            </a:xfrm>
            <a:custGeom>
              <a:avLst/>
              <a:gdLst/>
              <a:ahLst/>
              <a:cxnLst/>
              <a:rect r="r" b="b" t="t" l="l"/>
              <a:pathLst>
                <a:path h="1681941" w="1423927">
                  <a:moveTo>
                    <a:pt x="24344" y="0"/>
                  </a:moveTo>
                  <a:lnTo>
                    <a:pt x="1399583" y="0"/>
                  </a:lnTo>
                  <a:cubicBezTo>
                    <a:pt x="1413028" y="0"/>
                    <a:pt x="1423927" y="10899"/>
                    <a:pt x="1423927" y="24344"/>
                  </a:cubicBezTo>
                  <a:lnTo>
                    <a:pt x="1423927" y="1657597"/>
                  </a:lnTo>
                  <a:cubicBezTo>
                    <a:pt x="1423927" y="1664054"/>
                    <a:pt x="1421362" y="1670246"/>
                    <a:pt x="1416797" y="1674811"/>
                  </a:cubicBezTo>
                  <a:cubicBezTo>
                    <a:pt x="1412231" y="1679376"/>
                    <a:pt x="1406039" y="1681941"/>
                    <a:pt x="1399583" y="1681941"/>
                  </a:cubicBezTo>
                  <a:lnTo>
                    <a:pt x="24344" y="1681941"/>
                  </a:lnTo>
                  <a:cubicBezTo>
                    <a:pt x="10899" y="1681941"/>
                    <a:pt x="0" y="1671042"/>
                    <a:pt x="0" y="1657597"/>
                  </a:cubicBezTo>
                  <a:lnTo>
                    <a:pt x="0" y="24344"/>
                  </a:lnTo>
                  <a:cubicBezTo>
                    <a:pt x="0" y="10899"/>
                    <a:pt x="10899" y="0"/>
                    <a:pt x="24344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423927" cy="17295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9549" y="2872181"/>
            <a:ext cx="5254071" cy="6386119"/>
            <a:chOff x="0" y="0"/>
            <a:chExt cx="1383788" cy="168194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788" cy="1681941"/>
            </a:xfrm>
            <a:custGeom>
              <a:avLst/>
              <a:gdLst/>
              <a:ahLst/>
              <a:cxnLst/>
              <a:rect r="r" b="b" t="t" l="l"/>
              <a:pathLst>
                <a:path h="1681941" w="1383788">
                  <a:moveTo>
                    <a:pt x="25050" y="0"/>
                  </a:moveTo>
                  <a:lnTo>
                    <a:pt x="1358739" y="0"/>
                  </a:lnTo>
                  <a:cubicBezTo>
                    <a:pt x="1365382" y="0"/>
                    <a:pt x="1371754" y="2639"/>
                    <a:pt x="1376451" y="7337"/>
                  </a:cubicBezTo>
                  <a:cubicBezTo>
                    <a:pt x="1381149" y="12035"/>
                    <a:pt x="1383788" y="18406"/>
                    <a:pt x="1383788" y="25050"/>
                  </a:cubicBezTo>
                  <a:lnTo>
                    <a:pt x="1383788" y="1656891"/>
                  </a:lnTo>
                  <a:cubicBezTo>
                    <a:pt x="1383788" y="1663535"/>
                    <a:pt x="1381149" y="1669906"/>
                    <a:pt x="1376451" y="1674604"/>
                  </a:cubicBezTo>
                  <a:cubicBezTo>
                    <a:pt x="1371754" y="1679302"/>
                    <a:pt x="1365382" y="1681941"/>
                    <a:pt x="1358739" y="1681941"/>
                  </a:cubicBezTo>
                  <a:lnTo>
                    <a:pt x="25050" y="1681941"/>
                  </a:lnTo>
                  <a:cubicBezTo>
                    <a:pt x="18406" y="1681941"/>
                    <a:pt x="12035" y="1679302"/>
                    <a:pt x="7337" y="1674604"/>
                  </a:cubicBezTo>
                  <a:cubicBezTo>
                    <a:pt x="2639" y="1669906"/>
                    <a:pt x="0" y="1663535"/>
                    <a:pt x="0" y="1656891"/>
                  </a:cubicBezTo>
                  <a:lnTo>
                    <a:pt x="0" y="25050"/>
                  </a:lnTo>
                  <a:cubicBezTo>
                    <a:pt x="0" y="18406"/>
                    <a:pt x="2639" y="12035"/>
                    <a:pt x="7337" y="7337"/>
                  </a:cubicBezTo>
                  <a:cubicBezTo>
                    <a:pt x="12035" y="2639"/>
                    <a:pt x="18406" y="0"/>
                    <a:pt x="25050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383788" cy="17295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310029" y="2872181"/>
            <a:ext cx="5273121" cy="6386119"/>
            <a:chOff x="0" y="0"/>
            <a:chExt cx="1388806" cy="16819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88806" cy="1681941"/>
            </a:xfrm>
            <a:custGeom>
              <a:avLst/>
              <a:gdLst/>
              <a:ahLst/>
              <a:cxnLst/>
              <a:rect r="r" b="b" t="t" l="l"/>
              <a:pathLst>
                <a:path h="1681941" w="1388806">
                  <a:moveTo>
                    <a:pt x="24959" y="0"/>
                  </a:moveTo>
                  <a:lnTo>
                    <a:pt x="1363847" y="0"/>
                  </a:lnTo>
                  <a:cubicBezTo>
                    <a:pt x="1370466" y="0"/>
                    <a:pt x="1376815" y="2630"/>
                    <a:pt x="1381495" y="7310"/>
                  </a:cubicBezTo>
                  <a:cubicBezTo>
                    <a:pt x="1386176" y="11991"/>
                    <a:pt x="1388806" y="18340"/>
                    <a:pt x="1388806" y="24959"/>
                  </a:cubicBezTo>
                  <a:lnTo>
                    <a:pt x="1388806" y="1656982"/>
                  </a:lnTo>
                  <a:cubicBezTo>
                    <a:pt x="1388806" y="1663601"/>
                    <a:pt x="1386176" y="1669950"/>
                    <a:pt x="1381495" y="1674631"/>
                  </a:cubicBezTo>
                  <a:cubicBezTo>
                    <a:pt x="1376815" y="1679311"/>
                    <a:pt x="1370466" y="1681941"/>
                    <a:pt x="1363847" y="1681941"/>
                  </a:cubicBezTo>
                  <a:lnTo>
                    <a:pt x="24959" y="1681941"/>
                  </a:lnTo>
                  <a:cubicBezTo>
                    <a:pt x="18340" y="1681941"/>
                    <a:pt x="11991" y="1679311"/>
                    <a:pt x="7310" y="1674631"/>
                  </a:cubicBezTo>
                  <a:cubicBezTo>
                    <a:pt x="2630" y="1669950"/>
                    <a:pt x="0" y="1663601"/>
                    <a:pt x="0" y="1656982"/>
                  </a:cubicBezTo>
                  <a:lnTo>
                    <a:pt x="0" y="24959"/>
                  </a:lnTo>
                  <a:cubicBezTo>
                    <a:pt x="0" y="18340"/>
                    <a:pt x="2630" y="11991"/>
                    <a:pt x="7310" y="7310"/>
                  </a:cubicBezTo>
                  <a:cubicBezTo>
                    <a:pt x="11991" y="2630"/>
                    <a:pt x="18340" y="0"/>
                    <a:pt x="24959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388806" cy="17295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789069" y="3950970"/>
            <a:ext cx="990106" cy="927099"/>
          </a:xfrm>
          <a:custGeom>
            <a:avLst/>
            <a:gdLst/>
            <a:ahLst/>
            <a:cxnLst/>
            <a:rect r="r" b="b" t="t" l="l"/>
            <a:pathLst>
              <a:path h="927099" w="990106">
                <a:moveTo>
                  <a:pt x="0" y="0"/>
                </a:moveTo>
                <a:lnTo>
                  <a:pt x="990106" y="0"/>
                </a:lnTo>
                <a:lnTo>
                  <a:pt x="990106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54748" y="5559935"/>
            <a:ext cx="1024427" cy="669954"/>
          </a:xfrm>
          <a:custGeom>
            <a:avLst/>
            <a:gdLst/>
            <a:ahLst/>
            <a:cxnLst/>
            <a:rect r="r" b="b" t="t" l="l"/>
            <a:pathLst>
              <a:path h="669954" w="1024427">
                <a:moveTo>
                  <a:pt x="0" y="0"/>
                </a:moveTo>
                <a:lnTo>
                  <a:pt x="1024427" y="0"/>
                </a:lnTo>
                <a:lnTo>
                  <a:pt x="1024427" y="669954"/>
                </a:lnTo>
                <a:lnTo>
                  <a:pt x="0" y="6699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498" t="0" r="-4498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789069" y="7190105"/>
            <a:ext cx="896790" cy="883666"/>
          </a:xfrm>
          <a:custGeom>
            <a:avLst/>
            <a:gdLst/>
            <a:ahLst/>
            <a:cxnLst/>
            <a:rect r="r" b="b" t="t" l="l"/>
            <a:pathLst>
              <a:path h="883666" w="896790">
                <a:moveTo>
                  <a:pt x="0" y="0"/>
                </a:moveTo>
                <a:lnTo>
                  <a:pt x="896790" y="0"/>
                </a:lnTo>
                <a:lnTo>
                  <a:pt x="896790" y="883666"/>
                </a:lnTo>
                <a:lnTo>
                  <a:pt x="0" y="883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773934" y="4414520"/>
            <a:ext cx="803668" cy="885807"/>
          </a:xfrm>
          <a:custGeom>
            <a:avLst/>
            <a:gdLst/>
            <a:ahLst/>
            <a:cxnLst/>
            <a:rect r="r" b="b" t="t" l="l"/>
            <a:pathLst>
              <a:path h="885807" w="803668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609370" y="6975970"/>
            <a:ext cx="1161447" cy="428269"/>
          </a:xfrm>
          <a:custGeom>
            <a:avLst/>
            <a:gdLst/>
            <a:ahLst/>
            <a:cxnLst/>
            <a:rect r="r" b="b" t="t" l="l"/>
            <a:pathLst>
              <a:path h="428269" w="1161447">
                <a:moveTo>
                  <a:pt x="0" y="0"/>
                </a:moveTo>
                <a:lnTo>
                  <a:pt x="1161447" y="0"/>
                </a:lnTo>
                <a:lnTo>
                  <a:pt x="1161447" y="428269"/>
                </a:lnTo>
                <a:lnTo>
                  <a:pt x="0" y="4282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-35489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556095" y="4551213"/>
            <a:ext cx="1281522" cy="673381"/>
          </a:xfrm>
          <a:custGeom>
            <a:avLst/>
            <a:gdLst/>
            <a:ahLst/>
            <a:cxnLst/>
            <a:rect r="r" b="b" t="t" l="l"/>
            <a:pathLst>
              <a:path h="673381" w="1281522">
                <a:moveTo>
                  <a:pt x="0" y="0"/>
                </a:moveTo>
                <a:lnTo>
                  <a:pt x="1281522" y="0"/>
                </a:lnTo>
                <a:lnTo>
                  <a:pt x="1281522" y="673381"/>
                </a:lnTo>
                <a:lnTo>
                  <a:pt x="0" y="67338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537930" y="6591935"/>
            <a:ext cx="1299687" cy="812304"/>
          </a:xfrm>
          <a:custGeom>
            <a:avLst/>
            <a:gdLst/>
            <a:ahLst/>
            <a:cxnLst/>
            <a:rect r="r" b="b" t="t" l="l"/>
            <a:pathLst>
              <a:path h="812304" w="1299687">
                <a:moveTo>
                  <a:pt x="0" y="0"/>
                </a:moveTo>
                <a:lnTo>
                  <a:pt x="1299687" y="0"/>
                </a:lnTo>
                <a:lnTo>
                  <a:pt x="1299687" y="812304"/>
                </a:lnTo>
                <a:lnTo>
                  <a:pt x="0" y="81230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770817" y="4032559"/>
            <a:ext cx="3845082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Nod</a:t>
            </a: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e.js: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Môi trường chạy JavaScript phía server với 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cơ chế bất đồng bộ, hiệu suất cao.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663162" y="75565"/>
            <a:ext cx="803989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Tổng quan hệ thống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9069" y="1697430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Nền tảng công nghệ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39118" y="3107055"/>
            <a:ext cx="1849173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b="true" sz="31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Frontend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155094" y="3147695"/>
            <a:ext cx="173818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b="true" sz="31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Backend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274753" y="3066415"/>
            <a:ext cx="3019822" cy="11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Database &amp; </a:t>
            </a:r>
          </a:p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b="true" sz="31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Authentication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79175" y="3978275"/>
            <a:ext cx="4244915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ReactJS: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Thư viện xây dựng giao diện dựa trên component.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779175" y="5260340"/>
            <a:ext cx="4244915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Tailwind CSS: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Framework CSS giúp thiết kế giao diện nhanh và linh hoạt.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810519" y="7047561"/>
            <a:ext cx="4213571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</a:t>
            </a: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ite: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Công cụ hỗ trợ build và phát triển ứng dụng với tốc độ siêu nhanh.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70817" y="6544310"/>
            <a:ext cx="3937553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Expr</a:t>
            </a: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essJS: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Framework tối giản giúp xây dựng API và ứng dụng web trên Node.js.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028117" y="4288155"/>
            <a:ext cx="343324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MySQL</a:t>
            </a: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Hệ quản trị cơ sở dữ liệu quan hệ 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mã nguồn mở và tin cậy.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4028117" y="6239841"/>
            <a:ext cx="343324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JWT: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Phươ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ng thức xác thực và phân quyền người dùng an toàn.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514075" y="2264443"/>
            <a:ext cx="1368325" cy="1539016"/>
          </a:xfrm>
          <a:custGeom>
            <a:avLst/>
            <a:gdLst/>
            <a:ahLst/>
            <a:cxnLst/>
            <a:rect r="r" b="b" t="t" l="l"/>
            <a:pathLst>
              <a:path h="1539016" w="1368325">
                <a:moveTo>
                  <a:pt x="0" y="0"/>
                </a:moveTo>
                <a:lnTo>
                  <a:pt x="1368324" y="0"/>
                </a:lnTo>
                <a:lnTo>
                  <a:pt x="1368324" y="1539016"/>
                </a:lnTo>
                <a:lnTo>
                  <a:pt x="0" y="1539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663162" y="75565"/>
            <a:ext cx="803989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Tổng quan hệ thống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89069" y="1496971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Phân quyền và chức năng theo vài trò</a:t>
            </a:r>
          </a:p>
        </p:txBody>
      </p:sp>
      <p:sp>
        <p:nvSpPr>
          <p:cNvPr name="AutoShape 8" id="8"/>
          <p:cNvSpPr/>
          <p:nvPr/>
        </p:nvSpPr>
        <p:spPr>
          <a:xfrm flipV="true">
            <a:off x="2820280" y="3049484"/>
            <a:ext cx="5623538" cy="106920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9812143" y="2922420"/>
            <a:ext cx="5543633" cy="1163610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9198237" y="3803459"/>
            <a:ext cx="0" cy="282571"/>
          </a:xfrm>
          <a:prstGeom prst="line">
            <a:avLst/>
          </a:prstGeom>
          <a:ln cap="flat" w="762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375569" y="4118683"/>
            <a:ext cx="5543544" cy="5425367"/>
            <a:chOff x="0" y="0"/>
            <a:chExt cx="1460028" cy="1428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60028" cy="1428903"/>
            </a:xfrm>
            <a:custGeom>
              <a:avLst/>
              <a:gdLst/>
              <a:ahLst/>
              <a:cxnLst/>
              <a:rect r="r" b="b" t="t" l="l"/>
              <a:pathLst>
                <a:path h="1428903" w="1460028">
                  <a:moveTo>
                    <a:pt x="23742" y="0"/>
                  </a:moveTo>
                  <a:lnTo>
                    <a:pt x="1436286" y="0"/>
                  </a:lnTo>
                  <a:cubicBezTo>
                    <a:pt x="1449399" y="0"/>
                    <a:pt x="1460028" y="10629"/>
                    <a:pt x="1460028" y="23742"/>
                  </a:cubicBezTo>
                  <a:lnTo>
                    <a:pt x="1460028" y="1405162"/>
                  </a:lnTo>
                  <a:cubicBezTo>
                    <a:pt x="1460028" y="1418274"/>
                    <a:pt x="1449399" y="1428903"/>
                    <a:pt x="1436286" y="1428903"/>
                  </a:cubicBezTo>
                  <a:lnTo>
                    <a:pt x="23742" y="1428903"/>
                  </a:lnTo>
                  <a:cubicBezTo>
                    <a:pt x="10629" y="1428903"/>
                    <a:pt x="0" y="1418274"/>
                    <a:pt x="0" y="1405162"/>
                  </a:cubicBezTo>
                  <a:lnTo>
                    <a:pt x="0" y="23742"/>
                  </a:lnTo>
                  <a:cubicBezTo>
                    <a:pt x="0" y="10629"/>
                    <a:pt x="10629" y="0"/>
                    <a:pt x="23742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460028" cy="14765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05480" y="4423483"/>
            <a:ext cx="3086100" cy="787937"/>
            <a:chOff x="0" y="0"/>
            <a:chExt cx="812800" cy="20752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207523"/>
            </a:xfrm>
            <a:custGeom>
              <a:avLst/>
              <a:gdLst/>
              <a:ahLst/>
              <a:cxnLst/>
              <a:rect r="r" b="b" t="t" l="l"/>
              <a:pathLst>
                <a:path h="207523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375569" y="4299658"/>
            <a:ext cx="5541165" cy="3929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b="true" sz="2799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Sinh viên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Xác thực: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đăng ký, đăng nhập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Khám phá: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tìm kiếm khóa học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 tập: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tham gia học, xem video bài giảng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Ôn tập: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làm bài trắc nghiệm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xem tiến độ học tập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202484" y="4086030"/>
            <a:ext cx="5562594" cy="5458020"/>
            <a:chOff x="0" y="0"/>
            <a:chExt cx="1465045" cy="14375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65045" cy="1437503"/>
            </a:xfrm>
            <a:custGeom>
              <a:avLst/>
              <a:gdLst/>
              <a:ahLst/>
              <a:cxnLst/>
              <a:rect r="r" b="b" t="t" l="l"/>
              <a:pathLst>
                <a:path h="1437503" w="1465045">
                  <a:moveTo>
                    <a:pt x="23660" y="0"/>
                  </a:moveTo>
                  <a:lnTo>
                    <a:pt x="1441385" y="0"/>
                  </a:lnTo>
                  <a:cubicBezTo>
                    <a:pt x="1447660" y="0"/>
                    <a:pt x="1453678" y="2493"/>
                    <a:pt x="1458115" y="6930"/>
                  </a:cubicBezTo>
                  <a:cubicBezTo>
                    <a:pt x="1462552" y="11367"/>
                    <a:pt x="1465045" y="17385"/>
                    <a:pt x="1465045" y="23660"/>
                  </a:cubicBezTo>
                  <a:lnTo>
                    <a:pt x="1465045" y="1413843"/>
                  </a:lnTo>
                  <a:cubicBezTo>
                    <a:pt x="1465045" y="1420118"/>
                    <a:pt x="1462552" y="1426136"/>
                    <a:pt x="1458115" y="1430573"/>
                  </a:cubicBezTo>
                  <a:cubicBezTo>
                    <a:pt x="1453678" y="1435011"/>
                    <a:pt x="1447660" y="1437503"/>
                    <a:pt x="1441385" y="1437503"/>
                  </a:cubicBezTo>
                  <a:lnTo>
                    <a:pt x="23660" y="1437503"/>
                  </a:lnTo>
                  <a:cubicBezTo>
                    <a:pt x="17385" y="1437503"/>
                    <a:pt x="11367" y="1435011"/>
                    <a:pt x="6930" y="1430573"/>
                  </a:cubicBezTo>
                  <a:cubicBezTo>
                    <a:pt x="2493" y="1426136"/>
                    <a:pt x="0" y="1420118"/>
                    <a:pt x="0" y="1413843"/>
                  </a:cubicBezTo>
                  <a:lnTo>
                    <a:pt x="0" y="23660"/>
                  </a:lnTo>
                  <a:cubicBezTo>
                    <a:pt x="0" y="17385"/>
                    <a:pt x="2493" y="11367"/>
                    <a:pt x="6930" y="6930"/>
                  </a:cubicBezTo>
                  <a:cubicBezTo>
                    <a:pt x="11367" y="2493"/>
                    <a:pt x="17385" y="0"/>
                    <a:pt x="23660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1465045" cy="14851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050827" y="4086030"/>
            <a:ext cx="5857998" cy="5458020"/>
            <a:chOff x="0" y="0"/>
            <a:chExt cx="1542847" cy="14375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42847" cy="1437503"/>
            </a:xfrm>
            <a:custGeom>
              <a:avLst/>
              <a:gdLst/>
              <a:ahLst/>
              <a:cxnLst/>
              <a:rect r="r" b="b" t="t" l="l"/>
              <a:pathLst>
                <a:path h="1437503" w="1542847">
                  <a:moveTo>
                    <a:pt x="22467" y="0"/>
                  </a:moveTo>
                  <a:lnTo>
                    <a:pt x="1520380" y="0"/>
                  </a:lnTo>
                  <a:cubicBezTo>
                    <a:pt x="1526339" y="0"/>
                    <a:pt x="1532053" y="2367"/>
                    <a:pt x="1536267" y="6580"/>
                  </a:cubicBezTo>
                  <a:cubicBezTo>
                    <a:pt x="1540480" y="10794"/>
                    <a:pt x="1542847" y="16509"/>
                    <a:pt x="1542847" y="22467"/>
                  </a:cubicBezTo>
                  <a:lnTo>
                    <a:pt x="1542847" y="1415036"/>
                  </a:lnTo>
                  <a:cubicBezTo>
                    <a:pt x="1542847" y="1420995"/>
                    <a:pt x="1540480" y="1426709"/>
                    <a:pt x="1536267" y="1430923"/>
                  </a:cubicBezTo>
                  <a:cubicBezTo>
                    <a:pt x="1532053" y="1435136"/>
                    <a:pt x="1526339" y="1437503"/>
                    <a:pt x="1520380" y="1437503"/>
                  </a:cubicBezTo>
                  <a:lnTo>
                    <a:pt x="22467" y="1437503"/>
                  </a:lnTo>
                  <a:cubicBezTo>
                    <a:pt x="16509" y="1437503"/>
                    <a:pt x="10794" y="1435136"/>
                    <a:pt x="6580" y="1430923"/>
                  </a:cubicBezTo>
                  <a:cubicBezTo>
                    <a:pt x="2367" y="1426709"/>
                    <a:pt x="0" y="1420995"/>
                    <a:pt x="0" y="1415036"/>
                  </a:cubicBezTo>
                  <a:lnTo>
                    <a:pt x="0" y="22467"/>
                  </a:lnTo>
                  <a:cubicBezTo>
                    <a:pt x="0" y="16509"/>
                    <a:pt x="2367" y="10794"/>
                    <a:pt x="6580" y="6580"/>
                  </a:cubicBezTo>
                  <a:cubicBezTo>
                    <a:pt x="10794" y="2367"/>
                    <a:pt x="16509" y="0"/>
                    <a:pt x="22467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1542847" cy="14851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7440731" y="4423483"/>
            <a:ext cx="3086100" cy="787937"/>
            <a:chOff x="0" y="0"/>
            <a:chExt cx="812800" cy="20752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207523"/>
            </a:xfrm>
            <a:custGeom>
              <a:avLst/>
              <a:gdLst/>
              <a:ahLst/>
              <a:cxnLst/>
              <a:rect r="r" b="b" t="t" l="l"/>
              <a:pathLst>
                <a:path h="207523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202484" y="4299658"/>
            <a:ext cx="5413415" cy="4919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b="true" sz="2799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Giảng viên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khóa</a:t>
            </a: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học: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tạo, sửa, xóa khóa học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bài học: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thêm, sửa, xóa bài học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Quàn lý kiểm tra: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thêm, sửa, xóa bài kiểm 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xem danh sách sinh viên tham gia khóa học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3436776" y="4423483"/>
            <a:ext cx="3086100" cy="787937"/>
            <a:chOff x="0" y="0"/>
            <a:chExt cx="812800" cy="20752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207523"/>
            </a:xfrm>
            <a:custGeom>
              <a:avLst/>
              <a:gdLst/>
              <a:ahLst/>
              <a:cxnLst/>
              <a:rect r="r" b="b" t="t" l="l"/>
              <a:pathLst>
                <a:path h="207523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2050827" y="4299658"/>
            <a:ext cx="5857998" cy="3929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b="true" sz="2799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Quản trị viên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người dùng </a:t>
            </a: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quản lý toàn bộ danh sách người dùng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hệ thống: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quản lý toàn bộ danh sách khóa học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 kê: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theo dõi dữ liệu của hệ thống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6999417" y="3294189"/>
            <a:ext cx="9828664" cy="5391821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0" t="-2716" r="0" b="-59959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9069" y="1496971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74502" y="2255964"/>
            <a:ext cx="1530989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 diện trực quan, giúp sinh viên dễ dàng tìm kiếm, tham gia và theo dõi tiến độ học tập</a:t>
            </a:r>
          </a:p>
        </p:txBody>
      </p:sp>
      <p:sp>
        <p:nvSpPr>
          <p:cNvPr name="AutoShape 14" id="14"/>
          <p:cNvSpPr/>
          <p:nvPr/>
        </p:nvSpPr>
        <p:spPr>
          <a:xfrm>
            <a:off x="2899889" y="6063489"/>
            <a:ext cx="4400686" cy="25046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028700" y="5584335"/>
            <a:ext cx="4166235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Lọc khóa học theo năm học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6999417" y="3294189"/>
            <a:ext cx="9828664" cy="5391821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-23802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AutoShape 11" id="11"/>
          <p:cNvSpPr/>
          <p:nvPr/>
        </p:nvSpPr>
        <p:spPr>
          <a:xfrm>
            <a:off x="3381545" y="5729208"/>
            <a:ext cx="4323621" cy="40567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1496971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74502" y="2255964"/>
            <a:ext cx="1530989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 diện trực quan, giúp sinh viên dễ dàng tìm kiếm, tham gia và theo dõi tiến độ học tập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2586" y="4904343"/>
            <a:ext cx="4297918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true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dõi tiến độ hoàn thành</a:t>
            </a:r>
          </a:p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qua thanh trạng thái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9606539" y="2988384"/>
            <a:ext cx="7652761" cy="6292992"/>
            <a:chOff x="0" y="0"/>
            <a:chExt cx="4188460" cy="34442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8100" y="38100"/>
              <a:ext cx="4105910" cy="3368040"/>
            </a:xfrm>
            <a:custGeom>
              <a:avLst/>
              <a:gdLst/>
              <a:ahLst/>
              <a:cxnLst/>
              <a:rect r="r" b="b" t="t" l="l"/>
              <a:pathLst>
                <a:path h="3368040" w="4105910">
                  <a:moveTo>
                    <a:pt x="0" y="0"/>
                  </a:moveTo>
                  <a:lnTo>
                    <a:pt x="4105910" y="0"/>
                  </a:lnTo>
                  <a:lnTo>
                    <a:pt x="4105910" y="3368040"/>
                  </a:lnTo>
                  <a:lnTo>
                    <a:pt x="0" y="3368040"/>
                  </a:lnTo>
                  <a:close/>
                </a:path>
              </a:pathLst>
            </a:custGeom>
            <a:blipFill>
              <a:blip r:embed="rId2"/>
              <a:stretch>
                <a:fillRect l="0" t="0" r="-4657" b="-37559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6350"/>
              <a:ext cx="4175760" cy="3431540"/>
            </a:xfrm>
            <a:custGeom>
              <a:avLst/>
              <a:gdLst/>
              <a:ahLst/>
              <a:cxnLst/>
              <a:rect r="r" b="b" t="t" l="l"/>
              <a:pathLst>
                <a:path h="3431540" w="4175760">
                  <a:moveTo>
                    <a:pt x="0" y="0"/>
                  </a:moveTo>
                  <a:lnTo>
                    <a:pt x="63500" y="0"/>
                  </a:lnTo>
                  <a:lnTo>
                    <a:pt x="63500" y="63500"/>
                  </a:lnTo>
                  <a:lnTo>
                    <a:pt x="0" y="63500"/>
                  </a:lnTo>
                  <a:lnTo>
                    <a:pt x="0" y="0"/>
                  </a:lnTo>
                  <a:close/>
                  <a:moveTo>
                    <a:pt x="4112260" y="0"/>
                  </a:moveTo>
                  <a:lnTo>
                    <a:pt x="4112260" y="63500"/>
                  </a:lnTo>
                  <a:lnTo>
                    <a:pt x="4175760" y="63500"/>
                  </a:lnTo>
                  <a:lnTo>
                    <a:pt x="4175760" y="0"/>
                  </a:lnTo>
                  <a:lnTo>
                    <a:pt x="4112260" y="0"/>
                  </a:lnTo>
                  <a:close/>
                  <a:moveTo>
                    <a:pt x="2056130" y="63500"/>
                  </a:moveTo>
                  <a:lnTo>
                    <a:pt x="2119630" y="63500"/>
                  </a:lnTo>
                  <a:lnTo>
                    <a:pt x="2119630" y="0"/>
                  </a:lnTo>
                  <a:lnTo>
                    <a:pt x="2056130" y="0"/>
                  </a:lnTo>
                  <a:lnTo>
                    <a:pt x="2056130" y="63500"/>
                  </a:lnTo>
                  <a:close/>
                  <a:moveTo>
                    <a:pt x="0" y="3431540"/>
                  </a:moveTo>
                  <a:lnTo>
                    <a:pt x="63500" y="3431540"/>
                  </a:lnTo>
                  <a:lnTo>
                    <a:pt x="63500" y="3368040"/>
                  </a:lnTo>
                  <a:lnTo>
                    <a:pt x="0" y="3368040"/>
                  </a:lnTo>
                  <a:lnTo>
                    <a:pt x="0" y="3431540"/>
                  </a:lnTo>
                  <a:close/>
                  <a:moveTo>
                    <a:pt x="4112260" y="3431540"/>
                  </a:moveTo>
                  <a:lnTo>
                    <a:pt x="4175760" y="3431540"/>
                  </a:lnTo>
                  <a:lnTo>
                    <a:pt x="4175760" y="3368040"/>
                  </a:lnTo>
                  <a:lnTo>
                    <a:pt x="4112260" y="3368040"/>
                  </a:lnTo>
                  <a:lnTo>
                    <a:pt x="4112260" y="3431540"/>
                  </a:lnTo>
                  <a:close/>
                  <a:moveTo>
                    <a:pt x="2056130" y="3431540"/>
                  </a:moveTo>
                  <a:lnTo>
                    <a:pt x="2119630" y="3431540"/>
                  </a:lnTo>
                  <a:lnTo>
                    <a:pt x="2119630" y="3368040"/>
                  </a:lnTo>
                  <a:lnTo>
                    <a:pt x="2056130" y="3368040"/>
                  </a:lnTo>
                  <a:lnTo>
                    <a:pt x="2056130" y="3431540"/>
                  </a:lnTo>
                  <a:close/>
                  <a:moveTo>
                    <a:pt x="4112260" y="1684020"/>
                  </a:moveTo>
                  <a:lnTo>
                    <a:pt x="4112260" y="1747520"/>
                  </a:lnTo>
                  <a:lnTo>
                    <a:pt x="4175760" y="1747520"/>
                  </a:lnTo>
                  <a:lnTo>
                    <a:pt x="4175760" y="1684020"/>
                  </a:lnTo>
                  <a:lnTo>
                    <a:pt x="4141470" y="1684020"/>
                  </a:lnTo>
                  <a:lnTo>
                    <a:pt x="4112260" y="1684020"/>
                  </a:lnTo>
                  <a:close/>
                  <a:moveTo>
                    <a:pt x="0" y="1747520"/>
                  </a:moveTo>
                  <a:lnTo>
                    <a:pt x="63500" y="1747520"/>
                  </a:lnTo>
                  <a:lnTo>
                    <a:pt x="63500" y="1684020"/>
                  </a:lnTo>
                  <a:lnTo>
                    <a:pt x="0" y="1684020"/>
                  </a:lnTo>
                  <a:lnTo>
                    <a:pt x="0" y="174752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88460" cy="3444240"/>
            </a:xfrm>
            <a:custGeom>
              <a:avLst/>
              <a:gdLst/>
              <a:ahLst/>
              <a:cxnLst/>
              <a:rect r="r" b="b" t="t" l="l"/>
              <a:pathLst>
                <a:path h="3444240" w="4188460">
                  <a:moveTo>
                    <a:pt x="4188460" y="76200"/>
                  </a:moveTo>
                  <a:lnTo>
                    <a:pt x="4188460" y="0"/>
                  </a:lnTo>
                  <a:lnTo>
                    <a:pt x="4112260" y="0"/>
                  </a:lnTo>
                  <a:lnTo>
                    <a:pt x="4112260" y="31750"/>
                  </a:lnTo>
                  <a:lnTo>
                    <a:pt x="2132330" y="31750"/>
                  </a:lnTo>
                  <a:lnTo>
                    <a:pt x="2132330" y="0"/>
                  </a:lnTo>
                  <a:lnTo>
                    <a:pt x="2056130" y="0"/>
                  </a:lnTo>
                  <a:lnTo>
                    <a:pt x="2056130" y="31750"/>
                  </a:lnTo>
                  <a:lnTo>
                    <a:pt x="76200" y="31750"/>
                  </a:lnTo>
                  <a:lnTo>
                    <a:pt x="76200" y="0"/>
                  </a:lnTo>
                  <a:lnTo>
                    <a:pt x="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1684020"/>
                  </a:lnTo>
                  <a:lnTo>
                    <a:pt x="0" y="1684020"/>
                  </a:lnTo>
                  <a:lnTo>
                    <a:pt x="0" y="1760220"/>
                  </a:lnTo>
                  <a:lnTo>
                    <a:pt x="31750" y="1760220"/>
                  </a:lnTo>
                  <a:lnTo>
                    <a:pt x="31750" y="3368040"/>
                  </a:lnTo>
                  <a:lnTo>
                    <a:pt x="0" y="3368040"/>
                  </a:lnTo>
                  <a:lnTo>
                    <a:pt x="0" y="3444240"/>
                  </a:lnTo>
                  <a:lnTo>
                    <a:pt x="76200" y="3444240"/>
                  </a:lnTo>
                  <a:lnTo>
                    <a:pt x="76200" y="3412490"/>
                  </a:lnTo>
                  <a:lnTo>
                    <a:pt x="2056130" y="3412490"/>
                  </a:lnTo>
                  <a:lnTo>
                    <a:pt x="2056130" y="3444240"/>
                  </a:lnTo>
                  <a:lnTo>
                    <a:pt x="2132330" y="3444240"/>
                  </a:lnTo>
                  <a:lnTo>
                    <a:pt x="2132330" y="3412490"/>
                  </a:lnTo>
                  <a:lnTo>
                    <a:pt x="4112260" y="3412490"/>
                  </a:lnTo>
                  <a:lnTo>
                    <a:pt x="4112260" y="3444240"/>
                  </a:lnTo>
                  <a:lnTo>
                    <a:pt x="4188460" y="3444240"/>
                  </a:lnTo>
                  <a:lnTo>
                    <a:pt x="4188460" y="3368040"/>
                  </a:lnTo>
                  <a:lnTo>
                    <a:pt x="4156710" y="3368040"/>
                  </a:lnTo>
                  <a:lnTo>
                    <a:pt x="4156710" y="1760220"/>
                  </a:lnTo>
                  <a:lnTo>
                    <a:pt x="4188460" y="1760220"/>
                  </a:lnTo>
                  <a:lnTo>
                    <a:pt x="4188460" y="1684020"/>
                  </a:lnTo>
                  <a:lnTo>
                    <a:pt x="4156710" y="1684020"/>
                  </a:lnTo>
                  <a:lnTo>
                    <a:pt x="4156710" y="76200"/>
                  </a:lnTo>
                  <a:lnTo>
                    <a:pt x="4188460" y="76200"/>
                  </a:lnTo>
                  <a:close/>
                  <a:moveTo>
                    <a:pt x="4124960" y="12700"/>
                  </a:moveTo>
                  <a:lnTo>
                    <a:pt x="4175760" y="12700"/>
                  </a:lnTo>
                  <a:lnTo>
                    <a:pt x="4175760" y="63500"/>
                  </a:lnTo>
                  <a:lnTo>
                    <a:pt x="4124960" y="63500"/>
                  </a:lnTo>
                  <a:lnTo>
                    <a:pt x="4124960" y="12700"/>
                  </a:lnTo>
                  <a:close/>
                  <a:moveTo>
                    <a:pt x="2068830" y="12700"/>
                  </a:moveTo>
                  <a:lnTo>
                    <a:pt x="2119630" y="12700"/>
                  </a:lnTo>
                  <a:lnTo>
                    <a:pt x="2119630" y="63500"/>
                  </a:lnTo>
                  <a:lnTo>
                    <a:pt x="2068830" y="63500"/>
                  </a:lnTo>
                  <a:lnTo>
                    <a:pt x="2068830" y="12700"/>
                  </a:lnTo>
                  <a:close/>
                  <a:moveTo>
                    <a:pt x="12700" y="63500"/>
                  </a:moveTo>
                  <a:lnTo>
                    <a:pt x="12700" y="12700"/>
                  </a:lnTo>
                  <a:lnTo>
                    <a:pt x="63500" y="12700"/>
                  </a:lnTo>
                  <a:lnTo>
                    <a:pt x="63500" y="63500"/>
                  </a:lnTo>
                  <a:lnTo>
                    <a:pt x="12700" y="63500"/>
                  </a:lnTo>
                  <a:close/>
                  <a:moveTo>
                    <a:pt x="12700" y="1747520"/>
                  </a:moveTo>
                  <a:lnTo>
                    <a:pt x="12700" y="1696720"/>
                  </a:lnTo>
                  <a:lnTo>
                    <a:pt x="63500" y="1696720"/>
                  </a:lnTo>
                  <a:lnTo>
                    <a:pt x="63500" y="1747520"/>
                  </a:lnTo>
                  <a:lnTo>
                    <a:pt x="12700" y="1747520"/>
                  </a:lnTo>
                  <a:close/>
                  <a:moveTo>
                    <a:pt x="63500" y="3431540"/>
                  </a:moveTo>
                  <a:lnTo>
                    <a:pt x="12700" y="3431540"/>
                  </a:lnTo>
                  <a:lnTo>
                    <a:pt x="12700" y="3380740"/>
                  </a:lnTo>
                  <a:lnTo>
                    <a:pt x="63500" y="3380740"/>
                  </a:lnTo>
                  <a:lnTo>
                    <a:pt x="63500" y="3431540"/>
                  </a:lnTo>
                  <a:close/>
                  <a:moveTo>
                    <a:pt x="2119630" y="3431540"/>
                  </a:moveTo>
                  <a:lnTo>
                    <a:pt x="2068830" y="3431540"/>
                  </a:lnTo>
                  <a:lnTo>
                    <a:pt x="2068830" y="3380740"/>
                  </a:lnTo>
                  <a:lnTo>
                    <a:pt x="2119630" y="3380740"/>
                  </a:lnTo>
                  <a:lnTo>
                    <a:pt x="2119630" y="3431540"/>
                  </a:lnTo>
                  <a:close/>
                  <a:moveTo>
                    <a:pt x="4175760" y="3380740"/>
                  </a:moveTo>
                  <a:lnTo>
                    <a:pt x="4175760" y="3431540"/>
                  </a:lnTo>
                  <a:lnTo>
                    <a:pt x="4124960" y="3431540"/>
                  </a:lnTo>
                  <a:lnTo>
                    <a:pt x="4124960" y="3380740"/>
                  </a:lnTo>
                  <a:lnTo>
                    <a:pt x="4175760" y="3380740"/>
                  </a:lnTo>
                  <a:close/>
                  <a:moveTo>
                    <a:pt x="4175760" y="1747520"/>
                  </a:moveTo>
                  <a:lnTo>
                    <a:pt x="4124960" y="1747520"/>
                  </a:lnTo>
                  <a:lnTo>
                    <a:pt x="4124960" y="1696720"/>
                  </a:lnTo>
                  <a:lnTo>
                    <a:pt x="4175760" y="1696720"/>
                  </a:lnTo>
                  <a:lnTo>
                    <a:pt x="4175760" y="1747520"/>
                  </a:lnTo>
                  <a:close/>
                  <a:moveTo>
                    <a:pt x="4144010" y="1684020"/>
                  </a:moveTo>
                  <a:lnTo>
                    <a:pt x="4112260" y="1684020"/>
                  </a:lnTo>
                  <a:lnTo>
                    <a:pt x="4112260" y="1760220"/>
                  </a:lnTo>
                  <a:lnTo>
                    <a:pt x="4144010" y="1760220"/>
                  </a:lnTo>
                  <a:lnTo>
                    <a:pt x="4144010" y="3368040"/>
                  </a:lnTo>
                  <a:lnTo>
                    <a:pt x="4112260" y="3368040"/>
                  </a:lnTo>
                  <a:lnTo>
                    <a:pt x="4112260" y="3399790"/>
                  </a:lnTo>
                  <a:lnTo>
                    <a:pt x="2132330" y="3399790"/>
                  </a:lnTo>
                  <a:lnTo>
                    <a:pt x="2132330" y="3368040"/>
                  </a:lnTo>
                  <a:lnTo>
                    <a:pt x="2056130" y="3368040"/>
                  </a:lnTo>
                  <a:lnTo>
                    <a:pt x="2056130" y="3399790"/>
                  </a:lnTo>
                  <a:lnTo>
                    <a:pt x="76200" y="3399790"/>
                  </a:lnTo>
                  <a:lnTo>
                    <a:pt x="76200" y="3368040"/>
                  </a:lnTo>
                  <a:lnTo>
                    <a:pt x="44450" y="3368040"/>
                  </a:lnTo>
                  <a:lnTo>
                    <a:pt x="44450" y="1760220"/>
                  </a:lnTo>
                  <a:lnTo>
                    <a:pt x="76200" y="1760220"/>
                  </a:lnTo>
                  <a:lnTo>
                    <a:pt x="76200" y="1684020"/>
                  </a:lnTo>
                  <a:lnTo>
                    <a:pt x="44450" y="168402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2056130" y="44450"/>
                  </a:lnTo>
                  <a:lnTo>
                    <a:pt x="2056130" y="76200"/>
                  </a:lnTo>
                  <a:lnTo>
                    <a:pt x="2132330" y="76200"/>
                  </a:lnTo>
                  <a:lnTo>
                    <a:pt x="2132330" y="44450"/>
                  </a:lnTo>
                  <a:lnTo>
                    <a:pt x="4112260" y="44450"/>
                  </a:lnTo>
                  <a:lnTo>
                    <a:pt x="4112260" y="76200"/>
                  </a:lnTo>
                  <a:lnTo>
                    <a:pt x="4144010" y="76200"/>
                  </a:lnTo>
                  <a:lnTo>
                    <a:pt x="4144010" y="1684020"/>
                  </a:lnTo>
                  <a:close/>
                </a:path>
              </a:pathLst>
            </a:custGeom>
            <a:solidFill>
              <a:srgbClr val="484FA2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89069" y="1496971"/>
            <a:ext cx="10826830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74502" y="2255964"/>
            <a:ext cx="1530989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 diện trực quan, giúp sinh viên dễ dàng tìm kiếm, tham gia và theo dõi tiến độ học tập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904298" y="3283973"/>
            <a:ext cx="4778812" cy="405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Khung xem video: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phát bài giảng</a:t>
            </a:r>
          </a:p>
        </p:txBody>
      </p:sp>
      <p:sp>
        <p:nvSpPr>
          <p:cNvPr name="AutoShape 13" id="13"/>
          <p:cNvSpPr/>
          <p:nvPr/>
        </p:nvSpPr>
        <p:spPr>
          <a:xfrm>
            <a:off x="6293703" y="3689737"/>
            <a:ext cx="6153110" cy="124318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 flipV="true">
            <a:off x="2587479" y="4668014"/>
            <a:ext cx="13992296" cy="91646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028700" y="4497705"/>
            <a:ext cx="3607313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Danh sách điều hướng: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chuyển đổi và đánh dấu bài học đã hoàn thành</a:t>
            </a:r>
          </a:p>
        </p:txBody>
      </p:sp>
      <p:sp>
        <p:nvSpPr>
          <p:cNvPr name="AutoShape 16" id="16"/>
          <p:cNvSpPr/>
          <p:nvPr/>
        </p:nvSpPr>
        <p:spPr>
          <a:xfrm flipV="true">
            <a:off x="6820669" y="8407493"/>
            <a:ext cx="5626145" cy="8870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3062927" y="7850398"/>
            <a:ext cx="3607313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</a:t>
            </a: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ài tập trắc nghiệm: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cũng cố kiến thức ngay sau mỗi bài học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6847245" y="3546442"/>
            <a:ext cx="10412055" cy="5711858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2331" t="0" r="-5436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9069" y="1496971"/>
            <a:ext cx="11926584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name="AutoShape 13" id="13"/>
          <p:cNvSpPr/>
          <p:nvPr/>
        </p:nvSpPr>
        <p:spPr>
          <a:xfrm>
            <a:off x="3711381" y="6470928"/>
            <a:ext cx="9450991" cy="34679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406536" y="5646063"/>
            <a:ext cx="4609690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Cung cấp các số liệu thống kê và các lối tắt chức năng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6847245" y="3226379"/>
            <a:ext cx="10412055" cy="5711858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3884" t="0" r="-3884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AutoShape 11" id="11"/>
          <p:cNvSpPr/>
          <p:nvPr/>
        </p:nvSpPr>
        <p:spPr>
          <a:xfrm>
            <a:off x="3264662" y="7278648"/>
            <a:ext cx="9450991" cy="2951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1496971"/>
            <a:ext cx="11926584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9817" y="6034683"/>
            <a:ext cx="460969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liệt kê danh sách khóa học và cung cáp các chức năng sửa, xóa khóa học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7292090" y="3226379"/>
            <a:ext cx="10412055" cy="5711858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7768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AutoShape 11" id="11"/>
          <p:cNvSpPr/>
          <p:nvPr/>
        </p:nvSpPr>
        <p:spPr>
          <a:xfrm>
            <a:off x="3264662" y="7278648"/>
            <a:ext cx="9450991" cy="2951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1496971"/>
            <a:ext cx="11926584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9817" y="6034683"/>
            <a:ext cx="460969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cho phép thêm, sửa bài học và tạo câu hỏi trắc nghiệm cho từng bài học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7292090" y="3226379"/>
            <a:ext cx="10412055" cy="5711858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-7768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AutoShape 11" id="11"/>
          <p:cNvSpPr/>
          <p:nvPr/>
        </p:nvSpPr>
        <p:spPr>
          <a:xfrm>
            <a:off x="3047126" y="5405498"/>
            <a:ext cx="9450991" cy="2951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1496971"/>
            <a:ext cx="11926584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quản trị viên quản lý hệ thống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2281" y="4161533"/>
            <a:ext cx="460969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 kê thông tin hệ thông và cung cấp các chức năng để quản lý hệ thống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7292090" y="3226379"/>
            <a:ext cx="10412055" cy="5711858"/>
            <a:chOff x="0" y="0"/>
            <a:chExt cx="5908040" cy="3241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0160" y="12700"/>
              <a:ext cx="5895340" cy="186690"/>
            </a:xfrm>
            <a:custGeom>
              <a:avLst/>
              <a:gdLst/>
              <a:ahLst/>
              <a:cxnLst/>
              <a:rect r="r" b="b" t="t" l="l"/>
              <a:pathLst>
                <a:path h="186690" w="589534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" y="193040"/>
              <a:ext cx="5895340" cy="3041650"/>
            </a:xfrm>
            <a:custGeom>
              <a:avLst/>
              <a:gdLst/>
              <a:ahLst/>
              <a:cxnLst/>
              <a:rect r="r" b="b" t="t" l="l"/>
              <a:pathLst>
                <a:path h="3041650" w="589534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-7768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908040" cy="3241040"/>
            </a:xfrm>
            <a:custGeom>
              <a:avLst/>
              <a:gdLst/>
              <a:ahLst/>
              <a:cxnLst/>
              <a:rect r="r" b="b" t="t" l="l"/>
              <a:pathLst>
                <a:path h="3241040" w="5908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49860" y="73660"/>
              <a:ext cx="299720" cy="63500"/>
            </a:xfrm>
            <a:custGeom>
              <a:avLst/>
              <a:gdLst/>
              <a:ahLst/>
              <a:cxnLst/>
              <a:rect r="r" b="b" t="t" l="l"/>
              <a:pathLst>
                <a:path h="63500" w="29972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591820" y="88900"/>
              <a:ext cx="5175250" cy="33020"/>
            </a:xfrm>
            <a:custGeom>
              <a:avLst/>
              <a:gdLst/>
              <a:ahLst/>
              <a:cxnLst/>
              <a:rect r="r" b="b" t="t" l="l"/>
              <a:pathLst>
                <a:path h="33020" w="517525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name="AutoShape 11" id="11"/>
          <p:cNvSpPr/>
          <p:nvPr/>
        </p:nvSpPr>
        <p:spPr>
          <a:xfrm>
            <a:off x="3047126" y="5405498"/>
            <a:ext cx="9450991" cy="2951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5188863" y="75565"/>
            <a:ext cx="698849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89069" y="1496971"/>
            <a:ext cx="11926584" cy="669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b="true" sz="3999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quản trị viên quản lý hệ thống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2281" y="4161533"/>
            <a:ext cx="460969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 kê thông tin hệ thông và cung cấp các chức năng để quản lý hệ thống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26398" y="6385728"/>
            <a:ext cx="1065465" cy="867870"/>
          </a:xfrm>
          <a:custGeom>
            <a:avLst/>
            <a:gdLst/>
            <a:ahLst/>
            <a:cxnLst/>
            <a:rect r="r" b="b" t="t" l="l"/>
            <a:pathLst>
              <a:path h="867870" w="1065465">
                <a:moveTo>
                  <a:pt x="0" y="0"/>
                </a:moveTo>
                <a:lnTo>
                  <a:pt x="1065466" y="0"/>
                </a:lnTo>
                <a:lnTo>
                  <a:pt x="1065466" y="867870"/>
                </a:lnTo>
                <a:lnTo>
                  <a:pt x="0" y="8678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91035" y="7844547"/>
            <a:ext cx="936191" cy="1019614"/>
          </a:xfrm>
          <a:custGeom>
            <a:avLst/>
            <a:gdLst/>
            <a:ahLst/>
            <a:cxnLst/>
            <a:rect r="r" b="b" t="t" l="l"/>
            <a:pathLst>
              <a:path h="1019614" w="936191">
                <a:moveTo>
                  <a:pt x="0" y="0"/>
                </a:moveTo>
                <a:lnTo>
                  <a:pt x="936192" y="0"/>
                </a:lnTo>
                <a:lnTo>
                  <a:pt x="936192" y="1019614"/>
                </a:lnTo>
                <a:lnTo>
                  <a:pt x="0" y="1019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26398" y="4537488"/>
            <a:ext cx="963744" cy="976168"/>
          </a:xfrm>
          <a:custGeom>
            <a:avLst/>
            <a:gdLst/>
            <a:ahLst/>
            <a:cxnLst/>
            <a:rect r="r" b="b" t="t" l="l"/>
            <a:pathLst>
              <a:path h="976168" w="963744">
                <a:moveTo>
                  <a:pt x="0" y="0"/>
                </a:moveTo>
                <a:lnTo>
                  <a:pt x="963744" y="0"/>
                </a:lnTo>
                <a:lnTo>
                  <a:pt x="963744" y="976168"/>
                </a:lnTo>
                <a:lnTo>
                  <a:pt x="0" y="9761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0994654" y="2549498"/>
            <a:ext cx="6782361" cy="6852162"/>
            <a:chOff x="0" y="0"/>
            <a:chExt cx="1786301" cy="18046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86301" cy="1804685"/>
            </a:xfrm>
            <a:custGeom>
              <a:avLst/>
              <a:gdLst/>
              <a:ahLst/>
              <a:cxnLst/>
              <a:rect r="r" b="b" t="t" l="l"/>
              <a:pathLst>
                <a:path h="1804685" w="1786301">
                  <a:moveTo>
                    <a:pt x="19405" y="0"/>
                  </a:moveTo>
                  <a:lnTo>
                    <a:pt x="1766896" y="0"/>
                  </a:lnTo>
                  <a:cubicBezTo>
                    <a:pt x="1772042" y="0"/>
                    <a:pt x="1776978" y="2044"/>
                    <a:pt x="1780617" y="5684"/>
                  </a:cubicBezTo>
                  <a:cubicBezTo>
                    <a:pt x="1784256" y="9323"/>
                    <a:pt x="1786301" y="14259"/>
                    <a:pt x="1786301" y="19405"/>
                  </a:cubicBezTo>
                  <a:lnTo>
                    <a:pt x="1786301" y="1785280"/>
                  </a:lnTo>
                  <a:cubicBezTo>
                    <a:pt x="1786301" y="1795997"/>
                    <a:pt x="1777613" y="1804685"/>
                    <a:pt x="1766896" y="1804685"/>
                  </a:cubicBezTo>
                  <a:lnTo>
                    <a:pt x="19405" y="1804685"/>
                  </a:lnTo>
                  <a:cubicBezTo>
                    <a:pt x="14259" y="1804685"/>
                    <a:pt x="9323" y="1802640"/>
                    <a:pt x="5684" y="1799001"/>
                  </a:cubicBezTo>
                  <a:cubicBezTo>
                    <a:pt x="2044" y="1795362"/>
                    <a:pt x="0" y="1790426"/>
                    <a:pt x="0" y="1785280"/>
                  </a:cubicBezTo>
                  <a:lnTo>
                    <a:pt x="0" y="19405"/>
                  </a:lnTo>
                  <a:cubicBezTo>
                    <a:pt x="0" y="14259"/>
                    <a:pt x="2044" y="9323"/>
                    <a:pt x="5684" y="5684"/>
                  </a:cubicBezTo>
                  <a:cubicBezTo>
                    <a:pt x="9323" y="2044"/>
                    <a:pt x="14259" y="0"/>
                    <a:pt x="19405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786301" cy="18523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1356604" y="4352486"/>
            <a:ext cx="1050864" cy="791014"/>
          </a:xfrm>
          <a:custGeom>
            <a:avLst/>
            <a:gdLst/>
            <a:ahLst/>
            <a:cxnLst/>
            <a:rect r="r" b="b" t="t" l="l"/>
            <a:pathLst>
              <a:path h="791014" w="1050864">
                <a:moveTo>
                  <a:pt x="0" y="0"/>
                </a:moveTo>
                <a:lnTo>
                  <a:pt x="1050864" y="0"/>
                </a:lnTo>
                <a:lnTo>
                  <a:pt x="1050864" y="791014"/>
                </a:lnTo>
                <a:lnTo>
                  <a:pt x="0" y="79101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454112" y="6096000"/>
            <a:ext cx="953356" cy="1037441"/>
          </a:xfrm>
          <a:custGeom>
            <a:avLst/>
            <a:gdLst/>
            <a:ahLst/>
            <a:cxnLst/>
            <a:rect r="r" b="b" t="t" l="l"/>
            <a:pathLst>
              <a:path h="1037441" w="953356">
                <a:moveTo>
                  <a:pt x="0" y="0"/>
                </a:moveTo>
                <a:lnTo>
                  <a:pt x="953356" y="0"/>
                </a:lnTo>
                <a:lnTo>
                  <a:pt x="953356" y="1037441"/>
                </a:lnTo>
                <a:lnTo>
                  <a:pt x="0" y="103744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455497" y="4285811"/>
            <a:ext cx="8539157" cy="4578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Hoàn thiện hệ thống:</a:t>
            </a:r>
            <a:r>
              <a:rPr lang="en-US" sz="27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Website hỗ trợ học tập đầy đủ tính năng cho Sinh viên, Giảng viên và Quản trị viên</a:t>
            </a:r>
          </a:p>
          <a:p>
            <a:pPr algn="l">
              <a:lnSpc>
                <a:spcPts val="3919"/>
              </a:lnSpc>
            </a:pPr>
          </a:p>
          <a:p>
            <a:pPr algn="l">
              <a:lnSpc>
                <a:spcPts val="4199"/>
              </a:lnSpc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Công nghệ hiện đại:</a:t>
            </a:r>
            <a:r>
              <a:rPr lang="en-US" sz="27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Sử dụng ReactJS, Node.js, MySQL; kiến trúc RESTful API ổn định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Bảo mật tối ưu:</a:t>
            </a:r>
            <a:r>
              <a:rPr lang="en-US" sz="27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Xác thực qua JWT và phân quyền người dùng chặt chẽ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04257" y="75565"/>
            <a:ext cx="1115770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4. Kết luận và hướng phát triển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9161" y="2482823"/>
            <a:ext cx="7931979" cy="148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Đề tài đã hoàn thành các mục tiêu đề ra, Xây dựng thành công mộn hệ thống hỗ trợ học tập hoàn chỉnh: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1527149"/>
            <a:ext cx="2122884" cy="679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b="true" sz="4000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Kết luận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698495" y="2895574"/>
            <a:ext cx="5787087" cy="6464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b="true" sz="3800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Hạn chế của hệ thống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589212" y="4071613"/>
            <a:ext cx="5187803" cy="318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Triển khai: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Hiện chỉ hoạt động ở môi trường cục bộ (Localhost), chưa đưa lên server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người dùng: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Giao diện chưa tối ưu hoàn toàn cho thiết bị di động (Responsive)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256807"/>
            <a:chOff x="0" y="0"/>
            <a:chExt cx="4816593" cy="331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331011"/>
            </a:xfrm>
            <a:custGeom>
              <a:avLst/>
              <a:gdLst/>
              <a:ahLst/>
              <a:cxnLst/>
              <a:rect r="r" b="b" t="t" l="l"/>
              <a:pathLst>
                <a:path h="331011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9230906" y="3512486"/>
            <a:ext cx="0" cy="4369662"/>
          </a:xfrm>
          <a:prstGeom prst="line">
            <a:avLst/>
          </a:prstGeom>
          <a:ln cap="flat" w="952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flipH="true" flipV="true">
            <a:off x="8602267" y="4684322"/>
            <a:ext cx="628639" cy="0"/>
          </a:xfrm>
          <a:prstGeom prst="line">
            <a:avLst/>
          </a:prstGeom>
          <a:ln cap="flat" w="952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flipH="true" flipV="true">
            <a:off x="9230906" y="6113072"/>
            <a:ext cx="623669" cy="0"/>
          </a:xfrm>
          <a:prstGeom prst="line">
            <a:avLst/>
          </a:prstGeom>
          <a:ln cap="flat" w="952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229278" y="5227414"/>
            <a:ext cx="932312" cy="1676067"/>
          </a:xfrm>
          <a:custGeom>
            <a:avLst/>
            <a:gdLst/>
            <a:ahLst/>
            <a:cxnLst/>
            <a:rect r="r" b="b" t="t" l="l"/>
            <a:pathLst>
              <a:path h="1676067" w="932312">
                <a:moveTo>
                  <a:pt x="0" y="0"/>
                </a:moveTo>
                <a:lnTo>
                  <a:pt x="932313" y="0"/>
                </a:lnTo>
                <a:lnTo>
                  <a:pt x="932313" y="1676067"/>
                </a:lnTo>
                <a:lnTo>
                  <a:pt x="0" y="16760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 flipH="true">
            <a:off x="8602267" y="7836216"/>
            <a:ext cx="628639" cy="0"/>
          </a:xfrm>
          <a:prstGeom prst="line">
            <a:avLst/>
          </a:prstGeom>
          <a:ln cap="flat" w="952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445618" y="7527146"/>
            <a:ext cx="808587" cy="939943"/>
          </a:xfrm>
          <a:custGeom>
            <a:avLst/>
            <a:gdLst/>
            <a:ahLst/>
            <a:cxnLst/>
            <a:rect r="r" b="b" t="t" l="l"/>
            <a:pathLst>
              <a:path h="939943" w="808587">
                <a:moveTo>
                  <a:pt x="0" y="0"/>
                </a:moveTo>
                <a:lnTo>
                  <a:pt x="808587" y="0"/>
                </a:lnTo>
                <a:lnTo>
                  <a:pt x="808587" y="939942"/>
                </a:lnTo>
                <a:lnTo>
                  <a:pt x="0" y="9399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71123" y="3951130"/>
            <a:ext cx="1115153" cy="1276284"/>
          </a:xfrm>
          <a:custGeom>
            <a:avLst/>
            <a:gdLst/>
            <a:ahLst/>
            <a:cxnLst/>
            <a:rect r="r" b="b" t="t" l="l"/>
            <a:pathLst>
              <a:path h="1276284" w="1115153">
                <a:moveTo>
                  <a:pt x="0" y="0"/>
                </a:moveTo>
                <a:lnTo>
                  <a:pt x="1115154" y="0"/>
                </a:lnTo>
                <a:lnTo>
                  <a:pt x="1115154" y="1276284"/>
                </a:lnTo>
                <a:lnTo>
                  <a:pt x="0" y="12762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104257" y="75565"/>
            <a:ext cx="1115770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4. Kết luận và hướng phát triển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9911" y="1678885"/>
            <a:ext cx="5669535" cy="679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b="true" sz="4000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Hướng phát triển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68398" y="2578401"/>
            <a:ext cx="1535120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Để hệ thống trở thành một công cụ mạnh mẽ hơn, các hướng phát triển trong tương lai gồm: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64657" y="4305312"/>
            <a:ext cx="6352619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Bổ sang dạng bài tập nâng cao: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tự luận, nộp file và các hình thức đánh giá khác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536294" y="5419652"/>
            <a:ext cx="6306088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Tối ưu hóa cho thiết bị di động: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cải thiện giao diện để mang lại trỉa nghiệm học tập trên điện thoại và máy tính bảng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87555" y="7571103"/>
            <a:ext cx="6911170" cy="1243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Xây dựng hệ thống thông báo thời gian thực: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gửi thông báo từc thì vè khóa học, nhắc nhở lịch học,..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DF9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8128" y="4341178"/>
            <a:ext cx="16491745" cy="174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36018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Xin cảm ơn Quý Thầy Cô đã dành thời gian lắng nghe</a:t>
            </a:r>
          </a:p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36018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Rất mong nhận được những góp ý quý báu từ thầy cô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034518" y="904875"/>
            <a:ext cx="8218964" cy="118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b="true" sz="6999">
                <a:solidFill>
                  <a:srgbClr val="FCB802"/>
                </a:solidFill>
                <a:latin typeface="Tahoma Bold"/>
                <a:ea typeface="Tahoma Bold"/>
                <a:cs typeface="Tahoma Bold"/>
                <a:sym typeface="Tahoma Bold"/>
              </a:rPr>
              <a:t>Trân trọng cảm ơn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DAG9XLHF_xo</dc:identifier>
  <dcterms:modified xsi:type="dcterms:W3CDTF">2011-08-01T06:04:30Z</dcterms:modified>
  <cp:revision>1</cp:revision>
  <dc:title>Baocaodoan</dc:title>
</cp:coreProperties>
</file>