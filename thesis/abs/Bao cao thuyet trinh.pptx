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media/image11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4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3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4" r:id="rId17"/>
    <p:sldId id="271" r:id="rId18"/>
    <p:sldId id="272" r:id="rId19"/>
    <p:sldId id="273" r:id="rId20"/>
  </p:sldIdLst>
  <p:sldSz cx="18288000" cy="10287000"/>
  <p:notesSz cx="6858000" cy="9144000"/>
  <p:embeddedFontLst>
    <p:embeddedFont>
      <p:font typeface="Tahoma Bold" panose="020B0804030504040204"/>
      <p:bold r:id="rId24"/>
    </p:embeddedFont>
    <p:embeddedFont>
      <p:font typeface="Tahoma" panose="020B0604030504040204"/>
      <p:regular r:id="rId25"/>
    </p:embeddedFont>
    <p:embeddedFont>
      <p:font typeface="Canva Sans Bold" panose="020B0803030501040103"/>
      <p:bold r:id="rId26"/>
    </p:embeddedFont>
    <p:embeddedFont>
      <p:font typeface="Calibri" panose="020F0502020204030204" charset="0"/>
      <p:regular r:id="rId27"/>
      <p:bold r:id="rId28"/>
      <p:italic r:id="rId29"/>
      <p:boldItalic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 showGuides="1">
      <p:cViewPr varScale="1">
        <p:scale>
          <a:sx n="54" d="100"/>
          <a:sy n="54" d="100"/>
        </p:scale>
        <p:origin x="754" y="91"/>
      </p:cViewPr>
      <p:guideLst>
        <p:guide orient="horz" pos="218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font" Target="fonts/font7.fntdata"/><Relationship Id="rId3" Type="http://schemas.openxmlformats.org/officeDocument/2006/relationships/slide" Target="slides/slide1.xml"/><Relationship Id="rId29" Type="http://schemas.openxmlformats.org/officeDocument/2006/relationships/font" Target="fonts/font6.fntdata"/><Relationship Id="rId28" Type="http://schemas.openxmlformats.org/officeDocument/2006/relationships/font" Target="fonts/font5.fntdata"/><Relationship Id="rId27" Type="http://schemas.openxmlformats.org/officeDocument/2006/relationships/font" Target="fonts/font4.fntdata"/><Relationship Id="rId26" Type="http://schemas.openxmlformats.org/officeDocument/2006/relationships/font" Target="fonts/font3.fntdata"/><Relationship Id="rId25" Type="http://schemas.openxmlformats.org/officeDocument/2006/relationships/font" Target="fonts/font2.fntdata"/><Relationship Id="rId24" Type="http://schemas.openxmlformats.org/officeDocument/2006/relationships/font" Target="fonts/font1.fntdata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svg"/><Relationship Id="rId8" Type="http://schemas.openxmlformats.org/officeDocument/2006/relationships/image" Target="../media/image5.png"/><Relationship Id="rId7" Type="http://schemas.openxmlformats.org/officeDocument/2006/relationships/image" Target="../media/image4.svg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.jpeg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17.sv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sv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22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4.svg"/><Relationship Id="rId1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6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svg"/><Relationship Id="rId7" Type="http://schemas.openxmlformats.org/officeDocument/2006/relationships/image" Target="../media/image37.png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4.svg"/><Relationship Id="rId3" Type="http://schemas.openxmlformats.org/officeDocument/2006/relationships/image" Target="../media/image33.png"/><Relationship Id="rId2" Type="http://schemas.openxmlformats.org/officeDocument/2006/relationships/image" Target="../media/image32.svg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40.svg"/><Relationship Id="rId1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3364777"/>
            <a:ext cx="18288000" cy="3086100"/>
            <a:chOff x="0" y="0"/>
            <a:chExt cx="4816593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812800"/>
            </a:xfrm>
            <a:custGeom>
              <a:avLst/>
              <a:gdLst/>
              <a:ahLst/>
              <a:cxnLst/>
              <a:rect l="l" t="t" r="r" b="b"/>
              <a:pathLst>
                <a:path w="4816592" h="812800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212636" y="148019"/>
            <a:ext cx="1099788" cy="1099788"/>
          </a:xfrm>
          <a:custGeom>
            <a:avLst/>
            <a:gdLst/>
            <a:ahLst/>
            <a:cxnLst/>
            <a:rect l="l" t="t" r="r" b="b"/>
            <a:pathLst>
              <a:path w="1099788" h="1099788">
                <a:moveTo>
                  <a:pt x="0" y="0"/>
                </a:moveTo>
                <a:lnTo>
                  <a:pt x="1099788" y="0"/>
                </a:lnTo>
                <a:lnTo>
                  <a:pt x="1099788" y="1099788"/>
                </a:lnTo>
                <a:lnTo>
                  <a:pt x="0" y="1099788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461231" y="307388"/>
            <a:ext cx="5921454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TRƯỜNG KỸ THUẬT VÀ CÔNG NGHỆ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KHOA CÔNG NGHỆ THÔNG TIN</a:t>
            </a:r>
            <a:endParaRPr lang="en-US" sz="26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580005" y="1509395"/>
            <a:ext cx="13127990" cy="8077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BÁO CÁO THỰC TẬP ĐỒ ÁN CƠ SỞ NGÀNH</a:t>
            </a:r>
            <a:endParaRPr lang="en-US" sz="45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396526" y="2499316"/>
            <a:ext cx="1494949" cy="570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3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ĐỀ TÀI</a:t>
            </a:r>
            <a:endParaRPr lang="en-US" sz="34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138737" y="6984277"/>
            <a:ext cx="5342013" cy="181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 VIÊN THỰC HIỆN: 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 TÊN: LÊ TUẤN HUY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LỚP: DA23TTC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MSSV: 110123105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0" y="3715931"/>
            <a:ext cx="18288000" cy="2333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THIẾT KẾ WEBSITE HỖ TRỢ HỌC TẬP </a:t>
            </a:r>
            <a:endParaRPr lang="en-US" sz="45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 SINH VIÊN CÔNG NGHỆ THÔNG TIN</a:t>
            </a:r>
            <a:endParaRPr lang="en-US" sz="45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TRƯỜNG ĐẠI HỌC TRÀ VINH</a:t>
            </a:r>
            <a:endParaRPr lang="en-US" sz="45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8700" y="6984277"/>
            <a:ext cx="5596890" cy="895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 VIÊN HƯỚNG DẪN: 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THS. NGUYỄN HOÀNG DUY THIỆN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256014" y="75565"/>
            <a:ext cx="6854190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Nội dung trình bày 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1842627" y="2337794"/>
            <a:ext cx="11441363" cy="1059048"/>
            <a:chOff x="0" y="0"/>
            <a:chExt cx="15255151" cy="1412065"/>
          </a:xfrm>
        </p:grpSpPr>
        <p:grpSp>
          <p:nvGrpSpPr>
            <p:cNvPr id="7" name="Group 7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13" name="TextBox 13"/>
          <p:cNvSpPr txBox="1"/>
          <p:nvPr/>
        </p:nvSpPr>
        <p:spPr>
          <a:xfrm>
            <a:off x="5270810" y="2499018"/>
            <a:ext cx="49399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Giới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thiệu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đề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tài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702323" y="4270662"/>
            <a:ext cx="511135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 quan hệ thống</a:t>
            </a:r>
            <a:endParaRPr lang="en-US" sz="4000" b="1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031861" y="2550639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1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355354" y="427066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842627" y="3820639"/>
            <a:ext cx="11441363" cy="1059048"/>
            <a:chOff x="0" y="0"/>
            <a:chExt cx="15255151" cy="1412065"/>
          </a:xfrm>
        </p:grpSpPr>
        <p:grpSp>
          <p:nvGrpSpPr>
            <p:cNvPr id="18" name="Group 18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24" name="TextBox 24"/>
          <p:cNvSpPr txBox="1"/>
          <p:nvPr/>
        </p:nvSpPr>
        <p:spPr>
          <a:xfrm>
            <a:off x="5270810" y="3981863"/>
            <a:ext cx="60067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3031861" y="3969037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26" name="Group 26"/>
          <p:cNvGrpSpPr/>
          <p:nvPr/>
        </p:nvGrpSpPr>
        <p:grpSpPr>
          <a:xfrm>
            <a:off x="1842627" y="5346413"/>
            <a:ext cx="11441363" cy="1059048"/>
            <a:chOff x="0" y="0"/>
            <a:chExt cx="15255151" cy="1412065"/>
          </a:xfrm>
        </p:grpSpPr>
        <p:grpSp>
          <p:nvGrpSpPr>
            <p:cNvPr id="27" name="Group 27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33" name="TextBox 33"/>
          <p:cNvSpPr txBox="1"/>
          <p:nvPr/>
        </p:nvSpPr>
        <p:spPr>
          <a:xfrm>
            <a:off x="5270810" y="5507637"/>
            <a:ext cx="53209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được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702300" y="8827135"/>
            <a:ext cx="3753485" cy="2032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endParaRPr lang="en-US" sz="4000" b="1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1676731" y="6829258"/>
            <a:ext cx="11607259" cy="1059048"/>
            <a:chOff x="0" y="0"/>
            <a:chExt cx="15476346" cy="1412065"/>
          </a:xfrm>
        </p:grpSpPr>
        <p:grpSp>
          <p:nvGrpSpPr>
            <p:cNvPr id="36" name="Group 36"/>
            <p:cNvGrpSpPr/>
            <p:nvPr/>
          </p:nvGrpSpPr>
          <p:grpSpPr>
            <a:xfrm>
              <a:off x="1324173" y="0"/>
              <a:ext cx="14152172" cy="1412065"/>
              <a:chOff x="0" y="0"/>
              <a:chExt cx="2795491" cy="2789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795491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95491" h="278926">
                    <a:moveTo>
                      <a:pt x="12400" y="0"/>
                    </a:moveTo>
                    <a:lnTo>
                      <a:pt x="2783091" y="0"/>
                    </a:lnTo>
                    <a:cubicBezTo>
                      <a:pt x="2789939" y="0"/>
                      <a:pt x="2795491" y="5552"/>
                      <a:pt x="2795491" y="12400"/>
                    </a:cubicBezTo>
                    <a:lnTo>
                      <a:pt x="2795491" y="266527"/>
                    </a:lnTo>
                    <a:cubicBezTo>
                      <a:pt x="2795491" y="269815"/>
                      <a:pt x="2794184" y="272969"/>
                      <a:pt x="2791859" y="275295"/>
                    </a:cubicBezTo>
                    <a:cubicBezTo>
                      <a:pt x="2789534" y="277620"/>
                      <a:pt x="2786380" y="278926"/>
                      <a:pt x="2783091" y="278926"/>
                    </a:cubicBezTo>
                    <a:lnTo>
                      <a:pt x="12400" y="278926"/>
                    </a:lnTo>
                    <a:cubicBezTo>
                      <a:pt x="9111" y="278926"/>
                      <a:pt x="5957" y="277620"/>
                      <a:pt x="3632" y="275295"/>
                    </a:cubicBezTo>
                    <a:cubicBezTo>
                      <a:pt x="1306" y="272969"/>
                      <a:pt x="0" y="269815"/>
                      <a:pt x="0" y="266527"/>
                    </a:cubicBezTo>
                    <a:lnTo>
                      <a:pt x="0" y="12400"/>
                    </a:lnTo>
                    <a:cubicBezTo>
                      <a:pt x="0" y="9111"/>
                      <a:pt x="1306" y="5957"/>
                      <a:pt x="3632" y="3632"/>
                    </a:cubicBezTo>
                    <a:cubicBezTo>
                      <a:pt x="5957" y="1306"/>
                      <a:pt x="9111" y="0"/>
                      <a:pt x="1240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0" y="-47625"/>
                <a:ext cx="2795491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0" y="0"/>
              <a:ext cx="3493992" cy="1412065"/>
              <a:chOff x="0" y="0"/>
              <a:chExt cx="690171" cy="2789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690171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90171" h="278926">
                    <a:moveTo>
                      <a:pt x="0" y="0"/>
                    </a:moveTo>
                    <a:lnTo>
                      <a:pt x="486971" y="0"/>
                    </a:lnTo>
                    <a:lnTo>
                      <a:pt x="690171" y="139463"/>
                    </a:lnTo>
                    <a:lnTo>
                      <a:pt x="486971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177800" y="-47625"/>
                <a:ext cx="436171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42" name="TextBox 42"/>
          <p:cNvSpPr txBox="1"/>
          <p:nvPr/>
        </p:nvSpPr>
        <p:spPr>
          <a:xfrm>
            <a:off x="5270810" y="6990482"/>
            <a:ext cx="76831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luận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hướng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phát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triển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3031861" y="552161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031861" y="699048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4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403533" y="75565"/>
            <a:ext cx="655915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1. Giới thiệu đề tài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6" name="TextBox 6"/>
          <p:cNvSpPr txBox="1"/>
          <p:nvPr>
            <p:custDataLst>
              <p:tags r:id="rId1"/>
            </p:custDataLst>
          </p:nvPr>
        </p:nvSpPr>
        <p:spPr>
          <a:xfrm>
            <a:off x="789305" y="1697355"/>
            <a:ext cx="5123815" cy="7175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Bối cảnh thực tế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564372" y="8279820"/>
            <a:ext cx="17159256" cy="1356418"/>
            <a:chOff x="0" y="0"/>
            <a:chExt cx="4519310" cy="3572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9310" cy="357246"/>
            </a:xfrm>
            <a:custGeom>
              <a:avLst/>
              <a:gdLst/>
              <a:ahLst/>
              <a:cxnLst/>
              <a:rect l="l" t="t" r="r" b="b"/>
              <a:pathLst>
                <a:path w="4519310" h="357246">
                  <a:moveTo>
                    <a:pt x="7670" y="0"/>
                  </a:moveTo>
                  <a:lnTo>
                    <a:pt x="4511640" y="0"/>
                  </a:lnTo>
                  <a:cubicBezTo>
                    <a:pt x="4515876" y="0"/>
                    <a:pt x="4519310" y="3434"/>
                    <a:pt x="4519310" y="7670"/>
                  </a:cubicBezTo>
                  <a:lnTo>
                    <a:pt x="4519310" y="349576"/>
                  </a:lnTo>
                  <a:cubicBezTo>
                    <a:pt x="4519310" y="353812"/>
                    <a:pt x="4515876" y="357246"/>
                    <a:pt x="4511640" y="357246"/>
                  </a:cubicBezTo>
                  <a:lnTo>
                    <a:pt x="7670" y="357246"/>
                  </a:lnTo>
                  <a:cubicBezTo>
                    <a:pt x="3434" y="357246"/>
                    <a:pt x="0" y="353812"/>
                    <a:pt x="0" y="349576"/>
                  </a:cubicBezTo>
                  <a:lnTo>
                    <a:pt x="0" y="7670"/>
                  </a:lnTo>
                  <a:cubicBezTo>
                    <a:pt x="0" y="3434"/>
                    <a:pt x="3434" y="0"/>
                    <a:pt x="7670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4519310" cy="404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37876" y="8431614"/>
            <a:ext cx="16483206" cy="98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=&gt;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Nhu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cầu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cấp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thiết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về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một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công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cụ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hiệu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linh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hoạt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để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trợ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viên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ngoài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endParaRPr lang="en-US" sz="28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giờ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chính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endParaRPr lang="en-US" sz="28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>
            <p:custDataLst>
              <p:tags r:id="rId2"/>
            </p:custDataLst>
          </p:nvPr>
        </p:nvSpPr>
        <p:spPr>
          <a:xfrm>
            <a:off x="937876" y="2478171"/>
            <a:ext cx="11024810" cy="98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 viên ngành Công nghệ thông tin phải tiếp cần với khối lượng kiến thức lớn, trong khi thời lượng học trên lớp có hạn</a:t>
            </a:r>
            <a:endParaRPr lang="en-US" sz="28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2" name="TextBox 12"/>
          <p:cNvSpPr txBox="1"/>
          <p:nvPr>
            <p:custDataLst>
              <p:tags r:id="rId3"/>
            </p:custDataLst>
          </p:nvPr>
        </p:nvSpPr>
        <p:spPr>
          <a:xfrm>
            <a:off x="789069" y="3591326"/>
            <a:ext cx="4727235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Những thách thức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>
            <p:custDataLst>
              <p:tags r:id="rId4"/>
            </p:custDataLst>
          </p:nvPr>
        </p:nvSpPr>
        <p:spPr>
          <a:xfrm>
            <a:off x="937876" y="4394602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Thời lượng trên lớp có hạn: </a:t>
            </a: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khó nắm vững toàn bộ nội dung ngay tại buổi học</a:t>
            </a:r>
            <a:endParaRPr lang="en-US" sz="30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37876" y="5617730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khăn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trong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việc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ôn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Việc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xem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lại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ôn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trước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kỳ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gặp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nhiều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khó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khăn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chỉ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dựa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tài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liệu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rời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rạc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37876" y="6840858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Khối lượng kiến thức lớn: </a:t>
            </a: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Các môn chuyên ngành đòi hỏi sinh viên phải tiếp cận với lượng kiến thức khổng lồ</a:t>
            </a: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endParaRPr lang="en-US" sz="30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4329501" y="6646430"/>
            <a:ext cx="1367271" cy="1292692"/>
          </a:xfrm>
          <a:custGeom>
            <a:avLst/>
            <a:gdLst/>
            <a:ahLst/>
            <a:cxnLst/>
            <a:rect l="l" t="t" r="r" b="b"/>
            <a:pathLst>
              <a:path w="1367271" h="1292692">
                <a:moveTo>
                  <a:pt x="0" y="0"/>
                </a:moveTo>
                <a:lnTo>
                  <a:pt x="1367271" y="0"/>
                </a:lnTo>
                <a:lnTo>
                  <a:pt x="1367271" y="1292693"/>
                </a:lnTo>
                <a:lnTo>
                  <a:pt x="0" y="12926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4021096" y="2933995"/>
            <a:ext cx="1629699" cy="1653753"/>
          </a:xfrm>
          <a:custGeom>
            <a:avLst/>
            <a:gdLst/>
            <a:ahLst/>
            <a:cxnLst/>
            <a:rect l="l" t="t" r="r" b="b"/>
            <a:pathLst>
              <a:path w="1629699" h="1653753">
                <a:moveTo>
                  <a:pt x="0" y="0"/>
                </a:moveTo>
                <a:lnTo>
                  <a:pt x="1629699" y="0"/>
                </a:lnTo>
                <a:lnTo>
                  <a:pt x="1629699" y="1653753"/>
                </a:lnTo>
                <a:lnTo>
                  <a:pt x="0" y="16537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5011536" y="4762500"/>
            <a:ext cx="1610716" cy="1347144"/>
          </a:xfrm>
          <a:custGeom>
            <a:avLst/>
            <a:gdLst/>
            <a:ahLst/>
            <a:cxnLst/>
            <a:rect l="l" t="t" r="r" b="b"/>
            <a:pathLst>
              <a:path w="1610716" h="1347144">
                <a:moveTo>
                  <a:pt x="0" y="0"/>
                </a:moveTo>
                <a:lnTo>
                  <a:pt x="1610716" y="0"/>
                </a:lnTo>
                <a:lnTo>
                  <a:pt x="1610716" y="1347144"/>
                </a:lnTo>
                <a:lnTo>
                  <a:pt x="0" y="134714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10531572" y="2685216"/>
            <a:ext cx="6977900" cy="5683816"/>
          </a:xfrm>
          <a:custGeom>
            <a:avLst/>
            <a:gdLst/>
            <a:ahLst/>
            <a:cxnLst/>
            <a:rect l="l" t="t" r="r" b="b"/>
            <a:pathLst>
              <a:path w="6977900" h="5683816">
                <a:moveTo>
                  <a:pt x="0" y="0"/>
                </a:moveTo>
                <a:lnTo>
                  <a:pt x="6977900" y="0"/>
                </a:lnTo>
                <a:lnTo>
                  <a:pt x="6977900" y="5683816"/>
                </a:lnTo>
                <a:lnTo>
                  <a:pt x="0" y="568381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403533" y="75565"/>
            <a:ext cx="655915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1. Giới thiệu đề tài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89069" y="1697430"/>
            <a:ext cx="43165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Giải pháp 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542492"/>
            <a:ext cx="8904312" cy="1481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Xây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dựng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một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trực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tuyến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được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thiết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riêng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viên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Công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Thông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tin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Trường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Đại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Trà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Vinh</a:t>
            </a:r>
            <a:endParaRPr lang="en-US" sz="28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89069" y="4195397"/>
            <a:ext cx="5172169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Mục tiêu của đề tài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89069" y="6549757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Tăng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tính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chủ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động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giúp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không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bị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hạn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chế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thời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5285228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trợ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viên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cung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cấp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môi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trường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để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ôn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thức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7816582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viên: </a:t>
            </a: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dễ dàng chia sẽ bài giảng, tài liệu, bài kiểm tra,...</a:t>
            </a:r>
            <a:endParaRPr lang="en-US" sz="30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Freeform 7"/>
          <p:cNvSpPr/>
          <p:nvPr/>
        </p:nvSpPr>
        <p:spPr>
          <a:xfrm>
            <a:off x="10628036" y="3200699"/>
            <a:ext cx="6784971" cy="3868170"/>
          </a:xfrm>
          <a:custGeom>
            <a:avLst/>
            <a:gdLst/>
            <a:ahLst/>
            <a:cxnLst/>
            <a:rect l="l" t="t" r="r" b="b"/>
            <a:pathLst>
              <a:path w="5895340" h="3041650">
                <a:moveTo>
                  <a:pt x="5768340" y="3041650"/>
                </a:moveTo>
                <a:lnTo>
                  <a:pt x="127000" y="3041650"/>
                </a:lnTo>
                <a:cubicBezTo>
                  <a:pt x="57150" y="3041650"/>
                  <a:pt x="0" y="2984500"/>
                  <a:pt x="0" y="2914650"/>
                </a:cubicBezTo>
                <a:lnTo>
                  <a:pt x="0" y="0"/>
                </a:lnTo>
                <a:lnTo>
                  <a:pt x="5895340" y="0"/>
                </a:lnTo>
                <a:lnTo>
                  <a:pt x="5895340" y="2914650"/>
                </a:lnTo>
                <a:cubicBezTo>
                  <a:pt x="5895340" y="2985770"/>
                  <a:pt x="5838190" y="3041650"/>
                  <a:pt x="5768340" y="3041650"/>
                </a:cubicBezTo>
                <a:close/>
              </a:path>
            </a:pathLst>
          </a:custGeom>
          <a:blipFill>
            <a:blip r:embed="rId3"/>
            <a:stretch>
              <a:fillRect t="-2716" b="-59959"/>
            </a:stretch>
          </a:blipFill>
        </p:spPr>
        <p:txBody>
          <a:bodyPr/>
          <a:lstStyle/>
          <a:p>
            <a:endParaRPr lang="vi-V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4065471"/>
            <a:ext cx="3458117" cy="4821716"/>
            <a:chOff x="0" y="0"/>
            <a:chExt cx="910780" cy="126991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10780" cy="1269917"/>
            </a:xfrm>
            <a:custGeom>
              <a:avLst/>
              <a:gdLst/>
              <a:ahLst/>
              <a:cxnLst/>
              <a:rect l="l" t="t" r="r" b="b"/>
              <a:pathLst>
                <a:path w="910780" h="1269917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14709" y="4358550"/>
            <a:ext cx="3086100" cy="1133010"/>
            <a:chOff x="0" y="0"/>
            <a:chExt cx="812800" cy="29840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 panose="020B0804030504040204"/>
                  <a:ea typeface="Tahoma Bold" panose="020B0804030504040204"/>
                  <a:cs typeface="Tahoma Bold" panose="020B0804030504040204"/>
                  <a:sym typeface="Tahoma Bold" panose="020B0804030504040204"/>
                </a:rPr>
                <a:t>CLIENT</a:t>
              </a:r>
              <a:endParaRPr lang="en-US" sz="26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endParaRP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 panose="020B0604030504040204"/>
                  <a:ea typeface="Tahoma" panose="020B0604030504040204"/>
                  <a:cs typeface="Tahoma" panose="020B0604030504040204"/>
                  <a:sym typeface="Tahoma" panose="020B0604030504040204"/>
                </a:rPr>
                <a:t>(Frontend)</a:t>
              </a:r>
              <a:endParaRPr lang="en-US" sz="2600">
                <a:solidFill>
                  <a:srgbClr val="FDF9E8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810483" y="4065471"/>
            <a:ext cx="3458117" cy="4782407"/>
            <a:chOff x="0" y="0"/>
            <a:chExt cx="910780" cy="125956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0780" cy="1259564"/>
            </a:xfrm>
            <a:custGeom>
              <a:avLst/>
              <a:gdLst/>
              <a:ahLst/>
              <a:cxnLst/>
              <a:rect l="l" t="t" r="r" b="b"/>
              <a:pathLst>
                <a:path w="910780" h="1259564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21505"/>
                  </a:lnTo>
                  <a:cubicBezTo>
                    <a:pt x="910780" y="1231599"/>
                    <a:pt x="906770" y="1241279"/>
                    <a:pt x="899633" y="1248417"/>
                  </a:cubicBezTo>
                  <a:cubicBezTo>
                    <a:pt x="892495" y="1255554"/>
                    <a:pt x="882815" y="1259564"/>
                    <a:pt x="872721" y="1259564"/>
                  </a:cubicBezTo>
                  <a:lnTo>
                    <a:pt x="38059" y="1259564"/>
                  </a:lnTo>
                  <a:cubicBezTo>
                    <a:pt x="27965" y="1259564"/>
                    <a:pt x="18285" y="1255554"/>
                    <a:pt x="11147" y="1248417"/>
                  </a:cubicBezTo>
                  <a:cubicBezTo>
                    <a:pt x="4010" y="1241279"/>
                    <a:pt x="0" y="1231599"/>
                    <a:pt x="0" y="1221505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910780" cy="130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996492" y="4358550"/>
            <a:ext cx="3086100" cy="1133010"/>
            <a:chOff x="0" y="0"/>
            <a:chExt cx="812800" cy="29840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 panose="020B0804030504040204"/>
                  <a:ea typeface="Tahoma Bold" panose="020B0804030504040204"/>
                  <a:cs typeface="Tahoma Bold" panose="020B0804030504040204"/>
                  <a:sym typeface="Tahoma Bold" panose="020B0804030504040204"/>
                </a:rPr>
                <a:t>DATABASE</a:t>
              </a:r>
              <a:endParaRPr lang="en-US" sz="26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326314" y="5806278"/>
            <a:ext cx="2107055" cy="735554"/>
          </a:xfrm>
          <a:custGeom>
            <a:avLst/>
            <a:gdLst/>
            <a:ahLst/>
            <a:cxnLst/>
            <a:rect l="l" t="t" r="r" b="b"/>
            <a:pathLst>
              <a:path w="2107055" h="735554">
                <a:moveTo>
                  <a:pt x="0" y="0"/>
                </a:moveTo>
                <a:lnTo>
                  <a:pt x="2107054" y="0"/>
                </a:lnTo>
                <a:lnTo>
                  <a:pt x="2107054" y="735554"/>
                </a:lnTo>
                <a:lnTo>
                  <a:pt x="0" y="73555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326314" y="6856550"/>
            <a:ext cx="2732484" cy="569966"/>
          </a:xfrm>
          <a:custGeom>
            <a:avLst/>
            <a:gdLst/>
            <a:ahLst/>
            <a:cxnLst/>
            <a:rect l="l" t="t" r="r" b="b"/>
            <a:pathLst>
              <a:path w="2732484" h="569966">
                <a:moveTo>
                  <a:pt x="0" y="0"/>
                </a:moveTo>
                <a:lnTo>
                  <a:pt x="2732484" y="0"/>
                </a:lnTo>
                <a:lnTo>
                  <a:pt x="273248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314" t="-219543" r="-4287" b="-215490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8828505" y="3643171"/>
            <a:ext cx="9525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</a:p>
        </p:txBody>
      </p:sp>
      <p:grpSp>
        <p:nvGrpSpPr>
          <p:cNvPr id="20" name="Group 20"/>
          <p:cNvGrpSpPr/>
          <p:nvPr/>
        </p:nvGrpSpPr>
        <p:grpSpPr>
          <a:xfrm>
            <a:off x="7639244" y="4065471"/>
            <a:ext cx="3458117" cy="4821716"/>
            <a:chOff x="0" y="0"/>
            <a:chExt cx="910780" cy="126991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0780" cy="1269917"/>
            </a:xfrm>
            <a:custGeom>
              <a:avLst/>
              <a:gdLst/>
              <a:ahLst/>
              <a:cxnLst/>
              <a:rect l="l" t="t" r="r" b="b"/>
              <a:pathLst>
                <a:path w="910780" h="1269917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825252" y="4358550"/>
            <a:ext cx="3086100" cy="1133010"/>
            <a:chOff x="0" y="0"/>
            <a:chExt cx="812800" cy="29840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 panose="020B0804030504040204"/>
                  <a:ea typeface="Tahoma Bold" panose="020B0804030504040204"/>
                  <a:cs typeface="Tahoma Bold" panose="020B0804030504040204"/>
                  <a:sym typeface="Tahoma Bold" panose="020B0804030504040204"/>
                </a:rPr>
                <a:t>SERVER</a:t>
              </a:r>
              <a:endParaRPr lang="en-US" sz="26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endParaRP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 panose="020B0604030504040204"/>
                  <a:ea typeface="Tahoma" panose="020B0604030504040204"/>
                  <a:cs typeface="Tahoma" panose="020B0604030504040204"/>
                  <a:sym typeface="Tahoma" panose="020B0604030504040204"/>
                </a:rPr>
                <a:t>(Backend)</a:t>
              </a:r>
              <a:endParaRPr lang="en-US" sz="2600">
                <a:solidFill>
                  <a:srgbClr val="FDF9E8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19980" y="5491560"/>
            <a:ext cx="3086100" cy="1649973"/>
            <a:chOff x="0" y="0"/>
            <a:chExt cx="812800" cy="43456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434561"/>
            </a:xfrm>
            <a:custGeom>
              <a:avLst/>
              <a:gdLst/>
              <a:ahLst/>
              <a:cxnLst/>
              <a:rect l="l" t="t" r="r" b="b"/>
              <a:pathLst>
                <a:path w="812800" h="434561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539750" y="301211"/>
                  </a:lnTo>
                  <a:lnTo>
                    <a:pt x="539750" y="434561"/>
                  </a:lnTo>
                  <a:lnTo>
                    <a:pt x="812800" y="217280"/>
                  </a:lnTo>
                  <a:lnTo>
                    <a:pt x="539750" y="0"/>
                  </a:lnTo>
                  <a:lnTo>
                    <a:pt x="539750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1600" y="92075"/>
              <a:ext cx="609600" cy="2027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097361" y="5491560"/>
            <a:ext cx="2713122" cy="1649973"/>
            <a:chOff x="0" y="0"/>
            <a:chExt cx="714567" cy="434561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14567" cy="434561"/>
            </a:xfrm>
            <a:custGeom>
              <a:avLst/>
              <a:gdLst/>
              <a:ahLst/>
              <a:cxnLst/>
              <a:rect l="l" t="t" r="r" b="b"/>
              <a:pathLst>
                <a:path w="714567" h="434561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441517" y="301211"/>
                  </a:lnTo>
                  <a:lnTo>
                    <a:pt x="441517" y="434561"/>
                  </a:lnTo>
                  <a:lnTo>
                    <a:pt x="714567" y="217280"/>
                  </a:lnTo>
                  <a:lnTo>
                    <a:pt x="441517" y="0"/>
                  </a:lnTo>
                  <a:lnTo>
                    <a:pt x="441517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101600" y="92075"/>
              <a:ext cx="511367" cy="2027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32" name="Freeform 32"/>
          <p:cNvSpPr/>
          <p:nvPr/>
        </p:nvSpPr>
        <p:spPr>
          <a:xfrm>
            <a:off x="8564634" y="5663010"/>
            <a:ext cx="803668" cy="885807"/>
          </a:xfrm>
          <a:custGeom>
            <a:avLst/>
            <a:gdLst/>
            <a:ahLst/>
            <a:cxnLst/>
            <a:rect l="l" t="t" r="r" b="b"/>
            <a:pathLst>
              <a:path w="803668" h="885807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8304574" y="6720267"/>
            <a:ext cx="2094294" cy="569966"/>
          </a:xfrm>
          <a:custGeom>
            <a:avLst/>
            <a:gdLst/>
            <a:ahLst/>
            <a:cxnLst/>
            <a:rect l="l" t="t" r="r" b="b"/>
            <a:pathLst>
              <a:path w="2094294" h="569966">
                <a:moveTo>
                  <a:pt x="0" y="0"/>
                </a:moveTo>
                <a:lnTo>
                  <a:pt x="2094294" y="0"/>
                </a:lnTo>
                <a:lnTo>
                  <a:pt x="209429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577945" y="5811271"/>
            <a:ext cx="1923193" cy="1010550"/>
          </a:xfrm>
          <a:custGeom>
            <a:avLst/>
            <a:gdLst/>
            <a:ahLst/>
            <a:cxnLst/>
            <a:rect l="l" t="t" r="r" b="b"/>
            <a:pathLst>
              <a:path w="1923193" h="1010550">
                <a:moveTo>
                  <a:pt x="0" y="0"/>
                </a:moveTo>
                <a:lnTo>
                  <a:pt x="1923193" y="0"/>
                </a:lnTo>
                <a:lnTo>
                  <a:pt x="1923193" y="1010551"/>
                </a:lnTo>
                <a:lnTo>
                  <a:pt x="0" y="10105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4663162" y="75565"/>
            <a:ext cx="89004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789069" y="1697430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Kiến trúc hệ thống: hiện đại và linh hoạt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028700" y="2479210"/>
            <a:ext cx="1667920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 thống được xây dựng với Frontend và Backend tách biệt, giao tiếp qua RESTful API.</a:t>
            </a:r>
            <a:endParaRPr lang="en-US" sz="30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143000" y="8039100"/>
            <a:ext cx="3219450" cy="3587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Giao diện người dùng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5057614" y="6073342"/>
            <a:ext cx="2142325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RESTFUL API</a:t>
            </a:r>
            <a:endParaRPr lang="en-US" sz="24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7995782" y="7803304"/>
            <a:ext cx="2711878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Xử lý logic, xác thực,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nghiệp vụ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2800"/>
              </a:lnSpc>
              <a:spcBef>
                <a:spcPct val="0"/>
              </a:spcBef>
            </a:pP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3996492" y="7450879"/>
            <a:ext cx="3272109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Lưu trữ d</a:t>
            </a:r>
            <a:r>
              <a:rPr lang="vi-VN" alt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ữ</a:t>
            </a: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liệu hệ thống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2800"/>
              </a:lnSpc>
              <a:spcBef>
                <a:spcPct val="0"/>
              </a:spcBef>
            </a:pP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17619" y="2872181"/>
            <a:ext cx="5406471" cy="6386119"/>
            <a:chOff x="0" y="0"/>
            <a:chExt cx="1423927" cy="16819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23927" cy="1681941"/>
            </a:xfrm>
            <a:custGeom>
              <a:avLst/>
              <a:gdLst/>
              <a:ahLst/>
              <a:cxnLst/>
              <a:rect l="l" t="t" r="r" b="b"/>
              <a:pathLst>
                <a:path w="1423927" h="1681941">
                  <a:moveTo>
                    <a:pt x="24344" y="0"/>
                  </a:moveTo>
                  <a:lnTo>
                    <a:pt x="1399583" y="0"/>
                  </a:lnTo>
                  <a:cubicBezTo>
                    <a:pt x="1413028" y="0"/>
                    <a:pt x="1423927" y="10899"/>
                    <a:pt x="1423927" y="24344"/>
                  </a:cubicBezTo>
                  <a:lnTo>
                    <a:pt x="1423927" y="1657597"/>
                  </a:lnTo>
                  <a:cubicBezTo>
                    <a:pt x="1423927" y="1664054"/>
                    <a:pt x="1421362" y="1670246"/>
                    <a:pt x="1416797" y="1674811"/>
                  </a:cubicBezTo>
                  <a:cubicBezTo>
                    <a:pt x="1412231" y="1679376"/>
                    <a:pt x="1406039" y="1681941"/>
                    <a:pt x="1399583" y="1681941"/>
                  </a:cubicBezTo>
                  <a:lnTo>
                    <a:pt x="24344" y="1681941"/>
                  </a:lnTo>
                  <a:cubicBezTo>
                    <a:pt x="10899" y="1681941"/>
                    <a:pt x="0" y="1671042"/>
                    <a:pt x="0" y="1657597"/>
                  </a:cubicBezTo>
                  <a:lnTo>
                    <a:pt x="0" y="24344"/>
                  </a:lnTo>
                  <a:cubicBezTo>
                    <a:pt x="0" y="10899"/>
                    <a:pt x="10899" y="0"/>
                    <a:pt x="24344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23927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549549" y="2872181"/>
            <a:ext cx="5254071" cy="6386119"/>
            <a:chOff x="0" y="0"/>
            <a:chExt cx="1383788" cy="168194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83788" cy="1681941"/>
            </a:xfrm>
            <a:custGeom>
              <a:avLst/>
              <a:gdLst/>
              <a:ahLst/>
              <a:cxnLst/>
              <a:rect l="l" t="t" r="r" b="b"/>
              <a:pathLst>
                <a:path w="1383788" h="1681941">
                  <a:moveTo>
                    <a:pt x="25050" y="0"/>
                  </a:moveTo>
                  <a:lnTo>
                    <a:pt x="1358739" y="0"/>
                  </a:lnTo>
                  <a:cubicBezTo>
                    <a:pt x="1365382" y="0"/>
                    <a:pt x="1371754" y="2639"/>
                    <a:pt x="1376451" y="7337"/>
                  </a:cubicBezTo>
                  <a:cubicBezTo>
                    <a:pt x="1381149" y="12035"/>
                    <a:pt x="1383788" y="18406"/>
                    <a:pt x="1383788" y="25050"/>
                  </a:cubicBezTo>
                  <a:lnTo>
                    <a:pt x="1383788" y="1656891"/>
                  </a:lnTo>
                  <a:cubicBezTo>
                    <a:pt x="1383788" y="1663535"/>
                    <a:pt x="1381149" y="1669906"/>
                    <a:pt x="1376451" y="1674604"/>
                  </a:cubicBezTo>
                  <a:cubicBezTo>
                    <a:pt x="1371754" y="1679302"/>
                    <a:pt x="1365382" y="1681941"/>
                    <a:pt x="1358739" y="1681941"/>
                  </a:cubicBezTo>
                  <a:lnTo>
                    <a:pt x="25050" y="1681941"/>
                  </a:lnTo>
                  <a:cubicBezTo>
                    <a:pt x="18406" y="1681941"/>
                    <a:pt x="12035" y="1679302"/>
                    <a:pt x="7337" y="1674604"/>
                  </a:cubicBezTo>
                  <a:cubicBezTo>
                    <a:pt x="2639" y="1669906"/>
                    <a:pt x="0" y="1663535"/>
                    <a:pt x="0" y="1656891"/>
                  </a:cubicBezTo>
                  <a:lnTo>
                    <a:pt x="0" y="25050"/>
                  </a:lnTo>
                  <a:cubicBezTo>
                    <a:pt x="0" y="18406"/>
                    <a:pt x="2639" y="12035"/>
                    <a:pt x="7337" y="7337"/>
                  </a:cubicBezTo>
                  <a:cubicBezTo>
                    <a:pt x="12035" y="2639"/>
                    <a:pt x="18406" y="0"/>
                    <a:pt x="25050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383788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310029" y="2872181"/>
            <a:ext cx="5273121" cy="6386119"/>
            <a:chOff x="0" y="0"/>
            <a:chExt cx="1388806" cy="168194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88806" cy="1681941"/>
            </a:xfrm>
            <a:custGeom>
              <a:avLst/>
              <a:gdLst/>
              <a:ahLst/>
              <a:cxnLst/>
              <a:rect l="l" t="t" r="r" b="b"/>
              <a:pathLst>
                <a:path w="1388806" h="1681941">
                  <a:moveTo>
                    <a:pt x="24959" y="0"/>
                  </a:moveTo>
                  <a:lnTo>
                    <a:pt x="1363847" y="0"/>
                  </a:lnTo>
                  <a:cubicBezTo>
                    <a:pt x="1370466" y="0"/>
                    <a:pt x="1376815" y="2630"/>
                    <a:pt x="1381495" y="7310"/>
                  </a:cubicBezTo>
                  <a:cubicBezTo>
                    <a:pt x="1386176" y="11991"/>
                    <a:pt x="1388806" y="18340"/>
                    <a:pt x="1388806" y="24959"/>
                  </a:cubicBezTo>
                  <a:lnTo>
                    <a:pt x="1388806" y="1656982"/>
                  </a:lnTo>
                  <a:cubicBezTo>
                    <a:pt x="1388806" y="1663601"/>
                    <a:pt x="1386176" y="1669950"/>
                    <a:pt x="1381495" y="1674631"/>
                  </a:cubicBezTo>
                  <a:cubicBezTo>
                    <a:pt x="1376815" y="1679311"/>
                    <a:pt x="1370466" y="1681941"/>
                    <a:pt x="1363847" y="1681941"/>
                  </a:cubicBezTo>
                  <a:lnTo>
                    <a:pt x="24959" y="1681941"/>
                  </a:lnTo>
                  <a:cubicBezTo>
                    <a:pt x="18340" y="1681941"/>
                    <a:pt x="11991" y="1679311"/>
                    <a:pt x="7310" y="1674631"/>
                  </a:cubicBezTo>
                  <a:cubicBezTo>
                    <a:pt x="2630" y="1669950"/>
                    <a:pt x="0" y="1663601"/>
                    <a:pt x="0" y="1656982"/>
                  </a:cubicBezTo>
                  <a:lnTo>
                    <a:pt x="0" y="24959"/>
                  </a:lnTo>
                  <a:cubicBezTo>
                    <a:pt x="0" y="18340"/>
                    <a:pt x="2630" y="11991"/>
                    <a:pt x="7310" y="7310"/>
                  </a:cubicBezTo>
                  <a:cubicBezTo>
                    <a:pt x="11991" y="2630"/>
                    <a:pt x="18340" y="0"/>
                    <a:pt x="24959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388806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4" name="Freeform 14"/>
          <p:cNvSpPr/>
          <p:nvPr/>
        </p:nvSpPr>
        <p:spPr>
          <a:xfrm>
            <a:off x="789069" y="3950970"/>
            <a:ext cx="990106" cy="927099"/>
          </a:xfrm>
          <a:custGeom>
            <a:avLst/>
            <a:gdLst/>
            <a:ahLst/>
            <a:cxnLst/>
            <a:rect l="l" t="t" r="r" b="b"/>
            <a:pathLst>
              <a:path w="990106" h="927099">
                <a:moveTo>
                  <a:pt x="0" y="0"/>
                </a:moveTo>
                <a:lnTo>
                  <a:pt x="990106" y="0"/>
                </a:lnTo>
                <a:lnTo>
                  <a:pt x="990106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754748" y="5559935"/>
            <a:ext cx="1024427" cy="669954"/>
          </a:xfrm>
          <a:custGeom>
            <a:avLst/>
            <a:gdLst/>
            <a:ahLst/>
            <a:cxnLst/>
            <a:rect l="l" t="t" r="r" b="b"/>
            <a:pathLst>
              <a:path w="1024427" h="669954">
                <a:moveTo>
                  <a:pt x="0" y="0"/>
                </a:moveTo>
                <a:lnTo>
                  <a:pt x="1024427" y="0"/>
                </a:lnTo>
                <a:lnTo>
                  <a:pt x="1024427" y="669954"/>
                </a:lnTo>
                <a:lnTo>
                  <a:pt x="0" y="6699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498" r="-4498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789069" y="7190105"/>
            <a:ext cx="896790" cy="883666"/>
          </a:xfrm>
          <a:custGeom>
            <a:avLst/>
            <a:gdLst/>
            <a:ahLst/>
            <a:cxnLst/>
            <a:rect l="l" t="t" r="r" b="b"/>
            <a:pathLst>
              <a:path w="896790" h="883666">
                <a:moveTo>
                  <a:pt x="0" y="0"/>
                </a:moveTo>
                <a:lnTo>
                  <a:pt x="896790" y="0"/>
                </a:lnTo>
                <a:lnTo>
                  <a:pt x="896790" y="883666"/>
                </a:lnTo>
                <a:lnTo>
                  <a:pt x="0" y="8836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6773934" y="4414520"/>
            <a:ext cx="803668" cy="885807"/>
          </a:xfrm>
          <a:custGeom>
            <a:avLst/>
            <a:gdLst/>
            <a:ahLst/>
            <a:cxnLst/>
            <a:rect l="l" t="t" r="r" b="b"/>
            <a:pathLst>
              <a:path w="803668" h="885807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609370" y="6975970"/>
            <a:ext cx="1161447" cy="428269"/>
          </a:xfrm>
          <a:custGeom>
            <a:avLst/>
            <a:gdLst/>
            <a:ahLst/>
            <a:cxnLst/>
            <a:rect l="l" t="t" r="r" b="b"/>
            <a:pathLst>
              <a:path w="1161447" h="428269">
                <a:moveTo>
                  <a:pt x="0" y="0"/>
                </a:moveTo>
                <a:lnTo>
                  <a:pt x="1161447" y="0"/>
                </a:lnTo>
                <a:lnTo>
                  <a:pt x="1161447" y="428269"/>
                </a:lnTo>
                <a:lnTo>
                  <a:pt x="0" y="4282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35489"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2556095" y="4551213"/>
            <a:ext cx="1281522" cy="673381"/>
          </a:xfrm>
          <a:custGeom>
            <a:avLst/>
            <a:gdLst/>
            <a:ahLst/>
            <a:cxnLst/>
            <a:rect l="l" t="t" r="r" b="b"/>
            <a:pathLst>
              <a:path w="1281522" h="673381">
                <a:moveTo>
                  <a:pt x="0" y="0"/>
                </a:moveTo>
                <a:lnTo>
                  <a:pt x="1281522" y="0"/>
                </a:lnTo>
                <a:lnTo>
                  <a:pt x="1281522" y="673381"/>
                </a:lnTo>
                <a:lnTo>
                  <a:pt x="0" y="6733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2537930" y="6591935"/>
            <a:ext cx="1299687" cy="812304"/>
          </a:xfrm>
          <a:custGeom>
            <a:avLst/>
            <a:gdLst/>
            <a:ahLst/>
            <a:cxnLst/>
            <a:rect l="l" t="t" r="r" b="b"/>
            <a:pathLst>
              <a:path w="1299687" h="812304">
                <a:moveTo>
                  <a:pt x="0" y="0"/>
                </a:moveTo>
                <a:lnTo>
                  <a:pt x="1299687" y="0"/>
                </a:lnTo>
                <a:lnTo>
                  <a:pt x="1299687" y="812304"/>
                </a:lnTo>
                <a:lnTo>
                  <a:pt x="0" y="81230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7770817" y="4032559"/>
            <a:ext cx="3845082" cy="1663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Node.js: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Môi trường chạy JavaScript phía server với 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cơ chế bất đồng bộ, hiệu suất cao.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663162" y="75565"/>
            <a:ext cx="87480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89069" y="1697430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Nền tảng công nghệ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339118" y="3107055"/>
            <a:ext cx="2080482" cy="517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Frontend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155094" y="3147695"/>
            <a:ext cx="1827106" cy="517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Backend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274753" y="3066415"/>
            <a:ext cx="3234072" cy="1094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Database &amp; 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Authentication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779175" y="3978275"/>
            <a:ext cx="4244915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ReactJS: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Thư viện xây dựng giao diện dựa trên component.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779175" y="5260340"/>
            <a:ext cx="4244915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Tailwind CSS: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Framework CSS giúp thiết kế giao diện nhanh và linh hoạt.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810519" y="7047561"/>
            <a:ext cx="4213571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Vite: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Công cụ hỗ trợ build và phát triển ứng dụng với tốc độ siêu nhanh.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7770817" y="6544310"/>
            <a:ext cx="393755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ExpressJS: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Framework tối giản giúp xây dựng API và ứng dụng web trên Node.js.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4028117" y="4288155"/>
            <a:ext cx="343324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MySQL: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Hệ quản trị cơ sở dữ liệu quan hệ 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mã nguồn mở và tin cậy.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4028117" y="6239841"/>
            <a:ext cx="343324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JWT: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Phương thức xác thực và phân quyền người dùng an toàn.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8514075" y="2264443"/>
            <a:ext cx="1368325" cy="1539016"/>
          </a:xfrm>
          <a:custGeom>
            <a:avLst/>
            <a:gdLst/>
            <a:ahLst/>
            <a:cxnLst/>
            <a:rect l="l" t="t" r="r" b="b"/>
            <a:pathLst>
              <a:path w="1368325" h="1539016">
                <a:moveTo>
                  <a:pt x="0" y="0"/>
                </a:moveTo>
                <a:lnTo>
                  <a:pt x="1368324" y="0"/>
                </a:lnTo>
                <a:lnTo>
                  <a:pt x="1368324" y="1539016"/>
                </a:lnTo>
                <a:lnTo>
                  <a:pt x="0" y="153901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663162" y="75565"/>
            <a:ext cx="85956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Phân quyền và chức năng theo vài trò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8" name="AutoShape 8"/>
          <p:cNvSpPr/>
          <p:nvPr/>
        </p:nvSpPr>
        <p:spPr>
          <a:xfrm flipV="1">
            <a:off x="2820280" y="3049484"/>
            <a:ext cx="5623538" cy="10692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9812143" y="2922420"/>
            <a:ext cx="5543633" cy="116361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9198237" y="3803459"/>
            <a:ext cx="0" cy="28257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375285" y="4118610"/>
            <a:ext cx="5543550" cy="5915025"/>
            <a:chOff x="0" y="0"/>
            <a:chExt cx="1460028" cy="14289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0028" cy="1428903"/>
            </a:xfrm>
            <a:custGeom>
              <a:avLst/>
              <a:gdLst/>
              <a:ahLst/>
              <a:cxnLst/>
              <a:rect l="l" t="t" r="r" b="b"/>
              <a:pathLst>
                <a:path w="1460028" h="1428903">
                  <a:moveTo>
                    <a:pt x="23742" y="0"/>
                  </a:moveTo>
                  <a:lnTo>
                    <a:pt x="1436286" y="0"/>
                  </a:lnTo>
                  <a:cubicBezTo>
                    <a:pt x="1449399" y="0"/>
                    <a:pt x="1460028" y="10629"/>
                    <a:pt x="1460028" y="23742"/>
                  </a:cubicBezTo>
                  <a:lnTo>
                    <a:pt x="1460028" y="1405162"/>
                  </a:lnTo>
                  <a:cubicBezTo>
                    <a:pt x="1460028" y="1418274"/>
                    <a:pt x="1449399" y="1428903"/>
                    <a:pt x="1436286" y="1428903"/>
                  </a:cubicBezTo>
                  <a:lnTo>
                    <a:pt x="23742" y="1428903"/>
                  </a:lnTo>
                  <a:cubicBezTo>
                    <a:pt x="10629" y="1428903"/>
                    <a:pt x="0" y="1418274"/>
                    <a:pt x="0" y="1405162"/>
                  </a:cubicBezTo>
                  <a:lnTo>
                    <a:pt x="0" y="23742"/>
                  </a:lnTo>
                  <a:cubicBezTo>
                    <a:pt x="0" y="10629"/>
                    <a:pt x="10629" y="0"/>
                    <a:pt x="23742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0028" cy="14765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05480" y="4423483"/>
            <a:ext cx="3086100" cy="787937"/>
            <a:chOff x="0" y="0"/>
            <a:chExt cx="812800" cy="20752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5569" y="4299658"/>
            <a:ext cx="5541165" cy="4398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8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 viên</a:t>
            </a:r>
            <a:endParaRPr lang="en-US" sz="28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Xác thực: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đăng ký, đăng nhập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Khám phá: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tìm kiếm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 tập: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tham gia học, xem video bài giảng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Ôn tập: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làm bài trắc nghiệm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xem tiến độ học tập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6202680" y="4086225"/>
            <a:ext cx="5562600" cy="5958840"/>
            <a:chOff x="0" y="0"/>
            <a:chExt cx="1465045" cy="143750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5045" cy="1437503"/>
            </a:xfrm>
            <a:custGeom>
              <a:avLst/>
              <a:gdLst/>
              <a:ahLst/>
              <a:cxnLst/>
              <a:rect l="l" t="t" r="r" b="b"/>
              <a:pathLst>
                <a:path w="1465045" h="1437503">
                  <a:moveTo>
                    <a:pt x="23660" y="0"/>
                  </a:moveTo>
                  <a:lnTo>
                    <a:pt x="1441385" y="0"/>
                  </a:lnTo>
                  <a:cubicBezTo>
                    <a:pt x="1447660" y="0"/>
                    <a:pt x="1453678" y="2493"/>
                    <a:pt x="1458115" y="6930"/>
                  </a:cubicBezTo>
                  <a:cubicBezTo>
                    <a:pt x="1462552" y="11367"/>
                    <a:pt x="1465045" y="17385"/>
                    <a:pt x="1465045" y="23660"/>
                  </a:cubicBezTo>
                  <a:lnTo>
                    <a:pt x="1465045" y="1413843"/>
                  </a:lnTo>
                  <a:cubicBezTo>
                    <a:pt x="1465045" y="1420118"/>
                    <a:pt x="1462552" y="1426136"/>
                    <a:pt x="1458115" y="1430573"/>
                  </a:cubicBezTo>
                  <a:cubicBezTo>
                    <a:pt x="1453678" y="1435011"/>
                    <a:pt x="1447660" y="1437503"/>
                    <a:pt x="1441385" y="1437503"/>
                  </a:cubicBezTo>
                  <a:lnTo>
                    <a:pt x="23660" y="1437503"/>
                  </a:lnTo>
                  <a:cubicBezTo>
                    <a:pt x="17385" y="1437503"/>
                    <a:pt x="11367" y="1435011"/>
                    <a:pt x="6930" y="1430573"/>
                  </a:cubicBezTo>
                  <a:cubicBezTo>
                    <a:pt x="2493" y="1426136"/>
                    <a:pt x="0" y="1420118"/>
                    <a:pt x="0" y="1413843"/>
                  </a:cubicBezTo>
                  <a:lnTo>
                    <a:pt x="0" y="23660"/>
                  </a:lnTo>
                  <a:cubicBezTo>
                    <a:pt x="0" y="17385"/>
                    <a:pt x="2493" y="11367"/>
                    <a:pt x="6930" y="6930"/>
                  </a:cubicBezTo>
                  <a:cubicBezTo>
                    <a:pt x="11367" y="2493"/>
                    <a:pt x="17385" y="0"/>
                    <a:pt x="23660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5045" cy="14851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051030" y="4086225"/>
            <a:ext cx="5857875" cy="5975985"/>
            <a:chOff x="0" y="0"/>
            <a:chExt cx="1542847" cy="143750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42847" cy="1437503"/>
            </a:xfrm>
            <a:custGeom>
              <a:avLst/>
              <a:gdLst/>
              <a:ahLst/>
              <a:cxnLst/>
              <a:rect l="l" t="t" r="r" b="b"/>
              <a:pathLst>
                <a:path w="1542847" h="1437503">
                  <a:moveTo>
                    <a:pt x="22467" y="0"/>
                  </a:moveTo>
                  <a:lnTo>
                    <a:pt x="1520380" y="0"/>
                  </a:lnTo>
                  <a:cubicBezTo>
                    <a:pt x="1526339" y="0"/>
                    <a:pt x="1532053" y="2367"/>
                    <a:pt x="1536267" y="6580"/>
                  </a:cubicBezTo>
                  <a:cubicBezTo>
                    <a:pt x="1540480" y="10794"/>
                    <a:pt x="1542847" y="16509"/>
                    <a:pt x="1542847" y="22467"/>
                  </a:cubicBezTo>
                  <a:lnTo>
                    <a:pt x="1542847" y="1415036"/>
                  </a:lnTo>
                  <a:cubicBezTo>
                    <a:pt x="1542847" y="1420995"/>
                    <a:pt x="1540480" y="1426709"/>
                    <a:pt x="1536267" y="1430923"/>
                  </a:cubicBezTo>
                  <a:cubicBezTo>
                    <a:pt x="1532053" y="1435136"/>
                    <a:pt x="1526339" y="1437503"/>
                    <a:pt x="1520380" y="1437503"/>
                  </a:cubicBezTo>
                  <a:lnTo>
                    <a:pt x="22467" y="1437503"/>
                  </a:lnTo>
                  <a:cubicBezTo>
                    <a:pt x="16509" y="1437503"/>
                    <a:pt x="10794" y="1435136"/>
                    <a:pt x="6580" y="1430923"/>
                  </a:cubicBezTo>
                  <a:cubicBezTo>
                    <a:pt x="2367" y="1426709"/>
                    <a:pt x="0" y="1420995"/>
                    <a:pt x="0" y="1415036"/>
                  </a:cubicBezTo>
                  <a:lnTo>
                    <a:pt x="0" y="22467"/>
                  </a:lnTo>
                  <a:cubicBezTo>
                    <a:pt x="0" y="16509"/>
                    <a:pt x="2367" y="10794"/>
                    <a:pt x="6580" y="6580"/>
                  </a:cubicBezTo>
                  <a:cubicBezTo>
                    <a:pt x="10794" y="2367"/>
                    <a:pt x="16509" y="0"/>
                    <a:pt x="22467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542847" cy="14851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40731" y="4423483"/>
            <a:ext cx="3086100" cy="787937"/>
            <a:chOff x="0" y="0"/>
            <a:chExt cx="812800" cy="20752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202680" y="4299585"/>
            <a:ext cx="5413375" cy="573341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7000"/>
              </a:lnSpc>
            </a:pPr>
            <a:r>
              <a:rPr lang="en-US" sz="28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Giảng viên</a:t>
            </a:r>
            <a:endParaRPr lang="en-US" sz="28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khóa học: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tạo, sửa, xóa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bài học: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thêm, sửa, xóa bài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</a:t>
            </a:r>
            <a:r>
              <a:rPr lang="vi-VN" alt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ả</a:t>
            </a: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 lý kiểm tra: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thêm, sửa, xóa bài kiểm 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xem danh sách sinh viên tham gia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3436776" y="4423483"/>
            <a:ext cx="3086100" cy="787937"/>
            <a:chOff x="0" y="0"/>
            <a:chExt cx="812800" cy="207523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050827" y="4299658"/>
            <a:ext cx="5857998" cy="4398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8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trị viên</a:t>
            </a:r>
            <a:endParaRPr lang="en-US" sz="28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người dùng 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quản lý toàn bộ danh sách người dùng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hệ thống: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quản lý toàn bộ danh sách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 kê: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theo dõi dữ liệu của hệ thống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999417" y="3294189"/>
            <a:ext cx="9828664" cy="5391821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t="-2716" b="-59959"/>
              </a:stretch>
            </a:blipFill>
          </p:spPr>
          <p:txBody>
            <a:bodyPr/>
            <a:lstStyle/>
            <a:p>
              <a:endParaRPr lang="vi-VN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học tập của sinh viên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74700" y="2256155"/>
            <a:ext cx="15605760" cy="538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Giao diện trực quan, giúp sinh viên dễ dàng tìm kiếm, tham gia và theo dõi tiến độ học tập</a:t>
            </a:r>
            <a:endParaRPr lang="en-US" sz="30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2899889" y="6063489"/>
            <a:ext cx="4400686" cy="25046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TextBox 15"/>
          <p:cNvSpPr txBox="1"/>
          <p:nvPr/>
        </p:nvSpPr>
        <p:spPr>
          <a:xfrm>
            <a:off x="1028700" y="5584335"/>
            <a:ext cx="4400686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năm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999417" y="3294189"/>
            <a:ext cx="9828664" cy="5391821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b="-23802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381545" y="5729208"/>
            <a:ext cx="4323621" cy="4056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học tập của sinh viên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74501" y="2255964"/>
            <a:ext cx="15819061" cy="482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diện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trực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quan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giúp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dễ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dàng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tìm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tham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theo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dõi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tiến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độ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90651" y="4686538"/>
            <a:ext cx="4406214" cy="8248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dõi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tiến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độ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hoàn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thành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thanh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trạng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thái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606539" y="2988384"/>
            <a:ext cx="7652761" cy="6292992"/>
            <a:chOff x="0" y="0"/>
            <a:chExt cx="4188460" cy="3444240"/>
          </a:xfrm>
        </p:grpSpPr>
        <p:sp>
          <p:nvSpPr>
            <p:cNvPr id="6" name="Freeform 6"/>
            <p:cNvSpPr/>
            <p:nvPr/>
          </p:nvSpPr>
          <p:spPr>
            <a:xfrm>
              <a:off x="38100" y="38100"/>
              <a:ext cx="4105910" cy="3368040"/>
            </a:xfrm>
            <a:custGeom>
              <a:avLst/>
              <a:gdLst/>
              <a:ahLst/>
              <a:cxnLst/>
              <a:rect l="l" t="t" r="r" b="b"/>
              <a:pathLst>
                <a:path w="4105910" h="3368040">
                  <a:moveTo>
                    <a:pt x="0" y="0"/>
                  </a:moveTo>
                  <a:lnTo>
                    <a:pt x="4105910" y="0"/>
                  </a:lnTo>
                  <a:lnTo>
                    <a:pt x="4105910" y="3368040"/>
                  </a:lnTo>
                  <a:lnTo>
                    <a:pt x="0" y="3368040"/>
                  </a:lnTo>
                  <a:close/>
                </a:path>
              </a:pathLst>
            </a:custGeom>
            <a:blipFill>
              <a:blip r:embed="rId1"/>
              <a:stretch>
                <a:fillRect r="-4657" b="-37559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6350" y="6350"/>
              <a:ext cx="4175760" cy="3431540"/>
            </a:xfrm>
            <a:custGeom>
              <a:avLst/>
              <a:gdLst/>
              <a:ahLst/>
              <a:cxnLst/>
              <a:rect l="l" t="t" r="r" b="b"/>
              <a:pathLst>
                <a:path w="4175760" h="3431540">
                  <a:moveTo>
                    <a:pt x="0" y="0"/>
                  </a:moveTo>
                  <a:lnTo>
                    <a:pt x="63500" y="0"/>
                  </a:lnTo>
                  <a:lnTo>
                    <a:pt x="63500" y="63500"/>
                  </a:lnTo>
                  <a:lnTo>
                    <a:pt x="0" y="63500"/>
                  </a:lnTo>
                  <a:lnTo>
                    <a:pt x="0" y="0"/>
                  </a:lnTo>
                  <a:close/>
                  <a:moveTo>
                    <a:pt x="4112260" y="0"/>
                  </a:moveTo>
                  <a:lnTo>
                    <a:pt x="4112260" y="63500"/>
                  </a:lnTo>
                  <a:lnTo>
                    <a:pt x="4175760" y="63500"/>
                  </a:lnTo>
                  <a:lnTo>
                    <a:pt x="4175760" y="0"/>
                  </a:lnTo>
                  <a:lnTo>
                    <a:pt x="4112260" y="0"/>
                  </a:lnTo>
                  <a:close/>
                  <a:moveTo>
                    <a:pt x="2056130" y="63500"/>
                  </a:moveTo>
                  <a:lnTo>
                    <a:pt x="2119630" y="63500"/>
                  </a:lnTo>
                  <a:lnTo>
                    <a:pt x="2119630" y="0"/>
                  </a:lnTo>
                  <a:lnTo>
                    <a:pt x="2056130" y="0"/>
                  </a:lnTo>
                  <a:lnTo>
                    <a:pt x="2056130" y="63500"/>
                  </a:lnTo>
                  <a:close/>
                  <a:moveTo>
                    <a:pt x="0" y="3431540"/>
                  </a:moveTo>
                  <a:lnTo>
                    <a:pt x="63500" y="3431540"/>
                  </a:lnTo>
                  <a:lnTo>
                    <a:pt x="63500" y="3368040"/>
                  </a:lnTo>
                  <a:lnTo>
                    <a:pt x="0" y="3368040"/>
                  </a:lnTo>
                  <a:lnTo>
                    <a:pt x="0" y="3431540"/>
                  </a:lnTo>
                  <a:close/>
                  <a:moveTo>
                    <a:pt x="4112260" y="3431540"/>
                  </a:moveTo>
                  <a:lnTo>
                    <a:pt x="4175760" y="3431540"/>
                  </a:lnTo>
                  <a:lnTo>
                    <a:pt x="4175760" y="3368040"/>
                  </a:lnTo>
                  <a:lnTo>
                    <a:pt x="4112260" y="3368040"/>
                  </a:lnTo>
                  <a:lnTo>
                    <a:pt x="4112260" y="3431540"/>
                  </a:lnTo>
                  <a:close/>
                  <a:moveTo>
                    <a:pt x="2056130" y="3431540"/>
                  </a:moveTo>
                  <a:lnTo>
                    <a:pt x="2119630" y="3431540"/>
                  </a:lnTo>
                  <a:lnTo>
                    <a:pt x="2119630" y="3368040"/>
                  </a:lnTo>
                  <a:lnTo>
                    <a:pt x="2056130" y="3368040"/>
                  </a:lnTo>
                  <a:lnTo>
                    <a:pt x="2056130" y="3431540"/>
                  </a:lnTo>
                  <a:close/>
                  <a:moveTo>
                    <a:pt x="4112260" y="1684020"/>
                  </a:moveTo>
                  <a:lnTo>
                    <a:pt x="4112260" y="1747520"/>
                  </a:lnTo>
                  <a:lnTo>
                    <a:pt x="4175760" y="1747520"/>
                  </a:lnTo>
                  <a:lnTo>
                    <a:pt x="4175760" y="1684020"/>
                  </a:lnTo>
                  <a:lnTo>
                    <a:pt x="4141470" y="1684020"/>
                  </a:lnTo>
                  <a:lnTo>
                    <a:pt x="4112260" y="1684020"/>
                  </a:lnTo>
                  <a:close/>
                  <a:moveTo>
                    <a:pt x="0" y="1747520"/>
                  </a:moveTo>
                  <a:lnTo>
                    <a:pt x="63500" y="1747520"/>
                  </a:lnTo>
                  <a:lnTo>
                    <a:pt x="63500" y="1684020"/>
                  </a:lnTo>
                  <a:lnTo>
                    <a:pt x="0" y="1684020"/>
                  </a:lnTo>
                  <a:lnTo>
                    <a:pt x="0" y="174752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4188460" cy="3444240"/>
            </a:xfrm>
            <a:custGeom>
              <a:avLst/>
              <a:gdLst/>
              <a:ahLst/>
              <a:cxnLst/>
              <a:rect l="l" t="t" r="r" b="b"/>
              <a:pathLst>
                <a:path w="4188460" h="3444240">
                  <a:moveTo>
                    <a:pt x="4188460" y="76200"/>
                  </a:moveTo>
                  <a:lnTo>
                    <a:pt x="4188460" y="0"/>
                  </a:lnTo>
                  <a:lnTo>
                    <a:pt x="4112260" y="0"/>
                  </a:lnTo>
                  <a:lnTo>
                    <a:pt x="4112260" y="31750"/>
                  </a:lnTo>
                  <a:lnTo>
                    <a:pt x="2132330" y="31750"/>
                  </a:lnTo>
                  <a:lnTo>
                    <a:pt x="2132330" y="0"/>
                  </a:lnTo>
                  <a:lnTo>
                    <a:pt x="2056130" y="0"/>
                  </a:lnTo>
                  <a:lnTo>
                    <a:pt x="2056130" y="31750"/>
                  </a:lnTo>
                  <a:lnTo>
                    <a:pt x="76200" y="31750"/>
                  </a:lnTo>
                  <a:lnTo>
                    <a:pt x="76200" y="0"/>
                  </a:lnTo>
                  <a:lnTo>
                    <a:pt x="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1684020"/>
                  </a:lnTo>
                  <a:lnTo>
                    <a:pt x="0" y="1684020"/>
                  </a:lnTo>
                  <a:lnTo>
                    <a:pt x="0" y="1760220"/>
                  </a:lnTo>
                  <a:lnTo>
                    <a:pt x="31750" y="1760220"/>
                  </a:lnTo>
                  <a:lnTo>
                    <a:pt x="31750" y="3368040"/>
                  </a:lnTo>
                  <a:lnTo>
                    <a:pt x="0" y="3368040"/>
                  </a:lnTo>
                  <a:lnTo>
                    <a:pt x="0" y="3444240"/>
                  </a:lnTo>
                  <a:lnTo>
                    <a:pt x="76200" y="3444240"/>
                  </a:lnTo>
                  <a:lnTo>
                    <a:pt x="76200" y="3412490"/>
                  </a:lnTo>
                  <a:lnTo>
                    <a:pt x="2056130" y="3412490"/>
                  </a:lnTo>
                  <a:lnTo>
                    <a:pt x="2056130" y="3444240"/>
                  </a:lnTo>
                  <a:lnTo>
                    <a:pt x="2132330" y="3444240"/>
                  </a:lnTo>
                  <a:lnTo>
                    <a:pt x="2132330" y="3412490"/>
                  </a:lnTo>
                  <a:lnTo>
                    <a:pt x="4112260" y="3412490"/>
                  </a:lnTo>
                  <a:lnTo>
                    <a:pt x="4112260" y="3444240"/>
                  </a:lnTo>
                  <a:lnTo>
                    <a:pt x="4188460" y="3444240"/>
                  </a:lnTo>
                  <a:lnTo>
                    <a:pt x="4188460" y="3368040"/>
                  </a:lnTo>
                  <a:lnTo>
                    <a:pt x="4156710" y="3368040"/>
                  </a:lnTo>
                  <a:lnTo>
                    <a:pt x="4156710" y="1760220"/>
                  </a:lnTo>
                  <a:lnTo>
                    <a:pt x="4188460" y="1760220"/>
                  </a:lnTo>
                  <a:lnTo>
                    <a:pt x="4188460" y="1684020"/>
                  </a:lnTo>
                  <a:lnTo>
                    <a:pt x="4156710" y="1684020"/>
                  </a:lnTo>
                  <a:lnTo>
                    <a:pt x="4156710" y="76200"/>
                  </a:lnTo>
                  <a:lnTo>
                    <a:pt x="4188460" y="76200"/>
                  </a:lnTo>
                  <a:close/>
                  <a:moveTo>
                    <a:pt x="4124960" y="12700"/>
                  </a:moveTo>
                  <a:lnTo>
                    <a:pt x="4175760" y="12700"/>
                  </a:lnTo>
                  <a:lnTo>
                    <a:pt x="4175760" y="63500"/>
                  </a:lnTo>
                  <a:lnTo>
                    <a:pt x="4124960" y="63500"/>
                  </a:lnTo>
                  <a:lnTo>
                    <a:pt x="4124960" y="12700"/>
                  </a:lnTo>
                  <a:close/>
                  <a:moveTo>
                    <a:pt x="2068830" y="12700"/>
                  </a:moveTo>
                  <a:lnTo>
                    <a:pt x="2119630" y="12700"/>
                  </a:lnTo>
                  <a:lnTo>
                    <a:pt x="2119630" y="63500"/>
                  </a:lnTo>
                  <a:lnTo>
                    <a:pt x="2068830" y="63500"/>
                  </a:lnTo>
                  <a:lnTo>
                    <a:pt x="2068830" y="12700"/>
                  </a:lnTo>
                  <a:close/>
                  <a:moveTo>
                    <a:pt x="12700" y="63500"/>
                  </a:moveTo>
                  <a:lnTo>
                    <a:pt x="12700" y="12700"/>
                  </a:lnTo>
                  <a:lnTo>
                    <a:pt x="63500" y="12700"/>
                  </a:lnTo>
                  <a:lnTo>
                    <a:pt x="63500" y="63500"/>
                  </a:lnTo>
                  <a:lnTo>
                    <a:pt x="12700" y="63500"/>
                  </a:lnTo>
                  <a:close/>
                  <a:moveTo>
                    <a:pt x="12700" y="1747520"/>
                  </a:moveTo>
                  <a:lnTo>
                    <a:pt x="12700" y="1696720"/>
                  </a:lnTo>
                  <a:lnTo>
                    <a:pt x="63500" y="1696720"/>
                  </a:lnTo>
                  <a:lnTo>
                    <a:pt x="63500" y="1747520"/>
                  </a:lnTo>
                  <a:lnTo>
                    <a:pt x="12700" y="1747520"/>
                  </a:lnTo>
                  <a:close/>
                  <a:moveTo>
                    <a:pt x="63500" y="3431540"/>
                  </a:moveTo>
                  <a:lnTo>
                    <a:pt x="12700" y="3431540"/>
                  </a:lnTo>
                  <a:lnTo>
                    <a:pt x="12700" y="3380740"/>
                  </a:lnTo>
                  <a:lnTo>
                    <a:pt x="63500" y="3380740"/>
                  </a:lnTo>
                  <a:lnTo>
                    <a:pt x="63500" y="3431540"/>
                  </a:lnTo>
                  <a:close/>
                  <a:moveTo>
                    <a:pt x="2119630" y="3431540"/>
                  </a:moveTo>
                  <a:lnTo>
                    <a:pt x="2068830" y="3431540"/>
                  </a:lnTo>
                  <a:lnTo>
                    <a:pt x="2068830" y="3380740"/>
                  </a:lnTo>
                  <a:lnTo>
                    <a:pt x="2119630" y="3380740"/>
                  </a:lnTo>
                  <a:lnTo>
                    <a:pt x="2119630" y="3431540"/>
                  </a:lnTo>
                  <a:close/>
                  <a:moveTo>
                    <a:pt x="4175760" y="3380740"/>
                  </a:moveTo>
                  <a:lnTo>
                    <a:pt x="4175760" y="3431540"/>
                  </a:lnTo>
                  <a:lnTo>
                    <a:pt x="4124960" y="3431540"/>
                  </a:lnTo>
                  <a:lnTo>
                    <a:pt x="4124960" y="3380740"/>
                  </a:lnTo>
                  <a:lnTo>
                    <a:pt x="4175760" y="3380740"/>
                  </a:lnTo>
                  <a:close/>
                  <a:moveTo>
                    <a:pt x="4175760" y="1747520"/>
                  </a:moveTo>
                  <a:lnTo>
                    <a:pt x="4124960" y="1747520"/>
                  </a:lnTo>
                  <a:lnTo>
                    <a:pt x="4124960" y="1696720"/>
                  </a:lnTo>
                  <a:lnTo>
                    <a:pt x="4175760" y="1696720"/>
                  </a:lnTo>
                  <a:lnTo>
                    <a:pt x="4175760" y="1747520"/>
                  </a:lnTo>
                  <a:close/>
                  <a:moveTo>
                    <a:pt x="4144010" y="1684020"/>
                  </a:moveTo>
                  <a:lnTo>
                    <a:pt x="4112260" y="1684020"/>
                  </a:lnTo>
                  <a:lnTo>
                    <a:pt x="4112260" y="1760220"/>
                  </a:lnTo>
                  <a:lnTo>
                    <a:pt x="4144010" y="1760220"/>
                  </a:lnTo>
                  <a:lnTo>
                    <a:pt x="4144010" y="3368040"/>
                  </a:lnTo>
                  <a:lnTo>
                    <a:pt x="4112260" y="3368040"/>
                  </a:lnTo>
                  <a:lnTo>
                    <a:pt x="4112260" y="3399790"/>
                  </a:lnTo>
                  <a:lnTo>
                    <a:pt x="2132330" y="3399790"/>
                  </a:lnTo>
                  <a:lnTo>
                    <a:pt x="2132330" y="3368040"/>
                  </a:lnTo>
                  <a:lnTo>
                    <a:pt x="2056130" y="3368040"/>
                  </a:lnTo>
                  <a:lnTo>
                    <a:pt x="2056130" y="3399790"/>
                  </a:lnTo>
                  <a:lnTo>
                    <a:pt x="76200" y="3399790"/>
                  </a:lnTo>
                  <a:lnTo>
                    <a:pt x="76200" y="3368040"/>
                  </a:lnTo>
                  <a:lnTo>
                    <a:pt x="44450" y="3368040"/>
                  </a:lnTo>
                  <a:lnTo>
                    <a:pt x="44450" y="1760220"/>
                  </a:lnTo>
                  <a:lnTo>
                    <a:pt x="76200" y="1760220"/>
                  </a:lnTo>
                  <a:lnTo>
                    <a:pt x="76200" y="1684020"/>
                  </a:lnTo>
                  <a:lnTo>
                    <a:pt x="44450" y="168402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2056130" y="44450"/>
                  </a:lnTo>
                  <a:lnTo>
                    <a:pt x="2056130" y="76200"/>
                  </a:lnTo>
                  <a:lnTo>
                    <a:pt x="2132330" y="76200"/>
                  </a:lnTo>
                  <a:lnTo>
                    <a:pt x="2132330" y="44450"/>
                  </a:lnTo>
                  <a:lnTo>
                    <a:pt x="4112260" y="44450"/>
                  </a:lnTo>
                  <a:lnTo>
                    <a:pt x="4112260" y="76200"/>
                  </a:lnTo>
                  <a:lnTo>
                    <a:pt x="4144010" y="76200"/>
                  </a:lnTo>
                  <a:lnTo>
                    <a:pt x="4144010" y="1684020"/>
                  </a:lnTo>
                  <a:close/>
                </a:path>
              </a:pathLst>
            </a:custGeom>
            <a:solidFill>
              <a:srgbClr val="484FA2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học tập của sinh viên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74501" y="2255964"/>
            <a:ext cx="15805273" cy="482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diện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trực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quan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giúp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dễ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dàng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tìm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tham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theo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dõi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tiến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độ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904298" y="3283973"/>
            <a:ext cx="5163502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Khung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xem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video: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phát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</a:t>
            </a:r>
            <a:endParaRPr lang="en-US" sz="24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293485" y="3689985"/>
            <a:ext cx="6361430" cy="7334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2572385" y="4723130"/>
            <a:ext cx="14117955" cy="10979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TextBox 15"/>
          <p:cNvSpPr txBox="1"/>
          <p:nvPr/>
        </p:nvSpPr>
        <p:spPr>
          <a:xfrm>
            <a:off x="678419" y="4381562"/>
            <a:ext cx="360731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Danh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sách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điều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hướng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chuyển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đổi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đánh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dấu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đã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hoàn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thành</a:t>
            </a:r>
            <a:endParaRPr lang="en-US" sz="24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6" name="AutoShape 16"/>
          <p:cNvSpPr/>
          <p:nvPr/>
        </p:nvSpPr>
        <p:spPr>
          <a:xfrm flipV="1">
            <a:off x="6820669" y="8407493"/>
            <a:ext cx="5626145" cy="887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3062927" y="7850398"/>
            <a:ext cx="360731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trắc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nghiệm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cũng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cố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kiến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thức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ngay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sau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mỗi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endParaRPr lang="en-US" sz="24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847245" y="3546442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l="-2331" r="-5436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5188863" y="75565"/>
            <a:ext cx="7384137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đạt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được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 quản lý nội dung giảng dạy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3711381" y="6470928"/>
            <a:ext cx="9450991" cy="3467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>
            <a:off x="1406536" y="5646063"/>
            <a:ext cx="4609690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Cung cấp các số liệu thống kê và các lối tắt chức năng</a:t>
            </a:r>
            <a:endParaRPr lang="en-US" sz="24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847245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l="-3884" r="-3884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264662" y="7278648"/>
            <a:ext cx="9450991" cy="2951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 quản lý nội dung giảng dạy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59817" y="603468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liệt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kê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danh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sách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cung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cáp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các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chức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năng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sửa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,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l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733800" y="5555374"/>
            <a:ext cx="9450991" cy="2951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 quản lý nội dung giảng dạy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59817" y="4458986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phép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thêm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,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sửa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tạo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câu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hỏi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trắc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nghiệm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từng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r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2819400" y="5503978"/>
            <a:ext cx="9753600" cy="57144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quản trị viên quản lý hệ thống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42281" y="416153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 kê thông tin hệ thông và cung cấp các chức năng để quản lý hệ thống</a:t>
            </a:r>
            <a:endParaRPr lang="en-US" sz="24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188863" y="75565"/>
            <a:ext cx="6988493" cy="1005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5" name="TextBox 12"/>
          <p:cNvSpPr txBox="1"/>
          <p:nvPr/>
        </p:nvSpPr>
        <p:spPr>
          <a:xfrm>
            <a:off x="4419600" y="4762500"/>
            <a:ext cx="9988550" cy="208534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vi-VN" altLang="en-US" sz="88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Demo</a:t>
            </a:r>
            <a:endParaRPr lang="vi-VN" altLang="en-US" sz="88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1194343" y="5600868"/>
            <a:ext cx="1065465" cy="867870"/>
          </a:xfrm>
          <a:custGeom>
            <a:avLst/>
            <a:gdLst/>
            <a:ahLst/>
            <a:cxnLst/>
            <a:rect l="l" t="t" r="r" b="b"/>
            <a:pathLst>
              <a:path w="1065465" h="867870">
                <a:moveTo>
                  <a:pt x="0" y="0"/>
                </a:moveTo>
                <a:lnTo>
                  <a:pt x="1065466" y="0"/>
                </a:lnTo>
                <a:lnTo>
                  <a:pt x="1065466" y="867870"/>
                </a:lnTo>
                <a:lnTo>
                  <a:pt x="0" y="86787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194210" y="6958087"/>
            <a:ext cx="936191" cy="1019614"/>
          </a:xfrm>
          <a:custGeom>
            <a:avLst/>
            <a:gdLst/>
            <a:ahLst/>
            <a:cxnLst/>
            <a:rect l="l" t="t" r="r" b="b"/>
            <a:pathLst>
              <a:path w="936191" h="1019614">
                <a:moveTo>
                  <a:pt x="0" y="0"/>
                </a:moveTo>
                <a:lnTo>
                  <a:pt x="936192" y="0"/>
                </a:lnTo>
                <a:lnTo>
                  <a:pt x="936192" y="1019614"/>
                </a:lnTo>
                <a:lnTo>
                  <a:pt x="0" y="101961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63228" y="4076478"/>
            <a:ext cx="963744" cy="976168"/>
          </a:xfrm>
          <a:custGeom>
            <a:avLst/>
            <a:gdLst/>
            <a:ahLst/>
            <a:cxnLst/>
            <a:rect l="l" t="t" r="r" b="b"/>
            <a:pathLst>
              <a:path w="963744" h="976168">
                <a:moveTo>
                  <a:pt x="0" y="0"/>
                </a:moveTo>
                <a:lnTo>
                  <a:pt x="963744" y="0"/>
                </a:lnTo>
                <a:lnTo>
                  <a:pt x="963744" y="976168"/>
                </a:lnTo>
                <a:lnTo>
                  <a:pt x="0" y="9761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0994654" y="2701898"/>
            <a:ext cx="6782361" cy="6852162"/>
            <a:chOff x="0" y="0"/>
            <a:chExt cx="1786301" cy="180468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86301" cy="1804685"/>
            </a:xfrm>
            <a:custGeom>
              <a:avLst/>
              <a:gdLst/>
              <a:ahLst/>
              <a:cxnLst/>
              <a:rect l="l" t="t" r="r" b="b"/>
              <a:pathLst>
                <a:path w="1786301" h="1804685">
                  <a:moveTo>
                    <a:pt x="19405" y="0"/>
                  </a:moveTo>
                  <a:lnTo>
                    <a:pt x="1766896" y="0"/>
                  </a:lnTo>
                  <a:cubicBezTo>
                    <a:pt x="1772042" y="0"/>
                    <a:pt x="1776978" y="2044"/>
                    <a:pt x="1780617" y="5684"/>
                  </a:cubicBezTo>
                  <a:cubicBezTo>
                    <a:pt x="1784256" y="9323"/>
                    <a:pt x="1786301" y="14259"/>
                    <a:pt x="1786301" y="19405"/>
                  </a:cubicBezTo>
                  <a:lnTo>
                    <a:pt x="1786301" y="1785280"/>
                  </a:lnTo>
                  <a:cubicBezTo>
                    <a:pt x="1786301" y="1795997"/>
                    <a:pt x="1777613" y="1804685"/>
                    <a:pt x="1766896" y="1804685"/>
                  </a:cubicBezTo>
                  <a:lnTo>
                    <a:pt x="19405" y="1804685"/>
                  </a:lnTo>
                  <a:cubicBezTo>
                    <a:pt x="14259" y="1804685"/>
                    <a:pt x="9323" y="1802640"/>
                    <a:pt x="5684" y="1799001"/>
                  </a:cubicBezTo>
                  <a:cubicBezTo>
                    <a:pt x="2044" y="1795362"/>
                    <a:pt x="0" y="1790426"/>
                    <a:pt x="0" y="1785280"/>
                  </a:cubicBezTo>
                  <a:lnTo>
                    <a:pt x="0" y="19405"/>
                  </a:lnTo>
                  <a:cubicBezTo>
                    <a:pt x="0" y="14259"/>
                    <a:pt x="2044" y="9323"/>
                    <a:pt x="5684" y="5684"/>
                  </a:cubicBezTo>
                  <a:cubicBezTo>
                    <a:pt x="9323" y="2044"/>
                    <a:pt x="14259" y="0"/>
                    <a:pt x="19405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786301" cy="1852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1" name="Freeform 11"/>
          <p:cNvSpPr/>
          <p:nvPr/>
        </p:nvSpPr>
        <p:spPr>
          <a:xfrm>
            <a:off x="11356604" y="4352486"/>
            <a:ext cx="1050864" cy="791014"/>
          </a:xfrm>
          <a:custGeom>
            <a:avLst/>
            <a:gdLst/>
            <a:ahLst/>
            <a:cxnLst/>
            <a:rect l="l" t="t" r="r" b="b"/>
            <a:pathLst>
              <a:path w="1050864" h="791014">
                <a:moveTo>
                  <a:pt x="0" y="0"/>
                </a:moveTo>
                <a:lnTo>
                  <a:pt x="1050864" y="0"/>
                </a:lnTo>
                <a:lnTo>
                  <a:pt x="1050864" y="791014"/>
                </a:lnTo>
                <a:lnTo>
                  <a:pt x="0" y="791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454112" y="6096000"/>
            <a:ext cx="953356" cy="1037441"/>
          </a:xfrm>
          <a:custGeom>
            <a:avLst/>
            <a:gdLst/>
            <a:ahLst/>
            <a:cxnLst/>
            <a:rect l="l" t="t" r="r" b="b"/>
            <a:pathLst>
              <a:path w="953356" h="1037441">
                <a:moveTo>
                  <a:pt x="0" y="0"/>
                </a:moveTo>
                <a:lnTo>
                  <a:pt x="953356" y="0"/>
                </a:lnTo>
                <a:lnTo>
                  <a:pt x="953356" y="1037441"/>
                </a:lnTo>
                <a:lnTo>
                  <a:pt x="0" y="103744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492375" y="3824605"/>
            <a:ext cx="8350250" cy="42011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Hoàn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thiện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hỗ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trợ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đầy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đủ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tính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năng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cho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Quản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trị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920"/>
              </a:lnSpc>
            </a:pP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4200"/>
              </a:lnSpc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Công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hiện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đại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Sử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dụng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ReactJS, Node.js, MySQL;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trúc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RESTful API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ổn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định</a:t>
            </a: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4200"/>
              </a:lnSpc>
            </a:pP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4200"/>
              </a:lnSpc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Bảo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mật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tối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ưu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Xác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thực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qua JWT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phân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quyền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người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dùng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chặt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chẽ</a:t>
            </a: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104257" y="75565"/>
            <a:ext cx="11157704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4. Kết luận và hướng phát triển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78890" y="2482850"/>
            <a:ext cx="9357360" cy="1005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Đề tài đã hoàn thành các mục tiêu đề ra, </a:t>
            </a:r>
            <a:r>
              <a:rPr lang="vi-VN" alt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</a:t>
            </a: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ây dựng thành công </a:t>
            </a:r>
            <a:r>
              <a:rPr lang="vi-VN" alt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một</a:t>
            </a: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hệ thống hỗ trợ học tập hoàn chỉnh:</a:t>
            </a:r>
            <a:endParaRPr lang="en-US" sz="28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28700" y="1527149"/>
            <a:ext cx="255270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4000" b="1" dirty="0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luận</a:t>
            </a:r>
            <a:endParaRPr lang="en-US" sz="4000" b="1" dirty="0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1698495" y="2895574"/>
            <a:ext cx="5787087" cy="64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Hạn chế của hệ thống</a:t>
            </a:r>
            <a:endParaRPr lang="en-US" sz="38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589212" y="4071613"/>
            <a:ext cx="5187803" cy="3181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Triển khai: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Hiện chỉ hoạt động ở môi trường cục bộ (Localhost), chưa đưa lên server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người dùng: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Giao diện chưa tối ưu hoàn toàn cho thiết bị di động (Responsive)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AutoShape 5"/>
          <p:cNvSpPr/>
          <p:nvPr/>
        </p:nvSpPr>
        <p:spPr>
          <a:xfrm>
            <a:off x="9230906" y="3512486"/>
            <a:ext cx="0" cy="4369662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 flipH="1" flipV="1">
            <a:off x="8602267" y="4684322"/>
            <a:ext cx="62863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 flipH="1" flipV="1">
            <a:off x="9230906" y="6113072"/>
            <a:ext cx="62366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0363200" y="5372100"/>
            <a:ext cx="840105" cy="1393825"/>
          </a:xfrm>
          <a:custGeom>
            <a:avLst/>
            <a:gdLst/>
            <a:ahLst/>
            <a:cxnLst/>
            <a:rect l="l" t="t" r="r" b="b"/>
            <a:pathLst>
              <a:path w="932312" h="1676067">
                <a:moveTo>
                  <a:pt x="0" y="0"/>
                </a:moveTo>
                <a:lnTo>
                  <a:pt x="932313" y="0"/>
                </a:lnTo>
                <a:lnTo>
                  <a:pt x="932313" y="1676067"/>
                </a:lnTo>
                <a:lnTo>
                  <a:pt x="0" y="1676067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9" name="AutoShape 9"/>
          <p:cNvSpPr/>
          <p:nvPr/>
        </p:nvSpPr>
        <p:spPr>
          <a:xfrm flipH="1">
            <a:off x="8602267" y="7836216"/>
            <a:ext cx="62863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Freeform 10"/>
          <p:cNvSpPr/>
          <p:nvPr/>
        </p:nvSpPr>
        <p:spPr>
          <a:xfrm>
            <a:off x="304648" y="7657956"/>
            <a:ext cx="808587" cy="939943"/>
          </a:xfrm>
          <a:custGeom>
            <a:avLst/>
            <a:gdLst/>
            <a:ahLst/>
            <a:cxnLst/>
            <a:rect l="l" t="t" r="r" b="b"/>
            <a:pathLst>
              <a:path w="808587" h="939943">
                <a:moveTo>
                  <a:pt x="0" y="0"/>
                </a:moveTo>
                <a:lnTo>
                  <a:pt x="808587" y="0"/>
                </a:lnTo>
                <a:lnTo>
                  <a:pt x="808587" y="939942"/>
                </a:lnTo>
                <a:lnTo>
                  <a:pt x="0" y="9399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1123" y="3951130"/>
            <a:ext cx="1115153" cy="1276284"/>
          </a:xfrm>
          <a:custGeom>
            <a:avLst/>
            <a:gdLst/>
            <a:ahLst/>
            <a:cxnLst/>
            <a:rect l="l" t="t" r="r" b="b"/>
            <a:pathLst>
              <a:path w="1115153" h="1276284">
                <a:moveTo>
                  <a:pt x="0" y="0"/>
                </a:moveTo>
                <a:lnTo>
                  <a:pt x="1115154" y="0"/>
                </a:lnTo>
                <a:lnTo>
                  <a:pt x="1115154" y="1276284"/>
                </a:lnTo>
                <a:lnTo>
                  <a:pt x="0" y="12762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104257" y="75565"/>
            <a:ext cx="11157704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4. Kết luận và hướng phát triển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9911" y="1678885"/>
            <a:ext cx="5669535" cy="679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Hướng phát triển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468120" y="2578100"/>
            <a:ext cx="16339185" cy="4667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Để hệ thống </a:t>
            </a: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trở </a:t>
            </a: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thành một công cụ mạnh mẽ hơn, các hướng phát triển trong tương lai gồm: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64640" y="4305300"/>
            <a:ext cx="7002780" cy="132905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Bổ s</a:t>
            </a:r>
            <a:r>
              <a:rPr lang="vi-VN" alt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u</a:t>
            </a: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 dạng bài tập nâng cao: </a:t>
            </a:r>
            <a:r>
              <a:rPr lang="en-US" sz="28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tự luận, nộp file và các hình thức đánh giá khác</a:t>
            </a:r>
            <a:endParaRPr lang="en-US" sz="28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536045" y="5419725"/>
            <a:ext cx="6527165" cy="12922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Tối ưu hóa cho thiết bị di động: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cải thiện giao diện để mang lại tr</a:t>
            </a:r>
            <a:r>
              <a:rPr lang="vi-VN" alt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ải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nghiệm học tập trên điện thoại và máy tính bảng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9995" y="7571105"/>
            <a:ext cx="7320915" cy="12922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5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Xây dựng hệ thống thông báo thời</a:t>
            </a:r>
            <a:r>
              <a:rPr lang="vi-VN" altLang="en-US" sz="25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5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gian thực:</a:t>
            </a:r>
            <a:endParaRPr lang="en-US" sz="25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gửi thông báo từc thì v</a:t>
            </a:r>
            <a:r>
              <a:rPr lang="vi-VN" alt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ề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khóa học, nhắc nhở lịch học,..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98128" y="4341178"/>
            <a:ext cx="16491745" cy="1749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360185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Xin cảm ơn Quý Thầy Cô đã dành thời gian lắng nghe</a:t>
            </a:r>
            <a:endParaRPr lang="en-US" sz="5000" b="1">
              <a:solidFill>
                <a:srgbClr val="360185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360185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Rất mong nhận được những góp ý quý báu từ thầy cô</a:t>
            </a:r>
            <a:endParaRPr lang="en-US" sz="5000" b="1">
              <a:solidFill>
                <a:srgbClr val="360185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034518" y="904875"/>
            <a:ext cx="8218964" cy="118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00"/>
              </a:lnSpc>
              <a:spcBef>
                <a:spcPct val="0"/>
              </a:spcBef>
            </a:pPr>
            <a:r>
              <a:rPr lang="en-US" sz="7000" b="1">
                <a:solidFill>
                  <a:srgbClr val="FCB80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Trân trọng cảm ơn</a:t>
            </a:r>
            <a:endParaRPr lang="en-US" sz="7000" b="1">
              <a:solidFill>
                <a:srgbClr val="FCB80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93.38165354330704,&quot;left&quot;:62.13141732283465,&quot;top&quot;:133.65,&quot;width&quot;:911.5628346456693}"/>
</p:tagLst>
</file>

<file path=ppt/tags/tag2.xml><?xml version="1.0" encoding="utf-8"?>
<p:tagLst xmlns:p="http://schemas.openxmlformats.org/presentationml/2006/main">
  <p:tag name="KSO_WM_DIAGRAM_VIRTUALLY_FRAME" val="{&quot;height&quot;:293.38165354330704,&quot;left&quot;:62.13141732283465,&quot;top&quot;:133.65,&quot;width&quot;:911.5628346456693}"/>
</p:tagLst>
</file>

<file path=ppt/tags/tag3.xml><?xml version="1.0" encoding="utf-8"?>
<p:tagLst xmlns:p="http://schemas.openxmlformats.org/presentationml/2006/main">
  <p:tag name="KSO_WM_DIAGRAM_VIRTUALLY_FRAME" val="{&quot;height&quot;:293.38165354330704,&quot;left&quot;:62.13141732283465,&quot;top&quot;:133.65,&quot;width&quot;:911.5628346456693}"/>
</p:tagLst>
</file>

<file path=ppt/tags/tag4.xml><?xml version="1.0" encoding="utf-8"?>
<p:tagLst xmlns:p="http://schemas.openxmlformats.org/presentationml/2006/main">
  <p:tag name="KSO_WM_DIAGRAM_VIRTUALLY_FRAME" val="{&quot;height&quot;:293.38165354330704,&quot;left&quot;:62.13141732283465,&quot;top&quot;:133.65,&quot;width&quot;:911.562834645669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5101</Words>
  <Application>WPS Presentation</Application>
  <PresentationFormat>Custom</PresentationFormat>
  <Paragraphs>242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9" baseType="lpstr">
      <vt:lpstr>Arial</vt:lpstr>
      <vt:lpstr>SimSun</vt:lpstr>
      <vt:lpstr>Wingdings</vt:lpstr>
      <vt:lpstr>Tahoma Bold</vt:lpstr>
      <vt:lpstr>Tahoma</vt:lpstr>
      <vt:lpstr>Arial</vt:lpstr>
      <vt:lpstr>Canva Sans Bold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Baocaodoan</dc:title>
  <dc:creator/>
  <cp:lastModifiedBy>Huy Le</cp:lastModifiedBy>
  <cp:revision>17</cp:revision>
  <dcterms:created xsi:type="dcterms:W3CDTF">2006-08-16T00:00:00Z</dcterms:created>
  <dcterms:modified xsi:type="dcterms:W3CDTF">2026-01-09T05:18:57Z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9585DA6888B046B6B5B5FAC52AD3868E_12</vt:lpwstr>
  </property>
  <property fmtid="{D5CDD505-2E9C-101B-9397-08002B2CF9AE}" pid="3" name="KSOProductBuildVer">
    <vt:lpwstr>1033-12.2.0.23196</vt:lpwstr>
  </property>
</Properties>
</file>