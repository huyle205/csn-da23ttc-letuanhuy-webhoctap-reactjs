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fonts/font7.fntdata" ContentType="application/x-fontdata"/>
  <Override PartName="/ppt/media/image11.svg" ContentType="image/svg+xml"/>
  <Override PartName="/ppt/media/image14.svg" ContentType="image/svg+xml"/>
  <Override PartName="/ppt/media/image17.svg" ContentType="image/svg+xml"/>
  <Override PartName="/ppt/media/image19.svg" ContentType="image/svg+xml"/>
  <Override PartName="/ppt/media/image24.svg" ContentType="image/svg+xml"/>
  <Override PartName="/ppt/media/image32.svg" ContentType="image/svg+xml"/>
  <Override PartName="/ppt/media/image34.svg" ContentType="image/svg+xml"/>
  <Override PartName="/ppt/media/image36.svg" ContentType="image/svg+xml"/>
  <Override PartName="/ppt/media/image38.svg" ContentType="image/svg+xml"/>
  <Override PartName="/ppt/media/image4.svg" ContentType="image/svg+xml"/>
  <Override PartName="/ppt/media/image40.svg" ContentType="image/svg+xml"/>
  <Override PartName="/ppt/media/image43.svg" ContentType="image/svg+xml"/>
  <Override PartName="/ppt/media/image6.svg" ContentType="image/svg+xml"/>
  <Override PartName="/ppt/media/image8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</p:sldIdLst>
  <p:sldSz cx="18288000" cy="10287000"/>
  <p:notesSz cx="6858000" cy="9144000"/>
  <p:embeddedFontLst>
    <p:embeddedFont>
      <p:font typeface="Tahoma Bold" panose="020B0804030504040204"/>
      <p:bold r:id="rId24"/>
    </p:embeddedFont>
    <p:embeddedFont>
      <p:font typeface="Tahoma" panose="020B0604030504040204"/>
      <p:regular r:id="rId25"/>
    </p:embeddedFont>
    <p:embeddedFont>
      <p:font typeface="Canva Sans Bold" panose="020B0803030501040103"/>
      <p:bold r:id="rId26"/>
    </p:embeddedFont>
    <p:embeddedFont>
      <p:font typeface="Calibri" panose="020F0502020204030204" charset="0"/>
      <p:regular r:id="rId27"/>
      <p:bold r:id="rId28"/>
      <p:italic r:id="rId29"/>
      <p:boldItalic r:id="rId3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 showGuides="1">
      <p:cViewPr varScale="1">
        <p:scale>
          <a:sx n="54" d="100"/>
          <a:sy n="54" d="100"/>
        </p:scale>
        <p:origin x="754" y="91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0" Type="http://schemas.openxmlformats.org/officeDocument/2006/relationships/font" Target="fonts/font7.fntdata"/><Relationship Id="rId3" Type="http://schemas.openxmlformats.org/officeDocument/2006/relationships/slide" Target="slides/slide1.xml"/><Relationship Id="rId29" Type="http://schemas.openxmlformats.org/officeDocument/2006/relationships/font" Target="fonts/font6.fntdata"/><Relationship Id="rId28" Type="http://schemas.openxmlformats.org/officeDocument/2006/relationships/font" Target="fonts/font5.fntdata"/><Relationship Id="rId27" Type="http://schemas.openxmlformats.org/officeDocument/2006/relationships/font" Target="fonts/font4.fntdata"/><Relationship Id="rId26" Type="http://schemas.openxmlformats.org/officeDocument/2006/relationships/font" Target="fonts/font3.fntdata"/><Relationship Id="rId25" Type="http://schemas.openxmlformats.org/officeDocument/2006/relationships/font" Target="fonts/font2.fntdata"/><Relationship Id="rId24" Type="http://schemas.openxmlformats.org/officeDocument/2006/relationships/font" Target="fonts/font1.fntdata"/><Relationship Id="rId23" Type="http://schemas.openxmlformats.org/officeDocument/2006/relationships/tableStyles" Target="tableStyles.xml"/><Relationship Id="rId22" Type="http://schemas.openxmlformats.org/officeDocument/2006/relationships/viewProps" Target="viewProps.xml"/><Relationship Id="rId21" Type="http://schemas.openxmlformats.org/officeDocument/2006/relationships/presProps" Target="presProps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7.xml"/><Relationship Id="rId5" Type="http://schemas.openxmlformats.org/officeDocument/2006/relationships/image" Target="../media/image6.svg"/><Relationship Id="rId4" Type="http://schemas.openxmlformats.org/officeDocument/2006/relationships/image" Target="../media/image5.png"/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9.jpeg"/><Relationship Id="rId2" Type="http://schemas.openxmlformats.org/officeDocument/2006/relationships/image" Target="../media/image8.svg"/><Relationship Id="rId1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7.xml"/><Relationship Id="rId8" Type="http://schemas.openxmlformats.org/officeDocument/2006/relationships/image" Target="../media/image17.svg"/><Relationship Id="rId7" Type="http://schemas.openxmlformats.org/officeDocument/2006/relationships/image" Target="../media/image16.png"/><Relationship Id="rId6" Type="http://schemas.openxmlformats.org/officeDocument/2006/relationships/image" Target="../media/image15.png"/><Relationship Id="rId5" Type="http://schemas.openxmlformats.org/officeDocument/2006/relationships/image" Target="../media/image14.svg"/><Relationship Id="rId4" Type="http://schemas.openxmlformats.org/officeDocument/2006/relationships/image" Target="../media/image13.png"/><Relationship Id="rId3" Type="http://schemas.openxmlformats.org/officeDocument/2006/relationships/image" Target="../media/image12.png"/><Relationship Id="rId2" Type="http://schemas.openxmlformats.org/officeDocument/2006/relationships/image" Target="../media/image11.svg"/><Relationship Id="rId1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image" Target="../media/image17.svg"/><Relationship Id="rId8" Type="http://schemas.openxmlformats.org/officeDocument/2006/relationships/image" Target="../media/image16.png"/><Relationship Id="rId7" Type="http://schemas.openxmlformats.org/officeDocument/2006/relationships/image" Target="../media/image15.png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21.png"/><Relationship Id="rId3" Type="http://schemas.openxmlformats.org/officeDocument/2006/relationships/image" Target="../media/image20.png"/><Relationship Id="rId2" Type="http://schemas.openxmlformats.org/officeDocument/2006/relationships/image" Target="../media/image19.svg"/><Relationship Id="rId11" Type="http://schemas.openxmlformats.org/officeDocument/2006/relationships/slideLayout" Target="../slideLayouts/slideLayout7.xml"/><Relationship Id="rId10" Type="http://schemas.openxmlformats.org/officeDocument/2006/relationships/image" Target="../media/image22.png"/><Relationship Id="rId1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24.svg"/><Relationship Id="rId1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9.jpe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6.jpe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7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8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30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30.png"/></Relationships>
</file>

<file path=ppt/slides/_rels/slide16.xml.rels><?xml version="1.0" encoding="UTF-8" standalone="yes"?>
<Relationships xmlns="http://schemas.openxmlformats.org/package/2006/relationships"><Relationship Id="rId9" Type="http://schemas.openxmlformats.org/officeDocument/2006/relationships/image" Target="../media/image39.png"/><Relationship Id="rId8" Type="http://schemas.openxmlformats.org/officeDocument/2006/relationships/image" Target="../media/image38.svg"/><Relationship Id="rId7" Type="http://schemas.openxmlformats.org/officeDocument/2006/relationships/image" Target="../media/image37.png"/><Relationship Id="rId6" Type="http://schemas.openxmlformats.org/officeDocument/2006/relationships/image" Target="../media/image36.svg"/><Relationship Id="rId5" Type="http://schemas.openxmlformats.org/officeDocument/2006/relationships/image" Target="../media/image35.png"/><Relationship Id="rId4" Type="http://schemas.openxmlformats.org/officeDocument/2006/relationships/image" Target="../media/image34.svg"/><Relationship Id="rId3" Type="http://schemas.openxmlformats.org/officeDocument/2006/relationships/image" Target="../media/image33.png"/><Relationship Id="rId2" Type="http://schemas.openxmlformats.org/officeDocument/2006/relationships/image" Target="../media/image32.svg"/><Relationship Id="rId11" Type="http://schemas.openxmlformats.org/officeDocument/2006/relationships/slideLayout" Target="../slideLayouts/slideLayout7.xml"/><Relationship Id="rId10" Type="http://schemas.openxmlformats.org/officeDocument/2006/relationships/image" Target="../media/image40.svg"/><Relationship Id="rId1" Type="http://schemas.openxmlformats.org/officeDocument/2006/relationships/image" Target="../media/image31.png"/></Relationships>
</file>

<file path=ppt/slides/_rels/slide17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7.xml"/><Relationship Id="rId4" Type="http://schemas.openxmlformats.org/officeDocument/2006/relationships/image" Target="../media/image44.png"/><Relationship Id="rId3" Type="http://schemas.openxmlformats.org/officeDocument/2006/relationships/image" Target="../media/image43.svg"/><Relationship Id="rId2" Type="http://schemas.openxmlformats.org/officeDocument/2006/relationships/image" Target="../media/image42.png"/><Relationship Id="rId1" Type="http://schemas.openxmlformats.org/officeDocument/2006/relationships/image" Target="../media/image41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3364777"/>
            <a:ext cx="18288000" cy="3086100"/>
            <a:chOff x="0" y="0"/>
            <a:chExt cx="4816593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812800"/>
            </a:xfrm>
            <a:custGeom>
              <a:avLst/>
              <a:gdLst/>
              <a:ahLst/>
              <a:cxnLst/>
              <a:rect l="l" t="t" r="r" b="b"/>
              <a:pathLst>
                <a:path w="4816592" h="812800">
                  <a:moveTo>
                    <a:pt x="0" y="0"/>
                  </a:moveTo>
                  <a:lnTo>
                    <a:pt x="4816592" y="0"/>
                  </a:lnTo>
                  <a:lnTo>
                    <a:pt x="4816592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816593" cy="850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  <a:spcBef>
                  <a:spcPct val="0"/>
                </a:spcBef>
              </a:pPr>
            </a:p>
          </p:txBody>
        </p:sp>
      </p:grpSp>
      <p:sp>
        <p:nvSpPr>
          <p:cNvPr id="5" name="Freeform 5"/>
          <p:cNvSpPr/>
          <p:nvPr/>
        </p:nvSpPr>
        <p:spPr>
          <a:xfrm>
            <a:off x="212636" y="148019"/>
            <a:ext cx="1099788" cy="1099788"/>
          </a:xfrm>
          <a:custGeom>
            <a:avLst/>
            <a:gdLst/>
            <a:ahLst/>
            <a:cxnLst/>
            <a:rect l="l" t="t" r="r" b="b"/>
            <a:pathLst>
              <a:path w="1099788" h="1099788">
                <a:moveTo>
                  <a:pt x="0" y="0"/>
                </a:moveTo>
                <a:lnTo>
                  <a:pt x="1099788" y="0"/>
                </a:lnTo>
                <a:lnTo>
                  <a:pt x="1099788" y="1099788"/>
                </a:lnTo>
                <a:lnTo>
                  <a:pt x="0" y="1099788"/>
                </a:lnTo>
                <a:lnTo>
                  <a:pt x="0" y="0"/>
                </a:lnTo>
                <a:close/>
              </a:path>
            </a:pathLst>
          </a:custGeom>
          <a:blipFill>
            <a:blip r:embed="rId1"/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1461231" y="307388"/>
            <a:ext cx="5921454" cy="781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0"/>
              </a:lnSpc>
            </a:pPr>
            <a:r>
              <a:rPr lang="en-US" sz="26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TRƯỜNG KỸ THUẬT VÀ CÔNG NGHỆ</a:t>
            </a:r>
            <a:endParaRPr lang="en-US" sz="2600" b="1">
              <a:solidFill>
                <a:srgbClr val="000000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  <a:p>
            <a:pPr algn="ctr">
              <a:lnSpc>
                <a:spcPts val="3120"/>
              </a:lnSpc>
            </a:pPr>
            <a:r>
              <a:rPr lang="en-US" sz="2600" b="1">
                <a:solidFill>
                  <a:srgbClr val="360185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KHOA CÔNG NGHỆ THÔNG TIN</a:t>
            </a:r>
            <a:endParaRPr lang="en-US" sz="2600" b="1">
              <a:solidFill>
                <a:srgbClr val="360185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2580005" y="1509395"/>
            <a:ext cx="13127990" cy="80772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300"/>
              </a:lnSpc>
              <a:spcBef>
                <a:spcPct val="0"/>
              </a:spcBef>
            </a:pPr>
            <a:r>
              <a:rPr lang="en-US" sz="4500" b="1">
                <a:solidFill>
                  <a:srgbClr val="360185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BÁO CÁO THỰC TẬP ĐỒ ÁN CƠ SỞ NGÀNH</a:t>
            </a:r>
            <a:endParaRPr lang="en-US" sz="4500" b="1">
              <a:solidFill>
                <a:srgbClr val="360185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8396526" y="2499316"/>
            <a:ext cx="1494949" cy="5708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60"/>
              </a:lnSpc>
              <a:spcBef>
                <a:spcPct val="0"/>
              </a:spcBef>
            </a:pPr>
            <a:r>
              <a:rPr lang="en-US" sz="34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ĐỀ TÀI</a:t>
            </a:r>
            <a:endParaRPr lang="en-US" sz="3400" b="1">
              <a:solidFill>
                <a:srgbClr val="000000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2138737" y="6984277"/>
            <a:ext cx="5342013" cy="18103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SINH VIÊN THỰC HIỆN: </a:t>
            </a:r>
            <a:endParaRPr lang="en-US" sz="260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  <a:p>
            <a:pPr algn="just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HỌ TÊN: LÊ TUẤN HUY</a:t>
            </a:r>
            <a:endParaRPr lang="en-US" sz="2600" b="1">
              <a:solidFill>
                <a:srgbClr val="000000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  <a:p>
            <a:pPr algn="just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LỚP: DA23TTC</a:t>
            </a:r>
            <a:endParaRPr lang="en-US" sz="2600" b="1">
              <a:solidFill>
                <a:srgbClr val="000000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  <a:p>
            <a:pPr algn="just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MSSV: 110123105</a:t>
            </a:r>
            <a:endParaRPr lang="en-US" sz="2600" b="1">
              <a:solidFill>
                <a:srgbClr val="000000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0" y="3715931"/>
            <a:ext cx="18288000" cy="23336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300"/>
              </a:lnSpc>
              <a:spcBef>
                <a:spcPct val="0"/>
              </a:spcBef>
            </a:pPr>
            <a:r>
              <a:rPr lang="en-US" sz="4500" b="1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THIẾT KẾ WEBSITE HỖ TRỢ HỌC TẬP </a:t>
            </a:r>
            <a:endParaRPr lang="en-US" sz="4500" b="1">
              <a:solidFill>
                <a:srgbClr val="F4B342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  <a:p>
            <a:pPr algn="ctr">
              <a:lnSpc>
                <a:spcPts val="6300"/>
              </a:lnSpc>
              <a:spcBef>
                <a:spcPct val="0"/>
              </a:spcBef>
            </a:pPr>
            <a:r>
              <a:rPr lang="en-US" sz="4500" b="1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CHO SINH VIÊN CÔNG NGHỆ THÔNG TIN</a:t>
            </a:r>
            <a:endParaRPr lang="en-US" sz="4500" b="1">
              <a:solidFill>
                <a:srgbClr val="F4B342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  <a:p>
            <a:pPr algn="ctr">
              <a:lnSpc>
                <a:spcPts val="6300"/>
              </a:lnSpc>
              <a:spcBef>
                <a:spcPct val="0"/>
              </a:spcBef>
            </a:pPr>
            <a:r>
              <a:rPr lang="en-US" sz="4500" b="1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TRƯỜNG ĐẠI HỌC TRÀ VINH</a:t>
            </a:r>
            <a:endParaRPr lang="en-US" sz="4500" b="1">
              <a:solidFill>
                <a:srgbClr val="F4B342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028700" y="6984277"/>
            <a:ext cx="5596890" cy="8959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GIẢNG VIÊN HƯỚNG DẪN: </a:t>
            </a:r>
            <a:endParaRPr lang="en-US" sz="260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  <a:p>
            <a:pPr algn="l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THS. NGUYỄN HOÀNG DUY THIỆN</a:t>
            </a:r>
            <a:endParaRPr lang="en-US" sz="2600" b="1">
              <a:solidFill>
                <a:srgbClr val="000000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256807"/>
            <a:chOff x="0" y="0"/>
            <a:chExt cx="4816593" cy="33101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331011"/>
            </a:xfrm>
            <a:custGeom>
              <a:avLst/>
              <a:gdLst/>
              <a:ahLst/>
              <a:cxnLst/>
              <a:rect l="l" t="t" r="r" b="b"/>
              <a:pathLst>
                <a:path w="4816592" h="331011">
                  <a:moveTo>
                    <a:pt x="0" y="0"/>
                  </a:moveTo>
                  <a:lnTo>
                    <a:pt x="4816592" y="0"/>
                  </a:lnTo>
                  <a:lnTo>
                    <a:pt x="4816592" y="331011"/>
                  </a:lnTo>
                  <a:lnTo>
                    <a:pt x="0" y="331011"/>
                  </a:ln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816593" cy="3786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5256014" y="75565"/>
            <a:ext cx="6854190" cy="953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sz="5600" b="1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Nội dung trình bày </a:t>
            </a:r>
            <a:endParaRPr lang="en-US" sz="5600" b="1">
              <a:solidFill>
                <a:srgbClr val="F4B342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grpSp>
        <p:nvGrpSpPr>
          <p:cNvPr id="6" name="Group 6"/>
          <p:cNvGrpSpPr/>
          <p:nvPr/>
        </p:nvGrpSpPr>
        <p:grpSpPr>
          <a:xfrm>
            <a:off x="1842627" y="2337794"/>
            <a:ext cx="11441363" cy="1059048"/>
            <a:chOff x="0" y="0"/>
            <a:chExt cx="15255151" cy="1412065"/>
          </a:xfrm>
        </p:grpSpPr>
        <p:grpSp>
          <p:nvGrpSpPr>
            <p:cNvPr id="7" name="Group 7"/>
            <p:cNvGrpSpPr/>
            <p:nvPr/>
          </p:nvGrpSpPr>
          <p:grpSpPr>
            <a:xfrm>
              <a:off x="1305248" y="0"/>
              <a:ext cx="13949903" cy="1412065"/>
              <a:chOff x="0" y="0"/>
              <a:chExt cx="2755536" cy="278926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2755536" cy="278926"/>
              </a:xfrm>
              <a:custGeom>
                <a:avLst/>
                <a:gdLst/>
                <a:ahLst/>
                <a:cxnLst/>
                <a:rect l="l" t="t" r="r" b="b"/>
                <a:pathLst>
                  <a:path w="2755536" h="278926">
                    <a:moveTo>
                      <a:pt x="12580" y="0"/>
                    </a:moveTo>
                    <a:lnTo>
                      <a:pt x="2742957" y="0"/>
                    </a:lnTo>
                    <a:cubicBezTo>
                      <a:pt x="2749904" y="0"/>
                      <a:pt x="2755536" y="5632"/>
                      <a:pt x="2755536" y="12580"/>
                    </a:cubicBezTo>
                    <a:lnTo>
                      <a:pt x="2755536" y="266347"/>
                    </a:lnTo>
                    <a:cubicBezTo>
                      <a:pt x="2755536" y="273294"/>
                      <a:pt x="2749904" y="278926"/>
                      <a:pt x="2742957" y="278926"/>
                    </a:cubicBezTo>
                    <a:lnTo>
                      <a:pt x="12580" y="278926"/>
                    </a:lnTo>
                    <a:cubicBezTo>
                      <a:pt x="5632" y="278926"/>
                      <a:pt x="0" y="273294"/>
                      <a:pt x="0" y="266347"/>
                    </a:cubicBezTo>
                    <a:lnTo>
                      <a:pt x="0" y="12580"/>
                    </a:lnTo>
                    <a:cubicBezTo>
                      <a:pt x="0" y="5632"/>
                      <a:pt x="5632" y="0"/>
                      <a:pt x="12580" y="0"/>
                    </a:cubicBezTo>
                    <a:close/>
                  </a:path>
                </a:pathLst>
              </a:custGeom>
              <a:solidFill>
                <a:srgbClr val="360185"/>
              </a:solidFill>
            </p:spPr>
          </p:sp>
          <p:sp>
            <p:nvSpPr>
              <p:cNvPr id="9" name="TextBox 9"/>
              <p:cNvSpPr txBox="1"/>
              <p:nvPr/>
            </p:nvSpPr>
            <p:spPr>
              <a:xfrm>
                <a:off x="0" y="-47625"/>
                <a:ext cx="2755536" cy="326551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640"/>
                  </a:lnSpc>
                </a:pPr>
              </a:p>
            </p:txBody>
          </p:sp>
        </p:grpSp>
        <p:grpSp>
          <p:nvGrpSpPr>
            <p:cNvPr id="10" name="Group 10"/>
            <p:cNvGrpSpPr/>
            <p:nvPr/>
          </p:nvGrpSpPr>
          <p:grpSpPr>
            <a:xfrm>
              <a:off x="0" y="0"/>
              <a:ext cx="3444054" cy="1412065"/>
              <a:chOff x="0" y="0"/>
              <a:chExt cx="680307" cy="278926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680307" cy="278926"/>
              </a:xfrm>
              <a:custGeom>
                <a:avLst/>
                <a:gdLst/>
                <a:ahLst/>
                <a:cxnLst/>
                <a:rect l="l" t="t" r="r" b="b"/>
                <a:pathLst>
                  <a:path w="680307" h="278926">
                    <a:moveTo>
                      <a:pt x="0" y="0"/>
                    </a:moveTo>
                    <a:lnTo>
                      <a:pt x="477107" y="0"/>
                    </a:lnTo>
                    <a:lnTo>
                      <a:pt x="680307" y="139463"/>
                    </a:lnTo>
                    <a:lnTo>
                      <a:pt x="477107" y="278926"/>
                    </a:lnTo>
                    <a:lnTo>
                      <a:pt x="0" y="278926"/>
                    </a:lnTo>
                    <a:lnTo>
                      <a:pt x="203200" y="13946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B342"/>
              </a:solidFill>
            </p:spPr>
          </p:sp>
          <p:sp>
            <p:nvSpPr>
              <p:cNvPr id="12" name="TextBox 12"/>
              <p:cNvSpPr txBox="1"/>
              <p:nvPr/>
            </p:nvSpPr>
            <p:spPr>
              <a:xfrm>
                <a:off x="177800" y="-47625"/>
                <a:ext cx="426307" cy="326551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640"/>
                  </a:lnSpc>
                </a:pPr>
              </a:p>
            </p:txBody>
          </p:sp>
        </p:grpSp>
      </p:grpSp>
      <p:sp>
        <p:nvSpPr>
          <p:cNvPr id="13" name="TextBox 13"/>
          <p:cNvSpPr txBox="1"/>
          <p:nvPr/>
        </p:nvSpPr>
        <p:spPr>
          <a:xfrm>
            <a:off x="5270810" y="2499018"/>
            <a:ext cx="4939990" cy="64389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600"/>
              </a:lnSpc>
              <a:spcBef>
                <a:spcPct val="0"/>
              </a:spcBef>
            </a:pPr>
            <a:r>
              <a:rPr lang="en-US" sz="40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Giới</a:t>
            </a:r>
            <a:r>
              <a:rPr lang="en-US" sz="4000" b="1" dirty="0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40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thiệu</a:t>
            </a:r>
            <a:r>
              <a:rPr lang="en-US" sz="4000" b="1" dirty="0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40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đề</a:t>
            </a:r>
            <a:r>
              <a:rPr lang="en-US" sz="4000" b="1" dirty="0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40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tài</a:t>
            </a:r>
            <a:endParaRPr lang="en-US" sz="4000" b="1" dirty="0">
              <a:solidFill>
                <a:srgbClr val="FDF9E8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5702323" y="4270662"/>
            <a:ext cx="5111353" cy="669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600"/>
              </a:lnSpc>
              <a:spcBef>
                <a:spcPct val="0"/>
              </a:spcBef>
            </a:pPr>
            <a:r>
              <a:rPr lang="en-US" sz="4000" b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Tổng quan hệ thống</a:t>
            </a:r>
            <a:endParaRPr lang="en-US" sz="4000" b="1">
              <a:solidFill>
                <a:srgbClr val="FDF9E8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3031861" y="2550639"/>
            <a:ext cx="323493" cy="669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600"/>
              </a:lnSpc>
              <a:spcBef>
                <a:spcPct val="0"/>
              </a:spcBef>
            </a:pPr>
            <a:r>
              <a:rPr lang="en-US" sz="4000" b="1">
                <a:solidFill>
                  <a:srgbClr val="360185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1</a:t>
            </a:r>
            <a:endParaRPr lang="en-US" sz="4000" b="1">
              <a:solidFill>
                <a:srgbClr val="360185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3355354" y="4270662"/>
            <a:ext cx="323493" cy="669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600"/>
              </a:lnSpc>
              <a:spcBef>
                <a:spcPct val="0"/>
              </a:spcBef>
            </a:pPr>
            <a:r>
              <a:rPr lang="en-US" sz="4000" b="1">
                <a:solidFill>
                  <a:srgbClr val="360185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2</a:t>
            </a:r>
            <a:endParaRPr lang="en-US" sz="4000" b="1">
              <a:solidFill>
                <a:srgbClr val="360185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grpSp>
        <p:nvGrpSpPr>
          <p:cNvPr id="17" name="Group 17"/>
          <p:cNvGrpSpPr/>
          <p:nvPr/>
        </p:nvGrpSpPr>
        <p:grpSpPr>
          <a:xfrm>
            <a:off x="1842627" y="3820639"/>
            <a:ext cx="11441363" cy="1059048"/>
            <a:chOff x="0" y="0"/>
            <a:chExt cx="15255151" cy="1412065"/>
          </a:xfrm>
        </p:grpSpPr>
        <p:grpSp>
          <p:nvGrpSpPr>
            <p:cNvPr id="18" name="Group 18"/>
            <p:cNvGrpSpPr/>
            <p:nvPr/>
          </p:nvGrpSpPr>
          <p:grpSpPr>
            <a:xfrm>
              <a:off x="1305248" y="0"/>
              <a:ext cx="13949903" cy="1412065"/>
              <a:chOff x="0" y="0"/>
              <a:chExt cx="2755536" cy="278926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2755536" cy="278926"/>
              </a:xfrm>
              <a:custGeom>
                <a:avLst/>
                <a:gdLst/>
                <a:ahLst/>
                <a:cxnLst/>
                <a:rect l="l" t="t" r="r" b="b"/>
                <a:pathLst>
                  <a:path w="2755536" h="278926">
                    <a:moveTo>
                      <a:pt x="12580" y="0"/>
                    </a:moveTo>
                    <a:lnTo>
                      <a:pt x="2742957" y="0"/>
                    </a:lnTo>
                    <a:cubicBezTo>
                      <a:pt x="2749904" y="0"/>
                      <a:pt x="2755536" y="5632"/>
                      <a:pt x="2755536" y="12580"/>
                    </a:cubicBezTo>
                    <a:lnTo>
                      <a:pt x="2755536" y="266347"/>
                    </a:lnTo>
                    <a:cubicBezTo>
                      <a:pt x="2755536" y="273294"/>
                      <a:pt x="2749904" y="278926"/>
                      <a:pt x="2742957" y="278926"/>
                    </a:cubicBezTo>
                    <a:lnTo>
                      <a:pt x="12580" y="278926"/>
                    </a:lnTo>
                    <a:cubicBezTo>
                      <a:pt x="5632" y="278926"/>
                      <a:pt x="0" y="273294"/>
                      <a:pt x="0" y="266347"/>
                    </a:cubicBezTo>
                    <a:lnTo>
                      <a:pt x="0" y="12580"/>
                    </a:lnTo>
                    <a:cubicBezTo>
                      <a:pt x="0" y="5632"/>
                      <a:pt x="5632" y="0"/>
                      <a:pt x="12580" y="0"/>
                    </a:cubicBezTo>
                    <a:close/>
                  </a:path>
                </a:pathLst>
              </a:custGeom>
              <a:solidFill>
                <a:srgbClr val="360185"/>
              </a:solidFill>
            </p:spPr>
          </p:sp>
          <p:sp>
            <p:nvSpPr>
              <p:cNvPr id="20" name="TextBox 20"/>
              <p:cNvSpPr txBox="1"/>
              <p:nvPr/>
            </p:nvSpPr>
            <p:spPr>
              <a:xfrm>
                <a:off x="0" y="-47625"/>
                <a:ext cx="2755536" cy="326551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640"/>
                  </a:lnSpc>
                </a:pPr>
              </a:p>
            </p:txBody>
          </p:sp>
        </p:grpSp>
        <p:grpSp>
          <p:nvGrpSpPr>
            <p:cNvPr id="21" name="Group 21"/>
            <p:cNvGrpSpPr/>
            <p:nvPr/>
          </p:nvGrpSpPr>
          <p:grpSpPr>
            <a:xfrm>
              <a:off x="0" y="0"/>
              <a:ext cx="3444054" cy="1412065"/>
              <a:chOff x="0" y="0"/>
              <a:chExt cx="680307" cy="278926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0" y="0"/>
                <a:ext cx="680307" cy="278926"/>
              </a:xfrm>
              <a:custGeom>
                <a:avLst/>
                <a:gdLst/>
                <a:ahLst/>
                <a:cxnLst/>
                <a:rect l="l" t="t" r="r" b="b"/>
                <a:pathLst>
                  <a:path w="680307" h="278926">
                    <a:moveTo>
                      <a:pt x="0" y="0"/>
                    </a:moveTo>
                    <a:lnTo>
                      <a:pt x="477107" y="0"/>
                    </a:lnTo>
                    <a:lnTo>
                      <a:pt x="680307" y="139463"/>
                    </a:lnTo>
                    <a:lnTo>
                      <a:pt x="477107" y="278926"/>
                    </a:lnTo>
                    <a:lnTo>
                      <a:pt x="0" y="278926"/>
                    </a:lnTo>
                    <a:lnTo>
                      <a:pt x="203200" y="13946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B342"/>
              </a:solidFill>
            </p:spPr>
          </p:sp>
          <p:sp>
            <p:nvSpPr>
              <p:cNvPr id="23" name="TextBox 23"/>
              <p:cNvSpPr txBox="1"/>
              <p:nvPr/>
            </p:nvSpPr>
            <p:spPr>
              <a:xfrm>
                <a:off x="177800" y="-47625"/>
                <a:ext cx="426307" cy="326551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640"/>
                  </a:lnSpc>
                </a:pPr>
              </a:p>
            </p:txBody>
          </p:sp>
        </p:grpSp>
      </p:grpSp>
      <p:sp>
        <p:nvSpPr>
          <p:cNvPr id="24" name="TextBox 24"/>
          <p:cNvSpPr txBox="1"/>
          <p:nvPr/>
        </p:nvSpPr>
        <p:spPr>
          <a:xfrm>
            <a:off x="5270810" y="3981863"/>
            <a:ext cx="6006790" cy="64389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600"/>
              </a:lnSpc>
              <a:spcBef>
                <a:spcPct val="0"/>
              </a:spcBef>
            </a:pPr>
            <a:r>
              <a:rPr lang="en-US" sz="40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Tổng</a:t>
            </a:r>
            <a:r>
              <a:rPr lang="en-US" sz="4000" b="1" dirty="0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40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quan</a:t>
            </a:r>
            <a:r>
              <a:rPr lang="en-US" sz="4000" b="1" dirty="0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40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hệ</a:t>
            </a:r>
            <a:r>
              <a:rPr lang="en-US" sz="4000" b="1" dirty="0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40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thống</a:t>
            </a:r>
            <a:endParaRPr lang="en-US" sz="4000" b="1" dirty="0">
              <a:solidFill>
                <a:srgbClr val="FDF9E8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3031861" y="3969037"/>
            <a:ext cx="323493" cy="669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600"/>
              </a:lnSpc>
              <a:spcBef>
                <a:spcPct val="0"/>
              </a:spcBef>
            </a:pPr>
            <a:r>
              <a:rPr lang="en-US" sz="4000" b="1">
                <a:solidFill>
                  <a:srgbClr val="360185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2</a:t>
            </a:r>
            <a:endParaRPr lang="en-US" sz="4000" b="1">
              <a:solidFill>
                <a:srgbClr val="360185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grpSp>
        <p:nvGrpSpPr>
          <p:cNvPr id="26" name="Group 26"/>
          <p:cNvGrpSpPr/>
          <p:nvPr/>
        </p:nvGrpSpPr>
        <p:grpSpPr>
          <a:xfrm>
            <a:off x="1842627" y="5346413"/>
            <a:ext cx="11441363" cy="1059048"/>
            <a:chOff x="0" y="0"/>
            <a:chExt cx="15255151" cy="1412065"/>
          </a:xfrm>
        </p:grpSpPr>
        <p:grpSp>
          <p:nvGrpSpPr>
            <p:cNvPr id="27" name="Group 27"/>
            <p:cNvGrpSpPr/>
            <p:nvPr/>
          </p:nvGrpSpPr>
          <p:grpSpPr>
            <a:xfrm>
              <a:off x="1305248" y="0"/>
              <a:ext cx="13949903" cy="1412065"/>
              <a:chOff x="0" y="0"/>
              <a:chExt cx="2755536" cy="278926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0" y="0"/>
                <a:ext cx="2755536" cy="278926"/>
              </a:xfrm>
              <a:custGeom>
                <a:avLst/>
                <a:gdLst/>
                <a:ahLst/>
                <a:cxnLst/>
                <a:rect l="l" t="t" r="r" b="b"/>
                <a:pathLst>
                  <a:path w="2755536" h="278926">
                    <a:moveTo>
                      <a:pt x="12580" y="0"/>
                    </a:moveTo>
                    <a:lnTo>
                      <a:pt x="2742957" y="0"/>
                    </a:lnTo>
                    <a:cubicBezTo>
                      <a:pt x="2749904" y="0"/>
                      <a:pt x="2755536" y="5632"/>
                      <a:pt x="2755536" y="12580"/>
                    </a:cubicBezTo>
                    <a:lnTo>
                      <a:pt x="2755536" y="266347"/>
                    </a:lnTo>
                    <a:cubicBezTo>
                      <a:pt x="2755536" y="273294"/>
                      <a:pt x="2749904" y="278926"/>
                      <a:pt x="2742957" y="278926"/>
                    </a:cubicBezTo>
                    <a:lnTo>
                      <a:pt x="12580" y="278926"/>
                    </a:lnTo>
                    <a:cubicBezTo>
                      <a:pt x="5632" y="278926"/>
                      <a:pt x="0" y="273294"/>
                      <a:pt x="0" y="266347"/>
                    </a:cubicBezTo>
                    <a:lnTo>
                      <a:pt x="0" y="12580"/>
                    </a:lnTo>
                    <a:cubicBezTo>
                      <a:pt x="0" y="5632"/>
                      <a:pt x="5632" y="0"/>
                      <a:pt x="12580" y="0"/>
                    </a:cubicBezTo>
                    <a:close/>
                  </a:path>
                </a:pathLst>
              </a:custGeom>
              <a:solidFill>
                <a:srgbClr val="360185"/>
              </a:solidFill>
            </p:spPr>
          </p:sp>
          <p:sp>
            <p:nvSpPr>
              <p:cNvPr id="29" name="TextBox 29"/>
              <p:cNvSpPr txBox="1"/>
              <p:nvPr/>
            </p:nvSpPr>
            <p:spPr>
              <a:xfrm>
                <a:off x="0" y="-47625"/>
                <a:ext cx="2755536" cy="326551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640"/>
                  </a:lnSpc>
                </a:pPr>
              </a:p>
            </p:txBody>
          </p:sp>
        </p:grpSp>
        <p:grpSp>
          <p:nvGrpSpPr>
            <p:cNvPr id="30" name="Group 30"/>
            <p:cNvGrpSpPr/>
            <p:nvPr/>
          </p:nvGrpSpPr>
          <p:grpSpPr>
            <a:xfrm>
              <a:off x="0" y="0"/>
              <a:ext cx="3444054" cy="1412065"/>
              <a:chOff x="0" y="0"/>
              <a:chExt cx="680307" cy="278926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680307" cy="278926"/>
              </a:xfrm>
              <a:custGeom>
                <a:avLst/>
                <a:gdLst/>
                <a:ahLst/>
                <a:cxnLst/>
                <a:rect l="l" t="t" r="r" b="b"/>
                <a:pathLst>
                  <a:path w="680307" h="278926">
                    <a:moveTo>
                      <a:pt x="0" y="0"/>
                    </a:moveTo>
                    <a:lnTo>
                      <a:pt x="477107" y="0"/>
                    </a:lnTo>
                    <a:lnTo>
                      <a:pt x="680307" y="139463"/>
                    </a:lnTo>
                    <a:lnTo>
                      <a:pt x="477107" y="278926"/>
                    </a:lnTo>
                    <a:lnTo>
                      <a:pt x="0" y="278926"/>
                    </a:lnTo>
                    <a:lnTo>
                      <a:pt x="203200" y="13946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B342"/>
              </a:solidFill>
            </p:spPr>
          </p:sp>
          <p:sp>
            <p:nvSpPr>
              <p:cNvPr id="32" name="TextBox 32"/>
              <p:cNvSpPr txBox="1"/>
              <p:nvPr/>
            </p:nvSpPr>
            <p:spPr>
              <a:xfrm>
                <a:off x="177800" y="-47625"/>
                <a:ext cx="426307" cy="326551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640"/>
                  </a:lnSpc>
                </a:pPr>
              </a:p>
            </p:txBody>
          </p:sp>
        </p:grpSp>
      </p:grpSp>
      <p:sp>
        <p:nvSpPr>
          <p:cNvPr id="33" name="TextBox 33"/>
          <p:cNvSpPr txBox="1"/>
          <p:nvPr/>
        </p:nvSpPr>
        <p:spPr>
          <a:xfrm>
            <a:off x="5270810" y="5507637"/>
            <a:ext cx="5320990" cy="64389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600"/>
              </a:lnSpc>
              <a:spcBef>
                <a:spcPct val="0"/>
              </a:spcBef>
            </a:pPr>
            <a:r>
              <a:rPr lang="en-US" sz="40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Kết</a:t>
            </a:r>
            <a:r>
              <a:rPr lang="en-US" sz="4000" b="1" dirty="0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40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quả</a:t>
            </a:r>
            <a:r>
              <a:rPr lang="en-US" sz="4000" b="1" dirty="0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40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đạt</a:t>
            </a:r>
            <a:r>
              <a:rPr lang="en-US" sz="4000" b="1" dirty="0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40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được</a:t>
            </a:r>
            <a:endParaRPr lang="en-US" sz="4000" b="1" dirty="0">
              <a:solidFill>
                <a:srgbClr val="FDF9E8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34" name="TextBox 34"/>
          <p:cNvSpPr txBox="1"/>
          <p:nvPr/>
        </p:nvSpPr>
        <p:spPr>
          <a:xfrm>
            <a:off x="5702323" y="7279281"/>
            <a:ext cx="5111353" cy="669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600"/>
              </a:lnSpc>
              <a:spcBef>
                <a:spcPct val="0"/>
              </a:spcBef>
            </a:pPr>
            <a:r>
              <a:rPr lang="en-US" sz="4000" b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Tổng quan hệ thống</a:t>
            </a:r>
            <a:endParaRPr lang="en-US" sz="4000" b="1">
              <a:solidFill>
                <a:srgbClr val="FDF9E8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grpSp>
        <p:nvGrpSpPr>
          <p:cNvPr id="35" name="Group 35"/>
          <p:cNvGrpSpPr/>
          <p:nvPr/>
        </p:nvGrpSpPr>
        <p:grpSpPr>
          <a:xfrm>
            <a:off x="1676731" y="6829258"/>
            <a:ext cx="11607259" cy="1059048"/>
            <a:chOff x="0" y="0"/>
            <a:chExt cx="15476346" cy="1412065"/>
          </a:xfrm>
        </p:grpSpPr>
        <p:grpSp>
          <p:nvGrpSpPr>
            <p:cNvPr id="36" name="Group 36"/>
            <p:cNvGrpSpPr/>
            <p:nvPr/>
          </p:nvGrpSpPr>
          <p:grpSpPr>
            <a:xfrm>
              <a:off x="1324173" y="0"/>
              <a:ext cx="14152172" cy="1412065"/>
              <a:chOff x="0" y="0"/>
              <a:chExt cx="2795491" cy="278926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0" y="0"/>
                <a:ext cx="2795491" cy="278926"/>
              </a:xfrm>
              <a:custGeom>
                <a:avLst/>
                <a:gdLst/>
                <a:ahLst/>
                <a:cxnLst/>
                <a:rect l="l" t="t" r="r" b="b"/>
                <a:pathLst>
                  <a:path w="2795491" h="278926">
                    <a:moveTo>
                      <a:pt x="12400" y="0"/>
                    </a:moveTo>
                    <a:lnTo>
                      <a:pt x="2783091" y="0"/>
                    </a:lnTo>
                    <a:cubicBezTo>
                      <a:pt x="2789939" y="0"/>
                      <a:pt x="2795491" y="5552"/>
                      <a:pt x="2795491" y="12400"/>
                    </a:cubicBezTo>
                    <a:lnTo>
                      <a:pt x="2795491" y="266527"/>
                    </a:lnTo>
                    <a:cubicBezTo>
                      <a:pt x="2795491" y="269815"/>
                      <a:pt x="2794184" y="272969"/>
                      <a:pt x="2791859" y="275295"/>
                    </a:cubicBezTo>
                    <a:cubicBezTo>
                      <a:pt x="2789534" y="277620"/>
                      <a:pt x="2786380" y="278926"/>
                      <a:pt x="2783091" y="278926"/>
                    </a:cubicBezTo>
                    <a:lnTo>
                      <a:pt x="12400" y="278926"/>
                    </a:lnTo>
                    <a:cubicBezTo>
                      <a:pt x="9111" y="278926"/>
                      <a:pt x="5957" y="277620"/>
                      <a:pt x="3632" y="275295"/>
                    </a:cubicBezTo>
                    <a:cubicBezTo>
                      <a:pt x="1306" y="272969"/>
                      <a:pt x="0" y="269815"/>
                      <a:pt x="0" y="266527"/>
                    </a:cubicBezTo>
                    <a:lnTo>
                      <a:pt x="0" y="12400"/>
                    </a:lnTo>
                    <a:cubicBezTo>
                      <a:pt x="0" y="9111"/>
                      <a:pt x="1306" y="5957"/>
                      <a:pt x="3632" y="3632"/>
                    </a:cubicBezTo>
                    <a:cubicBezTo>
                      <a:pt x="5957" y="1306"/>
                      <a:pt x="9111" y="0"/>
                      <a:pt x="12400" y="0"/>
                    </a:cubicBezTo>
                    <a:close/>
                  </a:path>
                </a:pathLst>
              </a:custGeom>
              <a:solidFill>
                <a:srgbClr val="360185"/>
              </a:solidFill>
            </p:spPr>
          </p:sp>
          <p:sp>
            <p:nvSpPr>
              <p:cNvPr id="38" name="TextBox 38"/>
              <p:cNvSpPr txBox="1"/>
              <p:nvPr/>
            </p:nvSpPr>
            <p:spPr>
              <a:xfrm>
                <a:off x="0" y="-47625"/>
                <a:ext cx="2795491" cy="326551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640"/>
                  </a:lnSpc>
                </a:pPr>
              </a:p>
            </p:txBody>
          </p:sp>
        </p:grpSp>
        <p:grpSp>
          <p:nvGrpSpPr>
            <p:cNvPr id="39" name="Group 39"/>
            <p:cNvGrpSpPr/>
            <p:nvPr/>
          </p:nvGrpSpPr>
          <p:grpSpPr>
            <a:xfrm>
              <a:off x="0" y="0"/>
              <a:ext cx="3493992" cy="1412065"/>
              <a:chOff x="0" y="0"/>
              <a:chExt cx="690171" cy="278926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0" y="0"/>
                <a:ext cx="690171" cy="278926"/>
              </a:xfrm>
              <a:custGeom>
                <a:avLst/>
                <a:gdLst/>
                <a:ahLst/>
                <a:cxnLst/>
                <a:rect l="l" t="t" r="r" b="b"/>
                <a:pathLst>
                  <a:path w="690171" h="278926">
                    <a:moveTo>
                      <a:pt x="0" y="0"/>
                    </a:moveTo>
                    <a:lnTo>
                      <a:pt x="486971" y="0"/>
                    </a:lnTo>
                    <a:lnTo>
                      <a:pt x="690171" y="139463"/>
                    </a:lnTo>
                    <a:lnTo>
                      <a:pt x="486971" y="278926"/>
                    </a:lnTo>
                    <a:lnTo>
                      <a:pt x="0" y="278926"/>
                    </a:lnTo>
                    <a:lnTo>
                      <a:pt x="203200" y="13946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B342"/>
              </a:solidFill>
            </p:spPr>
          </p:sp>
          <p:sp>
            <p:nvSpPr>
              <p:cNvPr id="41" name="TextBox 41"/>
              <p:cNvSpPr txBox="1"/>
              <p:nvPr/>
            </p:nvSpPr>
            <p:spPr>
              <a:xfrm>
                <a:off x="177800" y="-47625"/>
                <a:ext cx="436171" cy="326551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640"/>
                  </a:lnSpc>
                </a:pPr>
              </a:p>
            </p:txBody>
          </p:sp>
        </p:grpSp>
      </p:grpSp>
      <p:sp>
        <p:nvSpPr>
          <p:cNvPr id="42" name="TextBox 42"/>
          <p:cNvSpPr txBox="1"/>
          <p:nvPr/>
        </p:nvSpPr>
        <p:spPr>
          <a:xfrm>
            <a:off x="5270810" y="6990482"/>
            <a:ext cx="7683190" cy="64389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600"/>
              </a:lnSpc>
              <a:spcBef>
                <a:spcPct val="0"/>
              </a:spcBef>
            </a:pPr>
            <a:r>
              <a:rPr lang="en-US" sz="40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Kết</a:t>
            </a:r>
            <a:r>
              <a:rPr lang="en-US" sz="4000" b="1" dirty="0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40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luận</a:t>
            </a:r>
            <a:r>
              <a:rPr lang="en-US" sz="4000" b="1" dirty="0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40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và</a:t>
            </a:r>
            <a:r>
              <a:rPr lang="en-US" sz="4000" b="1" dirty="0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40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hướng</a:t>
            </a:r>
            <a:r>
              <a:rPr lang="en-US" sz="4000" b="1" dirty="0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40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phát</a:t>
            </a:r>
            <a:r>
              <a:rPr lang="en-US" sz="4000" b="1" dirty="0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40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triển</a:t>
            </a:r>
            <a:endParaRPr lang="en-US" sz="4000" b="1" dirty="0">
              <a:solidFill>
                <a:srgbClr val="FDF9E8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43" name="TextBox 43"/>
          <p:cNvSpPr txBox="1"/>
          <p:nvPr/>
        </p:nvSpPr>
        <p:spPr>
          <a:xfrm>
            <a:off x="3031861" y="5521612"/>
            <a:ext cx="323493" cy="669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600"/>
              </a:lnSpc>
              <a:spcBef>
                <a:spcPct val="0"/>
              </a:spcBef>
            </a:pPr>
            <a:r>
              <a:rPr lang="en-US" sz="4000" b="1">
                <a:solidFill>
                  <a:srgbClr val="360185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3</a:t>
            </a:r>
            <a:endParaRPr lang="en-US" sz="4000" b="1">
              <a:solidFill>
                <a:srgbClr val="360185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44" name="TextBox 44"/>
          <p:cNvSpPr txBox="1"/>
          <p:nvPr/>
        </p:nvSpPr>
        <p:spPr>
          <a:xfrm>
            <a:off x="3031861" y="6990482"/>
            <a:ext cx="323493" cy="669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600"/>
              </a:lnSpc>
              <a:spcBef>
                <a:spcPct val="0"/>
              </a:spcBef>
            </a:pPr>
            <a:r>
              <a:rPr lang="en-US" sz="4000" b="1">
                <a:solidFill>
                  <a:srgbClr val="360185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4</a:t>
            </a:r>
            <a:endParaRPr lang="en-US" sz="4000" b="1">
              <a:solidFill>
                <a:srgbClr val="360185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256807"/>
            <a:chOff x="0" y="0"/>
            <a:chExt cx="4816593" cy="33101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331011"/>
            </a:xfrm>
            <a:custGeom>
              <a:avLst/>
              <a:gdLst/>
              <a:ahLst/>
              <a:cxnLst/>
              <a:rect l="l" t="t" r="r" b="b"/>
              <a:pathLst>
                <a:path w="4816592" h="331011">
                  <a:moveTo>
                    <a:pt x="0" y="0"/>
                  </a:moveTo>
                  <a:lnTo>
                    <a:pt x="4816592" y="0"/>
                  </a:lnTo>
                  <a:lnTo>
                    <a:pt x="4816592" y="331011"/>
                  </a:lnTo>
                  <a:lnTo>
                    <a:pt x="0" y="331011"/>
                  </a:ln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816593" cy="3786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5403533" y="75565"/>
            <a:ext cx="6559153" cy="953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sz="5600" b="1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1. Giới thiệu đề tài</a:t>
            </a:r>
            <a:endParaRPr lang="en-US" sz="5600" b="1">
              <a:solidFill>
                <a:srgbClr val="F4B342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789069" y="1697430"/>
            <a:ext cx="4316530" cy="6699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600"/>
              </a:lnSpc>
              <a:spcBef>
                <a:spcPct val="0"/>
              </a:spcBef>
            </a:pPr>
            <a:r>
              <a:rPr lang="en-US" sz="4000" b="1">
                <a:solidFill>
                  <a:srgbClr val="360185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Bối cảnh thực tế</a:t>
            </a:r>
            <a:endParaRPr lang="en-US" sz="4000" b="1">
              <a:solidFill>
                <a:srgbClr val="360185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grpSp>
        <p:nvGrpSpPr>
          <p:cNvPr id="7" name="Group 7"/>
          <p:cNvGrpSpPr/>
          <p:nvPr/>
        </p:nvGrpSpPr>
        <p:grpSpPr>
          <a:xfrm>
            <a:off x="564372" y="8279820"/>
            <a:ext cx="17159256" cy="1356418"/>
            <a:chOff x="0" y="0"/>
            <a:chExt cx="4519310" cy="357246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4519310" cy="357246"/>
            </a:xfrm>
            <a:custGeom>
              <a:avLst/>
              <a:gdLst/>
              <a:ahLst/>
              <a:cxnLst/>
              <a:rect l="l" t="t" r="r" b="b"/>
              <a:pathLst>
                <a:path w="4519310" h="357246">
                  <a:moveTo>
                    <a:pt x="7670" y="0"/>
                  </a:moveTo>
                  <a:lnTo>
                    <a:pt x="4511640" y="0"/>
                  </a:lnTo>
                  <a:cubicBezTo>
                    <a:pt x="4515876" y="0"/>
                    <a:pt x="4519310" y="3434"/>
                    <a:pt x="4519310" y="7670"/>
                  </a:cubicBezTo>
                  <a:lnTo>
                    <a:pt x="4519310" y="349576"/>
                  </a:lnTo>
                  <a:cubicBezTo>
                    <a:pt x="4519310" y="353812"/>
                    <a:pt x="4515876" y="357246"/>
                    <a:pt x="4511640" y="357246"/>
                  </a:cubicBezTo>
                  <a:lnTo>
                    <a:pt x="7670" y="357246"/>
                  </a:lnTo>
                  <a:cubicBezTo>
                    <a:pt x="3434" y="357246"/>
                    <a:pt x="0" y="353812"/>
                    <a:pt x="0" y="349576"/>
                  </a:cubicBezTo>
                  <a:lnTo>
                    <a:pt x="0" y="7670"/>
                  </a:lnTo>
                  <a:cubicBezTo>
                    <a:pt x="0" y="3434"/>
                    <a:pt x="3434" y="0"/>
                    <a:pt x="7670" y="0"/>
                  </a:cubicBez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47625"/>
              <a:ext cx="4519310" cy="4048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937876" y="8431614"/>
            <a:ext cx="16483206" cy="9861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20"/>
              </a:lnSpc>
              <a:spcBef>
                <a:spcPct val="0"/>
              </a:spcBef>
            </a:pPr>
            <a:r>
              <a:rPr lang="en-US" sz="2800" b="1" dirty="0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=&gt; </a:t>
            </a:r>
            <a:r>
              <a:rPr lang="en-US" sz="28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Nhu</a:t>
            </a:r>
            <a:r>
              <a:rPr lang="en-US" sz="2800" b="1" dirty="0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cầu</a:t>
            </a:r>
            <a:r>
              <a:rPr lang="en-US" sz="2800" b="1" dirty="0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cấp</a:t>
            </a:r>
            <a:r>
              <a:rPr lang="en-US" sz="2800" b="1" dirty="0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thiết</a:t>
            </a:r>
            <a:r>
              <a:rPr lang="en-US" sz="2800" b="1" dirty="0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về</a:t>
            </a:r>
            <a:r>
              <a:rPr lang="en-US" sz="2800" b="1" dirty="0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một</a:t>
            </a:r>
            <a:r>
              <a:rPr lang="en-US" sz="2800" b="1" dirty="0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công</a:t>
            </a:r>
            <a:r>
              <a:rPr lang="en-US" sz="2800" b="1" dirty="0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cụ</a:t>
            </a:r>
            <a:r>
              <a:rPr lang="en-US" sz="2800" b="1" dirty="0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học</a:t>
            </a:r>
            <a:r>
              <a:rPr lang="en-US" sz="2800" b="1" dirty="0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tập</a:t>
            </a:r>
            <a:r>
              <a:rPr lang="en-US" sz="2800" b="1" dirty="0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hiệu</a:t>
            </a:r>
            <a:r>
              <a:rPr lang="en-US" sz="2800" b="1" dirty="0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quả</a:t>
            </a:r>
            <a:r>
              <a:rPr lang="en-US" sz="2800" b="1" dirty="0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và</a:t>
            </a:r>
            <a:r>
              <a:rPr lang="en-US" sz="2800" b="1" dirty="0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linh</a:t>
            </a:r>
            <a:r>
              <a:rPr lang="en-US" sz="2800" b="1" dirty="0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hoạt</a:t>
            </a:r>
            <a:r>
              <a:rPr lang="en-US" sz="2800" b="1" dirty="0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để</a:t>
            </a:r>
            <a:r>
              <a:rPr lang="en-US" sz="2800" b="1" dirty="0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hỗ</a:t>
            </a:r>
            <a:r>
              <a:rPr lang="en-US" sz="2800" b="1" dirty="0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trợ</a:t>
            </a:r>
            <a:r>
              <a:rPr lang="en-US" sz="2800" b="1" dirty="0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sinh</a:t>
            </a:r>
            <a:r>
              <a:rPr lang="en-US" sz="2800" b="1" dirty="0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viên</a:t>
            </a:r>
            <a:r>
              <a:rPr lang="en-US" sz="2800" b="1" dirty="0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ngoài</a:t>
            </a:r>
            <a:r>
              <a:rPr lang="en-US" sz="2800" b="1" dirty="0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endParaRPr lang="en-US" sz="2800" b="1" dirty="0">
              <a:solidFill>
                <a:srgbClr val="FDF9E8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  <a:p>
            <a:pPr algn="l">
              <a:lnSpc>
                <a:spcPts val="3920"/>
              </a:lnSpc>
              <a:spcBef>
                <a:spcPct val="0"/>
              </a:spcBef>
            </a:pPr>
            <a:r>
              <a:rPr lang="en-US" sz="28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giờ</a:t>
            </a:r>
            <a:r>
              <a:rPr lang="en-US" sz="2800" b="1" dirty="0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học</a:t>
            </a:r>
            <a:r>
              <a:rPr lang="en-US" sz="2800" b="1" dirty="0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chính</a:t>
            </a:r>
            <a:r>
              <a:rPr lang="en-US" sz="2800" b="1" dirty="0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khóa</a:t>
            </a:r>
            <a:endParaRPr lang="en-US" sz="2800" b="1" dirty="0">
              <a:solidFill>
                <a:srgbClr val="FDF9E8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937876" y="2478171"/>
            <a:ext cx="11024810" cy="9861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20"/>
              </a:lnSpc>
              <a:spcBef>
                <a:spcPct val="0"/>
              </a:spcBef>
            </a:pPr>
            <a:r>
              <a:rPr lang="en-US" sz="28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Sinh viên ngành Công nghệ thông tin phải tiếp cần với khối lượng kiến thức lớn, trong khi thời lượng học trên lớp có hạn</a:t>
            </a:r>
            <a:endParaRPr lang="en-US" sz="2800" b="1">
              <a:solidFill>
                <a:srgbClr val="000000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789069" y="3591326"/>
            <a:ext cx="4727235" cy="6699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600"/>
              </a:lnSpc>
              <a:spcBef>
                <a:spcPct val="0"/>
              </a:spcBef>
            </a:pPr>
            <a:r>
              <a:rPr lang="en-US" sz="4000" b="1">
                <a:solidFill>
                  <a:srgbClr val="360185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Những thách thức</a:t>
            </a:r>
            <a:endParaRPr lang="en-US" sz="4000" b="1">
              <a:solidFill>
                <a:srgbClr val="360185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937876" y="4394602"/>
            <a:ext cx="11428041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l">
              <a:lnSpc>
                <a:spcPts val="4200"/>
              </a:lnSpc>
              <a:buFont typeface="Arial" panose="020B0604020202020204"/>
              <a:buChar char="•"/>
            </a:pPr>
            <a:r>
              <a:rPr lang="en-US" sz="30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Thời lượng trên lớp có hạn: </a:t>
            </a:r>
            <a:r>
              <a:rPr lang="en-US" sz="300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khó nắm vững toàn bộ nội dung ngay tại buổi học</a:t>
            </a:r>
            <a:endParaRPr lang="en-US" sz="300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937876" y="5617730"/>
            <a:ext cx="11428041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just">
              <a:lnSpc>
                <a:spcPts val="4200"/>
              </a:lnSpc>
              <a:buFont typeface="Arial" panose="020B0604020202020204"/>
              <a:buChar char="•"/>
            </a:pPr>
            <a:r>
              <a:rPr lang="en-US" sz="30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Khó</a:t>
            </a:r>
            <a:r>
              <a:rPr lang="en-US" sz="30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30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khăn</a:t>
            </a:r>
            <a:r>
              <a:rPr lang="en-US" sz="30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30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trong</a:t>
            </a:r>
            <a:r>
              <a:rPr lang="en-US" sz="30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30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việc</a:t>
            </a:r>
            <a:r>
              <a:rPr lang="en-US" sz="30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30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ôn</a:t>
            </a:r>
            <a:r>
              <a:rPr lang="en-US" sz="30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30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tập</a:t>
            </a:r>
            <a:r>
              <a:rPr lang="en-US" sz="30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: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Việc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xem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lại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bài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giảng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,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ôn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tập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trước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kỳ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thi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gặp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nhiều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khó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khăn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khi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chỉ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dựa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vào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tài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liệu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rời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rạc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endParaRPr lang="en-US" sz="3000" dirty="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937876" y="6840858"/>
            <a:ext cx="11428041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l">
              <a:lnSpc>
                <a:spcPts val="4200"/>
              </a:lnSpc>
              <a:buFont typeface="Arial" panose="020B0604020202020204"/>
              <a:buChar char="•"/>
            </a:pPr>
            <a:r>
              <a:rPr lang="en-US" sz="30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Khối lượng kiến thức lớn: </a:t>
            </a:r>
            <a:r>
              <a:rPr lang="en-US" sz="300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Các môn chuyên ngành đòi hỏi sinh viên phải tiếp cận với lượng kiến thức khổng lồ</a:t>
            </a:r>
            <a:r>
              <a:rPr lang="en-US" sz="30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endParaRPr lang="en-US" sz="3000" b="1">
              <a:solidFill>
                <a:srgbClr val="000000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16" name="Freeform 16"/>
          <p:cNvSpPr/>
          <p:nvPr/>
        </p:nvSpPr>
        <p:spPr>
          <a:xfrm>
            <a:off x="14329501" y="6646430"/>
            <a:ext cx="1367271" cy="1292692"/>
          </a:xfrm>
          <a:custGeom>
            <a:avLst/>
            <a:gdLst/>
            <a:ahLst/>
            <a:cxnLst/>
            <a:rect l="l" t="t" r="r" b="b"/>
            <a:pathLst>
              <a:path w="1367271" h="1292692">
                <a:moveTo>
                  <a:pt x="0" y="0"/>
                </a:moveTo>
                <a:lnTo>
                  <a:pt x="1367271" y="0"/>
                </a:lnTo>
                <a:lnTo>
                  <a:pt x="1367271" y="1292693"/>
                </a:lnTo>
                <a:lnTo>
                  <a:pt x="0" y="1292693"/>
                </a:lnTo>
                <a:lnTo>
                  <a:pt x="0" y="0"/>
                </a:lnTo>
                <a:close/>
              </a:path>
            </a:pathLst>
          </a:custGeom>
          <a:blipFill>
            <a:blip r:embed="rId1"/>
            <a:stretch>
              <a:fillRect/>
            </a:stretch>
          </a:blipFill>
        </p:spPr>
      </p:sp>
      <p:sp>
        <p:nvSpPr>
          <p:cNvPr id="17" name="Freeform 17"/>
          <p:cNvSpPr/>
          <p:nvPr/>
        </p:nvSpPr>
        <p:spPr>
          <a:xfrm>
            <a:off x="13915686" y="3434375"/>
            <a:ext cx="1629699" cy="1653753"/>
          </a:xfrm>
          <a:custGeom>
            <a:avLst/>
            <a:gdLst/>
            <a:ahLst/>
            <a:cxnLst/>
            <a:rect l="l" t="t" r="r" b="b"/>
            <a:pathLst>
              <a:path w="1629699" h="1653753">
                <a:moveTo>
                  <a:pt x="0" y="0"/>
                </a:moveTo>
                <a:lnTo>
                  <a:pt x="1629699" y="0"/>
                </a:lnTo>
                <a:lnTo>
                  <a:pt x="1629699" y="1653753"/>
                </a:lnTo>
                <a:lnTo>
                  <a:pt x="0" y="165375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8" name="Freeform 18"/>
          <p:cNvSpPr/>
          <p:nvPr/>
        </p:nvSpPr>
        <p:spPr>
          <a:xfrm>
            <a:off x="15810366" y="5143500"/>
            <a:ext cx="1610716" cy="1347144"/>
          </a:xfrm>
          <a:custGeom>
            <a:avLst/>
            <a:gdLst/>
            <a:ahLst/>
            <a:cxnLst/>
            <a:rect l="l" t="t" r="r" b="b"/>
            <a:pathLst>
              <a:path w="1610716" h="1347144">
                <a:moveTo>
                  <a:pt x="0" y="0"/>
                </a:moveTo>
                <a:lnTo>
                  <a:pt x="1610716" y="0"/>
                </a:lnTo>
                <a:lnTo>
                  <a:pt x="1610716" y="1347144"/>
                </a:lnTo>
                <a:lnTo>
                  <a:pt x="0" y="134714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256807"/>
            <a:chOff x="0" y="0"/>
            <a:chExt cx="4816593" cy="33101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331011"/>
            </a:xfrm>
            <a:custGeom>
              <a:avLst/>
              <a:gdLst/>
              <a:ahLst/>
              <a:cxnLst/>
              <a:rect l="l" t="t" r="r" b="b"/>
              <a:pathLst>
                <a:path w="4816592" h="331011">
                  <a:moveTo>
                    <a:pt x="0" y="0"/>
                  </a:moveTo>
                  <a:lnTo>
                    <a:pt x="4816592" y="0"/>
                  </a:lnTo>
                  <a:lnTo>
                    <a:pt x="4816592" y="331011"/>
                  </a:lnTo>
                  <a:lnTo>
                    <a:pt x="0" y="331011"/>
                  </a:ln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816593" cy="3786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</a:p>
          </p:txBody>
        </p:sp>
      </p:grpSp>
      <p:sp>
        <p:nvSpPr>
          <p:cNvPr id="5" name="Freeform 5"/>
          <p:cNvSpPr/>
          <p:nvPr/>
        </p:nvSpPr>
        <p:spPr>
          <a:xfrm>
            <a:off x="10531572" y="2685216"/>
            <a:ext cx="6977900" cy="5683816"/>
          </a:xfrm>
          <a:custGeom>
            <a:avLst/>
            <a:gdLst/>
            <a:ahLst/>
            <a:cxnLst/>
            <a:rect l="l" t="t" r="r" b="b"/>
            <a:pathLst>
              <a:path w="6977900" h="5683816">
                <a:moveTo>
                  <a:pt x="0" y="0"/>
                </a:moveTo>
                <a:lnTo>
                  <a:pt x="6977900" y="0"/>
                </a:lnTo>
                <a:lnTo>
                  <a:pt x="6977900" y="5683816"/>
                </a:lnTo>
                <a:lnTo>
                  <a:pt x="0" y="5683816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5403533" y="75565"/>
            <a:ext cx="6559153" cy="953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sz="5600" b="1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1. Giới thiệu đề tài</a:t>
            </a:r>
            <a:endParaRPr lang="en-US" sz="5600" b="1">
              <a:solidFill>
                <a:srgbClr val="F4B342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789069" y="1697430"/>
            <a:ext cx="4316530" cy="6699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600"/>
              </a:lnSpc>
              <a:spcBef>
                <a:spcPct val="0"/>
              </a:spcBef>
            </a:pPr>
            <a:r>
              <a:rPr lang="en-US" sz="4000" b="1">
                <a:solidFill>
                  <a:srgbClr val="360185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Giải pháp </a:t>
            </a:r>
            <a:endParaRPr lang="en-US" sz="4000" b="1">
              <a:solidFill>
                <a:srgbClr val="360185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028700" y="2542492"/>
            <a:ext cx="8904312" cy="14814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20"/>
              </a:lnSpc>
              <a:spcBef>
                <a:spcPct val="0"/>
              </a:spcBef>
            </a:pPr>
            <a:r>
              <a:rPr lang="en-US" sz="28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Xây</a:t>
            </a:r>
            <a:r>
              <a:rPr lang="en-US" sz="28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dựng</a:t>
            </a:r>
            <a:r>
              <a:rPr lang="en-US" sz="28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một</a:t>
            </a:r>
            <a:r>
              <a:rPr lang="en-US" sz="28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hệ</a:t>
            </a:r>
            <a:r>
              <a:rPr lang="en-US" sz="28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thống</a:t>
            </a:r>
            <a:r>
              <a:rPr lang="en-US" sz="28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học</a:t>
            </a:r>
            <a:r>
              <a:rPr lang="en-US" sz="28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tập</a:t>
            </a:r>
            <a:r>
              <a:rPr lang="en-US" sz="28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trực</a:t>
            </a:r>
            <a:r>
              <a:rPr lang="en-US" sz="28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tuyến</a:t>
            </a:r>
            <a:r>
              <a:rPr lang="en-US" sz="28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được</a:t>
            </a:r>
            <a:r>
              <a:rPr lang="en-US" sz="28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thiết</a:t>
            </a:r>
            <a:r>
              <a:rPr lang="en-US" sz="28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kế</a:t>
            </a:r>
            <a:r>
              <a:rPr lang="en-US" sz="28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riêng</a:t>
            </a:r>
            <a:r>
              <a:rPr lang="en-US" sz="28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cho</a:t>
            </a:r>
            <a:r>
              <a:rPr lang="en-US" sz="28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sinh</a:t>
            </a:r>
            <a:r>
              <a:rPr lang="en-US" sz="28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viên</a:t>
            </a:r>
            <a:r>
              <a:rPr lang="en-US" sz="28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Công</a:t>
            </a:r>
            <a:r>
              <a:rPr lang="en-US" sz="28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nghệ</a:t>
            </a:r>
            <a:r>
              <a:rPr lang="en-US" sz="28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Thông</a:t>
            </a:r>
            <a:r>
              <a:rPr lang="en-US" sz="28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tin </a:t>
            </a:r>
            <a:r>
              <a:rPr lang="en-US" sz="28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Trường</a:t>
            </a:r>
            <a:r>
              <a:rPr lang="en-US" sz="28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Đại</a:t>
            </a:r>
            <a:r>
              <a:rPr lang="en-US" sz="28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học</a:t>
            </a:r>
            <a:r>
              <a:rPr lang="en-US" sz="28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Trà</a:t>
            </a:r>
            <a:r>
              <a:rPr lang="en-US" sz="28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Vinh</a:t>
            </a:r>
            <a:endParaRPr lang="en-US" sz="2800" b="1" dirty="0">
              <a:solidFill>
                <a:srgbClr val="000000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789069" y="4195397"/>
            <a:ext cx="5172169" cy="6699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600"/>
              </a:lnSpc>
              <a:spcBef>
                <a:spcPct val="0"/>
              </a:spcBef>
            </a:pPr>
            <a:r>
              <a:rPr lang="en-US" sz="4000" b="1">
                <a:solidFill>
                  <a:srgbClr val="360185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Mục tiêu của đề tài</a:t>
            </a:r>
            <a:endParaRPr lang="en-US" sz="4000" b="1">
              <a:solidFill>
                <a:srgbClr val="360185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789069" y="6549757"/>
            <a:ext cx="8990130" cy="1047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l">
              <a:lnSpc>
                <a:spcPts val="4200"/>
              </a:lnSpc>
              <a:buFont typeface="Arial" panose="020B0604020202020204"/>
              <a:buChar char="•"/>
            </a:pPr>
            <a:r>
              <a:rPr lang="en-US" sz="30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Tăng</a:t>
            </a:r>
            <a:r>
              <a:rPr lang="en-US" sz="30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30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tính</a:t>
            </a:r>
            <a:r>
              <a:rPr lang="en-US" sz="30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30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chủ</a:t>
            </a:r>
            <a:r>
              <a:rPr lang="en-US" sz="30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30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động</a:t>
            </a:r>
            <a:r>
              <a:rPr lang="en-US" sz="30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: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giúp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sinh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viên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không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bị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hạn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chế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thời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gian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học</a:t>
            </a:r>
            <a:endParaRPr lang="en-US" sz="3000" dirty="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789069" y="5285228"/>
            <a:ext cx="8990130" cy="1047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l">
              <a:lnSpc>
                <a:spcPts val="4200"/>
              </a:lnSpc>
              <a:buFont typeface="Arial" panose="020B0604020202020204"/>
              <a:buChar char="•"/>
            </a:pPr>
            <a:r>
              <a:rPr lang="en-US" sz="30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Hỗ</a:t>
            </a:r>
            <a:r>
              <a:rPr lang="en-US" sz="30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30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trợ</a:t>
            </a:r>
            <a:r>
              <a:rPr lang="en-US" sz="30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30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sinh</a:t>
            </a:r>
            <a:r>
              <a:rPr lang="en-US" sz="30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30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viên</a:t>
            </a:r>
            <a:r>
              <a:rPr lang="en-US" sz="30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30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học</a:t>
            </a:r>
            <a:r>
              <a:rPr lang="en-US" sz="30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30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tập</a:t>
            </a:r>
            <a:r>
              <a:rPr lang="en-US" sz="30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: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cung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cấp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môi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trường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để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sinh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viên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ôn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tập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kiến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thức</a:t>
            </a:r>
            <a:endParaRPr lang="en-US" sz="3000" dirty="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789069" y="7816582"/>
            <a:ext cx="8990130" cy="1047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l">
              <a:lnSpc>
                <a:spcPts val="4200"/>
              </a:lnSpc>
              <a:buFont typeface="Arial" panose="020B0604020202020204"/>
              <a:buChar char="•"/>
            </a:pPr>
            <a:r>
              <a:rPr lang="en-US" sz="30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Hỗ trợ giảng viên: </a:t>
            </a:r>
            <a:r>
              <a:rPr lang="en-US" sz="300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dễ dàng chia sẽ bài giảng, tài liệu, bài kiểm tra,...</a:t>
            </a:r>
            <a:endParaRPr lang="en-US" sz="300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</p:txBody>
      </p:sp>
      <p:sp>
        <p:nvSpPr>
          <p:cNvPr id="14" name="Freeform 7"/>
          <p:cNvSpPr/>
          <p:nvPr/>
        </p:nvSpPr>
        <p:spPr>
          <a:xfrm>
            <a:off x="10628036" y="3200699"/>
            <a:ext cx="6784971" cy="3868170"/>
          </a:xfrm>
          <a:custGeom>
            <a:avLst/>
            <a:gdLst/>
            <a:ahLst/>
            <a:cxnLst/>
            <a:rect l="l" t="t" r="r" b="b"/>
            <a:pathLst>
              <a:path w="5895340" h="3041650">
                <a:moveTo>
                  <a:pt x="5768340" y="3041650"/>
                </a:moveTo>
                <a:lnTo>
                  <a:pt x="127000" y="3041650"/>
                </a:lnTo>
                <a:cubicBezTo>
                  <a:pt x="57150" y="3041650"/>
                  <a:pt x="0" y="2984500"/>
                  <a:pt x="0" y="2914650"/>
                </a:cubicBezTo>
                <a:lnTo>
                  <a:pt x="0" y="0"/>
                </a:lnTo>
                <a:lnTo>
                  <a:pt x="5895340" y="0"/>
                </a:lnTo>
                <a:lnTo>
                  <a:pt x="5895340" y="2914650"/>
                </a:lnTo>
                <a:cubicBezTo>
                  <a:pt x="5895340" y="2985770"/>
                  <a:pt x="5838190" y="3041650"/>
                  <a:pt x="5768340" y="3041650"/>
                </a:cubicBezTo>
                <a:close/>
              </a:path>
            </a:pathLst>
          </a:custGeom>
          <a:blipFill>
            <a:blip r:embed="rId3"/>
            <a:stretch>
              <a:fillRect t="-2716" b="-59959"/>
            </a:stretch>
          </a:blipFill>
        </p:spPr>
        <p:txBody>
          <a:bodyPr/>
          <a:lstStyle/>
          <a:p>
            <a:endParaRPr lang="vi-VN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256807"/>
            <a:chOff x="0" y="0"/>
            <a:chExt cx="4816593" cy="33101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331011"/>
            </a:xfrm>
            <a:custGeom>
              <a:avLst/>
              <a:gdLst/>
              <a:ahLst/>
              <a:cxnLst/>
              <a:rect l="l" t="t" r="r" b="b"/>
              <a:pathLst>
                <a:path w="4816592" h="331011">
                  <a:moveTo>
                    <a:pt x="0" y="0"/>
                  </a:moveTo>
                  <a:lnTo>
                    <a:pt x="4816592" y="0"/>
                  </a:lnTo>
                  <a:lnTo>
                    <a:pt x="4816592" y="331011"/>
                  </a:lnTo>
                  <a:lnTo>
                    <a:pt x="0" y="331011"/>
                  </a:ln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816593" cy="3786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028700" y="4065471"/>
            <a:ext cx="3458117" cy="4821716"/>
            <a:chOff x="0" y="0"/>
            <a:chExt cx="910780" cy="126991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910780" cy="1269917"/>
            </a:xfrm>
            <a:custGeom>
              <a:avLst/>
              <a:gdLst/>
              <a:ahLst/>
              <a:cxnLst/>
              <a:rect l="l" t="t" r="r" b="b"/>
              <a:pathLst>
                <a:path w="910780" h="1269917">
                  <a:moveTo>
                    <a:pt x="38059" y="0"/>
                  </a:moveTo>
                  <a:lnTo>
                    <a:pt x="872721" y="0"/>
                  </a:lnTo>
                  <a:cubicBezTo>
                    <a:pt x="882815" y="0"/>
                    <a:pt x="892495" y="4010"/>
                    <a:pt x="899633" y="11147"/>
                  </a:cubicBezTo>
                  <a:cubicBezTo>
                    <a:pt x="906770" y="18285"/>
                    <a:pt x="910780" y="27965"/>
                    <a:pt x="910780" y="38059"/>
                  </a:cubicBezTo>
                  <a:lnTo>
                    <a:pt x="910780" y="1231858"/>
                  </a:lnTo>
                  <a:cubicBezTo>
                    <a:pt x="910780" y="1241952"/>
                    <a:pt x="906770" y="1251632"/>
                    <a:pt x="899633" y="1258770"/>
                  </a:cubicBezTo>
                  <a:cubicBezTo>
                    <a:pt x="892495" y="1265907"/>
                    <a:pt x="882815" y="1269917"/>
                    <a:pt x="872721" y="1269917"/>
                  </a:cubicBezTo>
                  <a:lnTo>
                    <a:pt x="38059" y="1269917"/>
                  </a:lnTo>
                  <a:cubicBezTo>
                    <a:pt x="27965" y="1269917"/>
                    <a:pt x="18285" y="1265907"/>
                    <a:pt x="11147" y="1258770"/>
                  </a:cubicBezTo>
                  <a:cubicBezTo>
                    <a:pt x="4010" y="1251632"/>
                    <a:pt x="0" y="1241952"/>
                    <a:pt x="0" y="1231858"/>
                  </a:cubicBezTo>
                  <a:lnTo>
                    <a:pt x="0" y="38059"/>
                  </a:lnTo>
                  <a:cubicBezTo>
                    <a:pt x="0" y="27965"/>
                    <a:pt x="4010" y="18285"/>
                    <a:pt x="11147" y="11147"/>
                  </a:cubicBezTo>
                  <a:cubicBezTo>
                    <a:pt x="18285" y="4010"/>
                    <a:pt x="27965" y="0"/>
                    <a:pt x="38059" y="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910780" cy="131754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640"/>
                </a:lnSpc>
                <a:spcBef>
                  <a:spcPct val="0"/>
                </a:spcBef>
              </a:pP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214709" y="4358550"/>
            <a:ext cx="3086100" cy="1133010"/>
            <a:chOff x="0" y="0"/>
            <a:chExt cx="812800" cy="29840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298406"/>
            </a:xfrm>
            <a:custGeom>
              <a:avLst/>
              <a:gdLst/>
              <a:ahLst/>
              <a:cxnLst/>
              <a:rect l="l" t="t" r="r" b="b"/>
              <a:pathLst>
                <a:path w="812800" h="298406">
                  <a:moveTo>
                    <a:pt x="42647" y="0"/>
                  </a:moveTo>
                  <a:lnTo>
                    <a:pt x="770153" y="0"/>
                  </a:lnTo>
                  <a:cubicBezTo>
                    <a:pt x="781464" y="0"/>
                    <a:pt x="792311" y="4493"/>
                    <a:pt x="800309" y="12491"/>
                  </a:cubicBezTo>
                  <a:cubicBezTo>
                    <a:pt x="808307" y="20489"/>
                    <a:pt x="812800" y="31336"/>
                    <a:pt x="812800" y="42647"/>
                  </a:cubicBezTo>
                  <a:lnTo>
                    <a:pt x="812800" y="255759"/>
                  </a:lnTo>
                  <a:cubicBezTo>
                    <a:pt x="812800" y="279312"/>
                    <a:pt x="793706" y="298406"/>
                    <a:pt x="770153" y="298406"/>
                  </a:cubicBezTo>
                  <a:lnTo>
                    <a:pt x="42647" y="298406"/>
                  </a:lnTo>
                  <a:cubicBezTo>
                    <a:pt x="31336" y="298406"/>
                    <a:pt x="20489" y="293913"/>
                    <a:pt x="12491" y="285915"/>
                  </a:cubicBezTo>
                  <a:cubicBezTo>
                    <a:pt x="4493" y="277917"/>
                    <a:pt x="0" y="267070"/>
                    <a:pt x="0" y="255759"/>
                  </a:cubicBezTo>
                  <a:lnTo>
                    <a:pt x="0" y="42647"/>
                  </a:lnTo>
                  <a:cubicBezTo>
                    <a:pt x="0" y="31336"/>
                    <a:pt x="4493" y="20489"/>
                    <a:pt x="12491" y="12491"/>
                  </a:cubicBezTo>
                  <a:cubicBezTo>
                    <a:pt x="20489" y="4493"/>
                    <a:pt x="31336" y="0"/>
                    <a:pt x="42647" y="0"/>
                  </a:cubicBez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812800" cy="34603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  <a:r>
                <a:rPr lang="en-US" sz="2600" b="1">
                  <a:solidFill>
                    <a:srgbClr val="FDF9E8"/>
                  </a:solidFill>
                  <a:latin typeface="Tahoma Bold" panose="020B0804030504040204"/>
                  <a:ea typeface="Tahoma Bold" panose="020B0804030504040204"/>
                  <a:cs typeface="Tahoma Bold" panose="020B0804030504040204"/>
                  <a:sym typeface="Tahoma Bold" panose="020B0804030504040204"/>
                </a:rPr>
                <a:t>CLIENT</a:t>
              </a:r>
              <a:endParaRPr lang="en-US" sz="2600" b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endParaRPr>
            </a:p>
            <a:p>
              <a:pPr algn="ctr">
                <a:lnSpc>
                  <a:spcPts val="3640"/>
                </a:lnSpc>
              </a:pPr>
              <a:r>
                <a:rPr lang="en-US" sz="2600">
                  <a:solidFill>
                    <a:srgbClr val="FDF9E8"/>
                  </a:solidFill>
                  <a:latin typeface="Tahoma" panose="020B0604030504040204"/>
                  <a:ea typeface="Tahoma" panose="020B0604030504040204"/>
                  <a:cs typeface="Tahoma" panose="020B0604030504040204"/>
                  <a:sym typeface="Tahoma" panose="020B0604030504040204"/>
                </a:rPr>
                <a:t>(Frontend)</a:t>
              </a:r>
              <a:endParaRPr lang="en-US" sz="2600">
                <a:solidFill>
                  <a:srgbClr val="FDF9E8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endParaRP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3810483" y="4065471"/>
            <a:ext cx="3458117" cy="4782407"/>
            <a:chOff x="0" y="0"/>
            <a:chExt cx="910780" cy="1259564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10780" cy="1259564"/>
            </a:xfrm>
            <a:custGeom>
              <a:avLst/>
              <a:gdLst/>
              <a:ahLst/>
              <a:cxnLst/>
              <a:rect l="l" t="t" r="r" b="b"/>
              <a:pathLst>
                <a:path w="910780" h="1259564">
                  <a:moveTo>
                    <a:pt x="38059" y="0"/>
                  </a:moveTo>
                  <a:lnTo>
                    <a:pt x="872721" y="0"/>
                  </a:lnTo>
                  <a:cubicBezTo>
                    <a:pt x="882815" y="0"/>
                    <a:pt x="892495" y="4010"/>
                    <a:pt x="899633" y="11147"/>
                  </a:cubicBezTo>
                  <a:cubicBezTo>
                    <a:pt x="906770" y="18285"/>
                    <a:pt x="910780" y="27965"/>
                    <a:pt x="910780" y="38059"/>
                  </a:cubicBezTo>
                  <a:lnTo>
                    <a:pt x="910780" y="1221505"/>
                  </a:lnTo>
                  <a:cubicBezTo>
                    <a:pt x="910780" y="1231599"/>
                    <a:pt x="906770" y="1241279"/>
                    <a:pt x="899633" y="1248417"/>
                  </a:cubicBezTo>
                  <a:cubicBezTo>
                    <a:pt x="892495" y="1255554"/>
                    <a:pt x="882815" y="1259564"/>
                    <a:pt x="872721" y="1259564"/>
                  </a:cubicBezTo>
                  <a:lnTo>
                    <a:pt x="38059" y="1259564"/>
                  </a:lnTo>
                  <a:cubicBezTo>
                    <a:pt x="27965" y="1259564"/>
                    <a:pt x="18285" y="1255554"/>
                    <a:pt x="11147" y="1248417"/>
                  </a:cubicBezTo>
                  <a:cubicBezTo>
                    <a:pt x="4010" y="1241279"/>
                    <a:pt x="0" y="1231599"/>
                    <a:pt x="0" y="1221505"/>
                  </a:cubicBezTo>
                  <a:lnTo>
                    <a:pt x="0" y="38059"/>
                  </a:lnTo>
                  <a:cubicBezTo>
                    <a:pt x="0" y="27965"/>
                    <a:pt x="4010" y="18285"/>
                    <a:pt x="11147" y="11147"/>
                  </a:cubicBezTo>
                  <a:cubicBezTo>
                    <a:pt x="18285" y="4010"/>
                    <a:pt x="27965" y="0"/>
                    <a:pt x="38059" y="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910780" cy="13071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640"/>
                </a:lnSpc>
                <a:spcBef>
                  <a:spcPct val="0"/>
                </a:spcBef>
              </a:pP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3996492" y="4358550"/>
            <a:ext cx="3086100" cy="1133010"/>
            <a:chOff x="0" y="0"/>
            <a:chExt cx="812800" cy="298406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12800" cy="298406"/>
            </a:xfrm>
            <a:custGeom>
              <a:avLst/>
              <a:gdLst/>
              <a:ahLst/>
              <a:cxnLst/>
              <a:rect l="l" t="t" r="r" b="b"/>
              <a:pathLst>
                <a:path w="812800" h="298406">
                  <a:moveTo>
                    <a:pt x="42647" y="0"/>
                  </a:moveTo>
                  <a:lnTo>
                    <a:pt x="770153" y="0"/>
                  </a:lnTo>
                  <a:cubicBezTo>
                    <a:pt x="781464" y="0"/>
                    <a:pt x="792311" y="4493"/>
                    <a:pt x="800309" y="12491"/>
                  </a:cubicBezTo>
                  <a:cubicBezTo>
                    <a:pt x="808307" y="20489"/>
                    <a:pt x="812800" y="31336"/>
                    <a:pt x="812800" y="42647"/>
                  </a:cubicBezTo>
                  <a:lnTo>
                    <a:pt x="812800" y="255759"/>
                  </a:lnTo>
                  <a:cubicBezTo>
                    <a:pt x="812800" y="279312"/>
                    <a:pt x="793706" y="298406"/>
                    <a:pt x="770153" y="298406"/>
                  </a:cubicBezTo>
                  <a:lnTo>
                    <a:pt x="42647" y="298406"/>
                  </a:lnTo>
                  <a:cubicBezTo>
                    <a:pt x="31336" y="298406"/>
                    <a:pt x="20489" y="293913"/>
                    <a:pt x="12491" y="285915"/>
                  </a:cubicBezTo>
                  <a:cubicBezTo>
                    <a:pt x="4493" y="277917"/>
                    <a:pt x="0" y="267070"/>
                    <a:pt x="0" y="255759"/>
                  </a:cubicBezTo>
                  <a:lnTo>
                    <a:pt x="0" y="42647"/>
                  </a:lnTo>
                  <a:cubicBezTo>
                    <a:pt x="0" y="31336"/>
                    <a:pt x="4493" y="20489"/>
                    <a:pt x="12491" y="12491"/>
                  </a:cubicBezTo>
                  <a:cubicBezTo>
                    <a:pt x="20489" y="4493"/>
                    <a:pt x="31336" y="0"/>
                    <a:pt x="42647" y="0"/>
                  </a:cubicBez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-47625"/>
              <a:ext cx="812800" cy="34603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  <a:r>
                <a:rPr lang="en-US" sz="2600" b="1">
                  <a:solidFill>
                    <a:srgbClr val="FDF9E8"/>
                  </a:solidFill>
                  <a:latin typeface="Tahoma Bold" panose="020B0804030504040204"/>
                  <a:ea typeface="Tahoma Bold" panose="020B0804030504040204"/>
                  <a:cs typeface="Tahoma Bold" panose="020B0804030504040204"/>
                  <a:sym typeface="Tahoma Bold" panose="020B0804030504040204"/>
                </a:rPr>
                <a:t>DATABASE</a:t>
              </a:r>
              <a:endParaRPr lang="en-US" sz="2600" b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endParaRPr>
            </a:p>
          </p:txBody>
        </p:sp>
      </p:grpSp>
      <p:sp>
        <p:nvSpPr>
          <p:cNvPr id="17" name="Freeform 17"/>
          <p:cNvSpPr/>
          <p:nvPr/>
        </p:nvSpPr>
        <p:spPr>
          <a:xfrm>
            <a:off x="1326314" y="5806278"/>
            <a:ext cx="2107055" cy="735554"/>
          </a:xfrm>
          <a:custGeom>
            <a:avLst/>
            <a:gdLst/>
            <a:ahLst/>
            <a:cxnLst/>
            <a:rect l="l" t="t" r="r" b="b"/>
            <a:pathLst>
              <a:path w="2107055" h="735554">
                <a:moveTo>
                  <a:pt x="0" y="0"/>
                </a:moveTo>
                <a:lnTo>
                  <a:pt x="2107054" y="0"/>
                </a:lnTo>
                <a:lnTo>
                  <a:pt x="2107054" y="735554"/>
                </a:lnTo>
                <a:lnTo>
                  <a:pt x="0" y="735554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18" name="Freeform 18"/>
          <p:cNvSpPr/>
          <p:nvPr/>
        </p:nvSpPr>
        <p:spPr>
          <a:xfrm>
            <a:off x="1326314" y="6856550"/>
            <a:ext cx="2732484" cy="569966"/>
          </a:xfrm>
          <a:custGeom>
            <a:avLst/>
            <a:gdLst/>
            <a:ahLst/>
            <a:cxnLst/>
            <a:rect l="l" t="t" r="r" b="b"/>
            <a:pathLst>
              <a:path w="2732484" h="569966">
                <a:moveTo>
                  <a:pt x="0" y="0"/>
                </a:moveTo>
                <a:lnTo>
                  <a:pt x="2732484" y="0"/>
                </a:lnTo>
                <a:lnTo>
                  <a:pt x="2732484" y="569966"/>
                </a:lnTo>
                <a:lnTo>
                  <a:pt x="0" y="5699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7314" t="-219543" r="-4287" b="-215490"/>
            </a:stretch>
          </a:blipFill>
        </p:spPr>
      </p:sp>
      <p:sp>
        <p:nvSpPr>
          <p:cNvPr id="19" name="TextBox 19"/>
          <p:cNvSpPr txBox="1"/>
          <p:nvPr/>
        </p:nvSpPr>
        <p:spPr>
          <a:xfrm>
            <a:off x="8828505" y="3643171"/>
            <a:ext cx="9525" cy="15665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880"/>
              </a:lnSpc>
            </a:pPr>
          </a:p>
        </p:txBody>
      </p:sp>
      <p:grpSp>
        <p:nvGrpSpPr>
          <p:cNvPr id="20" name="Group 20"/>
          <p:cNvGrpSpPr/>
          <p:nvPr/>
        </p:nvGrpSpPr>
        <p:grpSpPr>
          <a:xfrm>
            <a:off x="7639244" y="4065471"/>
            <a:ext cx="3458117" cy="4821716"/>
            <a:chOff x="0" y="0"/>
            <a:chExt cx="910780" cy="1269917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910780" cy="1269917"/>
            </a:xfrm>
            <a:custGeom>
              <a:avLst/>
              <a:gdLst/>
              <a:ahLst/>
              <a:cxnLst/>
              <a:rect l="l" t="t" r="r" b="b"/>
              <a:pathLst>
                <a:path w="910780" h="1269917">
                  <a:moveTo>
                    <a:pt x="38059" y="0"/>
                  </a:moveTo>
                  <a:lnTo>
                    <a:pt x="872721" y="0"/>
                  </a:lnTo>
                  <a:cubicBezTo>
                    <a:pt x="882815" y="0"/>
                    <a:pt x="892495" y="4010"/>
                    <a:pt x="899633" y="11147"/>
                  </a:cubicBezTo>
                  <a:cubicBezTo>
                    <a:pt x="906770" y="18285"/>
                    <a:pt x="910780" y="27965"/>
                    <a:pt x="910780" y="38059"/>
                  </a:cubicBezTo>
                  <a:lnTo>
                    <a:pt x="910780" y="1231858"/>
                  </a:lnTo>
                  <a:cubicBezTo>
                    <a:pt x="910780" y="1241952"/>
                    <a:pt x="906770" y="1251632"/>
                    <a:pt x="899633" y="1258770"/>
                  </a:cubicBezTo>
                  <a:cubicBezTo>
                    <a:pt x="892495" y="1265907"/>
                    <a:pt x="882815" y="1269917"/>
                    <a:pt x="872721" y="1269917"/>
                  </a:cubicBezTo>
                  <a:lnTo>
                    <a:pt x="38059" y="1269917"/>
                  </a:lnTo>
                  <a:cubicBezTo>
                    <a:pt x="27965" y="1269917"/>
                    <a:pt x="18285" y="1265907"/>
                    <a:pt x="11147" y="1258770"/>
                  </a:cubicBezTo>
                  <a:cubicBezTo>
                    <a:pt x="4010" y="1251632"/>
                    <a:pt x="0" y="1241952"/>
                    <a:pt x="0" y="1231858"/>
                  </a:cubicBezTo>
                  <a:lnTo>
                    <a:pt x="0" y="38059"/>
                  </a:lnTo>
                  <a:cubicBezTo>
                    <a:pt x="0" y="27965"/>
                    <a:pt x="4010" y="18285"/>
                    <a:pt x="11147" y="11147"/>
                  </a:cubicBezTo>
                  <a:cubicBezTo>
                    <a:pt x="18285" y="4010"/>
                    <a:pt x="27965" y="0"/>
                    <a:pt x="38059" y="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0" y="-47625"/>
              <a:ext cx="910780" cy="131754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640"/>
                </a:lnSpc>
                <a:spcBef>
                  <a:spcPct val="0"/>
                </a:spcBef>
              </a:pP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7825252" y="4358550"/>
            <a:ext cx="3086100" cy="1133010"/>
            <a:chOff x="0" y="0"/>
            <a:chExt cx="812800" cy="298406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812800" cy="298406"/>
            </a:xfrm>
            <a:custGeom>
              <a:avLst/>
              <a:gdLst/>
              <a:ahLst/>
              <a:cxnLst/>
              <a:rect l="l" t="t" r="r" b="b"/>
              <a:pathLst>
                <a:path w="812800" h="298406">
                  <a:moveTo>
                    <a:pt x="42647" y="0"/>
                  </a:moveTo>
                  <a:lnTo>
                    <a:pt x="770153" y="0"/>
                  </a:lnTo>
                  <a:cubicBezTo>
                    <a:pt x="781464" y="0"/>
                    <a:pt x="792311" y="4493"/>
                    <a:pt x="800309" y="12491"/>
                  </a:cubicBezTo>
                  <a:cubicBezTo>
                    <a:pt x="808307" y="20489"/>
                    <a:pt x="812800" y="31336"/>
                    <a:pt x="812800" y="42647"/>
                  </a:cubicBezTo>
                  <a:lnTo>
                    <a:pt x="812800" y="255759"/>
                  </a:lnTo>
                  <a:cubicBezTo>
                    <a:pt x="812800" y="279312"/>
                    <a:pt x="793706" y="298406"/>
                    <a:pt x="770153" y="298406"/>
                  </a:cubicBezTo>
                  <a:lnTo>
                    <a:pt x="42647" y="298406"/>
                  </a:lnTo>
                  <a:cubicBezTo>
                    <a:pt x="31336" y="298406"/>
                    <a:pt x="20489" y="293913"/>
                    <a:pt x="12491" y="285915"/>
                  </a:cubicBezTo>
                  <a:cubicBezTo>
                    <a:pt x="4493" y="277917"/>
                    <a:pt x="0" y="267070"/>
                    <a:pt x="0" y="255759"/>
                  </a:cubicBezTo>
                  <a:lnTo>
                    <a:pt x="0" y="42647"/>
                  </a:lnTo>
                  <a:cubicBezTo>
                    <a:pt x="0" y="31336"/>
                    <a:pt x="4493" y="20489"/>
                    <a:pt x="12491" y="12491"/>
                  </a:cubicBezTo>
                  <a:cubicBezTo>
                    <a:pt x="20489" y="4493"/>
                    <a:pt x="31336" y="0"/>
                    <a:pt x="42647" y="0"/>
                  </a:cubicBez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id="25" name="TextBox 25"/>
            <p:cNvSpPr txBox="1"/>
            <p:nvPr/>
          </p:nvSpPr>
          <p:spPr>
            <a:xfrm>
              <a:off x="0" y="-47625"/>
              <a:ext cx="812800" cy="34603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  <a:r>
                <a:rPr lang="en-US" sz="2600" b="1">
                  <a:solidFill>
                    <a:srgbClr val="FDF9E8"/>
                  </a:solidFill>
                  <a:latin typeface="Tahoma Bold" panose="020B0804030504040204"/>
                  <a:ea typeface="Tahoma Bold" panose="020B0804030504040204"/>
                  <a:cs typeface="Tahoma Bold" panose="020B0804030504040204"/>
                  <a:sym typeface="Tahoma Bold" panose="020B0804030504040204"/>
                </a:rPr>
                <a:t>SERVER</a:t>
              </a:r>
              <a:endParaRPr lang="en-US" sz="2600" b="1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endParaRPr>
            </a:p>
            <a:p>
              <a:pPr algn="ctr">
                <a:lnSpc>
                  <a:spcPts val="3640"/>
                </a:lnSpc>
              </a:pPr>
              <a:r>
                <a:rPr lang="en-US" sz="2600">
                  <a:solidFill>
                    <a:srgbClr val="FDF9E8"/>
                  </a:solidFill>
                  <a:latin typeface="Tahoma" panose="020B0604030504040204"/>
                  <a:ea typeface="Tahoma" panose="020B0604030504040204"/>
                  <a:cs typeface="Tahoma" panose="020B0604030504040204"/>
                  <a:sym typeface="Tahoma" panose="020B0604030504040204"/>
                </a:rPr>
                <a:t>(Backend)</a:t>
              </a:r>
              <a:endParaRPr lang="en-US" sz="2600">
                <a:solidFill>
                  <a:srgbClr val="FDF9E8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endParaRP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4519980" y="5491560"/>
            <a:ext cx="3086100" cy="1649973"/>
            <a:chOff x="0" y="0"/>
            <a:chExt cx="812800" cy="434561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812800" cy="434561"/>
            </a:xfrm>
            <a:custGeom>
              <a:avLst/>
              <a:gdLst/>
              <a:ahLst/>
              <a:cxnLst/>
              <a:rect l="l" t="t" r="r" b="b"/>
              <a:pathLst>
                <a:path w="812800" h="434561">
                  <a:moveTo>
                    <a:pt x="273050" y="0"/>
                  </a:moveTo>
                  <a:lnTo>
                    <a:pt x="0" y="217280"/>
                  </a:lnTo>
                  <a:lnTo>
                    <a:pt x="273050" y="434561"/>
                  </a:lnTo>
                  <a:lnTo>
                    <a:pt x="273050" y="301211"/>
                  </a:lnTo>
                  <a:lnTo>
                    <a:pt x="539750" y="301211"/>
                  </a:lnTo>
                  <a:lnTo>
                    <a:pt x="539750" y="434561"/>
                  </a:lnTo>
                  <a:lnTo>
                    <a:pt x="812800" y="217280"/>
                  </a:lnTo>
                  <a:lnTo>
                    <a:pt x="539750" y="0"/>
                  </a:lnTo>
                  <a:lnTo>
                    <a:pt x="539750" y="133350"/>
                  </a:lnTo>
                  <a:lnTo>
                    <a:pt x="273050" y="133350"/>
                  </a:lnTo>
                  <a:lnTo>
                    <a:pt x="273050" y="0"/>
                  </a:lnTo>
                  <a:close/>
                </a:path>
              </a:pathLst>
            </a:custGeom>
            <a:solidFill>
              <a:srgbClr val="360185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101600" y="92075"/>
              <a:ext cx="609600" cy="20278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11097361" y="5491560"/>
            <a:ext cx="2713122" cy="1649973"/>
            <a:chOff x="0" y="0"/>
            <a:chExt cx="714567" cy="434561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714567" cy="434561"/>
            </a:xfrm>
            <a:custGeom>
              <a:avLst/>
              <a:gdLst/>
              <a:ahLst/>
              <a:cxnLst/>
              <a:rect l="l" t="t" r="r" b="b"/>
              <a:pathLst>
                <a:path w="714567" h="434561">
                  <a:moveTo>
                    <a:pt x="273050" y="0"/>
                  </a:moveTo>
                  <a:lnTo>
                    <a:pt x="0" y="217280"/>
                  </a:lnTo>
                  <a:lnTo>
                    <a:pt x="273050" y="434561"/>
                  </a:lnTo>
                  <a:lnTo>
                    <a:pt x="273050" y="301211"/>
                  </a:lnTo>
                  <a:lnTo>
                    <a:pt x="441517" y="301211"/>
                  </a:lnTo>
                  <a:lnTo>
                    <a:pt x="441517" y="434561"/>
                  </a:lnTo>
                  <a:lnTo>
                    <a:pt x="714567" y="217280"/>
                  </a:lnTo>
                  <a:lnTo>
                    <a:pt x="441517" y="0"/>
                  </a:lnTo>
                  <a:lnTo>
                    <a:pt x="441517" y="133350"/>
                  </a:lnTo>
                  <a:lnTo>
                    <a:pt x="273050" y="133350"/>
                  </a:lnTo>
                  <a:lnTo>
                    <a:pt x="273050" y="0"/>
                  </a:ln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id="31" name="TextBox 31"/>
            <p:cNvSpPr txBox="1"/>
            <p:nvPr/>
          </p:nvSpPr>
          <p:spPr>
            <a:xfrm>
              <a:off x="101600" y="92075"/>
              <a:ext cx="511367" cy="20278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</a:p>
          </p:txBody>
        </p:sp>
      </p:grpSp>
      <p:sp>
        <p:nvSpPr>
          <p:cNvPr id="32" name="Freeform 32"/>
          <p:cNvSpPr/>
          <p:nvPr/>
        </p:nvSpPr>
        <p:spPr>
          <a:xfrm>
            <a:off x="8564634" y="5663010"/>
            <a:ext cx="803668" cy="885807"/>
          </a:xfrm>
          <a:custGeom>
            <a:avLst/>
            <a:gdLst/>
            <a:ahLst/>
            <a:cxnLst/>
            <a:rect l="l" t="t" r="r" b="b"/>
            <a:pathLst>
              <a:path w="803668" h="885807">
                <a:moveTo>
                  <a:pt x="0" y="0"/>
                </a:moveTo>
                <a:lnTo>
                  <a:pt x="803668" y="0"/>
                </a:lnTo>
                <a:lnTo>
                  <a:pt x="803668" y="885807"/>
                </a:lnTo>
                <a:lnTo>
                  <a:pt x="0" y="88580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33" name="Freeform 33"/>
          <p:cNvSpPr/>
          <p:nvPr/>
        </p:nvSpPr>
        <p:spPr>
          <a:xfrm>
            <a:off x="8304574" y="6720267"/>
            <a:ext cx="2094294" cy="569966"/>
          </a:xfrm>
          <a:custGeom>
            <a:avLst/>
            <a:gdLst/>
            <a:ahLst/>
            <a:cxnLst/>
            <a:rect l="l" t="t" r="r" b="b"/>
            <a:pathLst>
              <a:path w="2094294" h="569966">
                <a:moveTo>
                  <a:pt x="0" y="0"/>
                </a:moveTo>
                <a:lnTo>
                  <a:pt x="2094294" y="0"/>
                </a:lnTo>
                <a:lnTo>
                  <a:pt x="2094294" y="569966"/>
                </a:lnTo>
                <a:lnTo>
                  <a:pt x="0" y="56996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34" name="Freeform 34"/>
          <p:cNvSpPr/>
          <p:nvPr/>
        </p:nvSpPr>
        <p:spPr>
          <a:xfrm>
            <a:off x="14577945" y="5811271"/>
            <a:ext cx="1923193" cy="1010550"/>
          </a:xfrm>
          <a:custGeom>
            <a:avLst/>
            <a:gdLst/>
            <a:ahLst/>
            <a:cxnLst/>
            <a:rect l="l" t="t" r="r" b="b"/>
            <a:pathLst>
              <a:path w="1923193" h="1010550">
                <a:moveTo>
                  <a:pt x="0" y="0"/>
                </a:moveTo>
                <a:lnTo>
                  <a:pt x="1923193" y="0"/>
                </a:lnTo>
                <a:lnTo>
                  <a:pt x="1923193" y="1010551"/>
                </a:lnTo>
                <a:lnTo>
                  <a:pt x="0" y="101055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35" name="TextBox 35"/>
          <p:cNvSpPr txBox="1"/>
          <p:nvPr/>
        </p:nvSpPr>
        <p:spPr>
          <a:xfrm>
            <a:off x="4663162" y="75565"/>
            <a:ext cx="8900438" cy="8976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sz="5600" b="1" dirty="0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2. </a:t>
            </a:r>
            <a:r>
              <a:rPr lang="en-US" sz="5600" b="1" dirty="0" err="1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Tổng</a:t>
            </a:r>
            <a:r>
              <a:rPr lang="en-US" sz="5600" b="1" dirty="0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5600" b="1" dirty="0" err="1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quan</a:t>
            </a:r>
            <a:r>
              <a:rPr lang="en-US" sz="5600" b="1" dirty="0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5600" b="1" dirty="0" err="1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hệ</a:t>
            </a:r>
            <a:r>
              <a:rPr lang="en-US" sz="5600" b="1" dirty="0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5600" b="1" dirty="0" err="1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thống</a:t>
            </a:r>
            <a:endParaRPr lang="en-US" sz="5600" b="1" dirty="0">
              <a:solidFill>
                <a:srgbClr val="F4B342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36" name="TextBox 36"/>
          <p:cNvSpPr txBox="1"/>
          <p:nvPr/>
        </p:nvSpPr>
        <p:spPr>
          <a:xfrm>
            <a:off x="789069" y="1697430"/>
            <a:ext cx="10826830" cy="6699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600"/>
              </a:lnSpc>
              <a:spcBef>
                <a:spcPct val="0"/>
              </a:spcBef>
            </a:pPr>
            <a:r>
              <a:rPr lang="en-US" sz="4000" b="1">
                <a:solidFill>
                  <a:srgbClr val="360185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Kiến trúc hệ thống: hiện đại và linh hoạt</a:t>
            </a:r>
            <a:endParaRPr lang="en-US" sz="4000" b="1">
              <a:solidFill>
                <a:srgbClr val="360185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37" name="TextBox 37"/>
          <p:cNvSpPr txBox="1"/>
          <p:nvPr/>
        </p:nvSpPr>
        <p:spPr>
          <a:xfrm>
            <a:off x="1028700" y="2479210"/>
            <a:ext cx="16679205" cy="514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lang="en-US" sz="30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Hệ thống được xây dựng với Frontend và Backend tách biệt, giao tiếp qua RESTful API.</a:t>
            </a:r>
            <a:endParaRPr lang="en-US" sz="3000" b="1">
              <a:solidFill>
                <a:srgbClr val="000000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38" name="TextBox 38"/>
          <p:cNvSpPr txBox="1"/>
          <p:nvPr/>
        </p:nvSpPr>
        <p:spPr>
          <a:xfrm>
            <a:off x="1326314" y="7803304"/>
            <a:ext cx="2732484" cy="339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 b="1">
                <a:solidFill>
                  <a:srgbClr val="0D1826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Giao diện người dùng</a:t>
            </a:r>
            <a:endParaRPr lang="en-US" sz="2000" b="1">
              <a:solidFill>
                <a:srgbClr val="0D1826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39" name="TextBox 39"/>
          <p:cNvSpPr txBox="1"/>
          <p:nvPr/>
        </p:nvSpPr>
        <p:spPr>
          <a:xfrm>
            <a:off x="5057614" y="6073342"/>
            <a:ext cx="2142325" cy="39017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360"/>
              </a:lnSpc>
              <a:spcBef>
                <a:spcPct val="0"/>
              </a:spcBef>
            </a:pPr>
            <a:r>
              <a:rPr lang="en-US" sz="2400" b="1" dirty="0">
                <a:solidFill>
                  <a:srgbClr val="FDF9E8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RESTFUL API</a:t>
            </a:r>
            <a:endParaRPr lang="en-US" sz="2400" b="1" dirty="0">
              <a:solidFill>
                <a:srgbClr val="FDF9E8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40" name="TextBox 40"/>
          <p:cNvSpPr txBox="1"/>
          <p:nvPr/>
        </p:nvSpPr>
        <p:spPr>
          <a:xfrm>
            <a:off x="7995782" y="7803304"/>
            <a:ext cx="2711878" cy="1044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00"/>
              </a:lnSpc>
            </a:pPr>
            <a:r>
              <a:rPr lang="en-US" sz="2000" b="1">
                <a:solidFill>
                  <a:srgbClr val="0D1826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Xử lý logic, xác thực,</a:t>
            </a:r>
            <a:endParaRPr lang="en-US" sz="2000" b="1">
              <a:solidFill>
                <a:srgbClr val="0D1826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  <a:p>
            <a:pPr algn="l">
              <a:lnSpc>
                <a:spcPts val="2800"/>
              </a:lnSpc>
            </a:pPr>
            <a:r>
              <a:rPr lang="en-US" sz="2000" b="1">
                <a:solidFill>
                  <a:srgbClr val="0D1826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quản lý nghiệp vụ</a:t>
            </a:r>
            <a:endParaRPr lang="en-US" sz="2000" b="1">
              <a:solidFill>
                <a:srgbClr val="0D1826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  <a:p>
            <a:pPr algn="l">
              <a:lnSpc>
                <a:spcPts val="2800"/>
              </a:lnSpc>
              <a:spcBef>
                <a:spcPct val="0"/>
              </a:spcBef>
            </a:pPr>
            <a:endParaRPr lang="en-US" sz="2000" b="1">
              <a:solidFill>
                <a:srgbClr val="0D1826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41" name="TextBox 41"/>
          <p:cNvSpPr txBox="1"/>
          <p:nvPr/>
        </p:nvSpPr>
        <p:spPr>
          <a:xfrm>
            <a:off x="13996492" y="7450879"/>
            <a:ext cx="3272109" cy="1044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00"/>
              </a:lnSpc>
            </a:pPr>
          </a:p>
          <a:p>
            <a:pPr algn="l">
              <a:lnSpc>
                <a:spcPts val="2800"/>
              </a:lnSpc>
            </a:pPr>
            <a:r>
              <a:rPr lang="en-US" sz="2000" b="1">
                <a:solidFill>
                  <a:srgbClr val="0D1826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Lưu trữ dự liệu hệ thống</a:t>
            </a:r>
            <a:endParaRPr lang="en-US" sz="2000" b="1">
              <a:solidFill>
                <a:srgbClr val="0D1826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  <a:p>
            <a:pPr algn="l">
              <a:lnSpc>
                <a:spcPts val="2800"/>
              </a:lnSpc>
              <a:spcBef>
                <a:spcPct val="0"/>
              </a:spcBef>
            </a:pPr>
            <a:endParaRPr lang="en-US" sz="2000" b="1">
              <a:solidFill>
                <a:srgbClr val="0D1826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256807"/>
            <a:chOff x="0" y="0"/>
            <a:chExt cx="4816593" cy="33101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331011"/>
            </a:xfrm>
            <a:custGeom>
              <a:avLst/>
              <a:gdLst/>
              <a:ahLst/>
              <a:cxnLst/>
              <a:rect l="l" t="t" r="r" b="b"/>
              <a:pathLst>
                <a:path w="4816592" h="331011">
                  <a:moveTo>
                    <a:pt x="0" y="0"/>
                  </a:moveTo>
                  <a:lnTo>
                    <a:pt x="4816592" y="0"/>
                  </a:lnTo>
                  <a:lnTo>
                    <a:pt x="4816592" y="331011"/>
                  </a:lnTo>
                  <a:lnTo>
                    <a:pt x="0" y="331011"/>
                  </a:ln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816593" cy="3786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617619" y="2872181"/>
            <a:ext cx="5406471" cy="6386119"/>
            <a:chOff x="0" y="0"/>
            <a:chExt cx="1423927" cy="1681941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23927" cy="1681941"/>
            </a:xfrm>
            <a:custGeom>
              <a:avLst/>
              <a:gdLst/>
              <a:ahLst/>
              <a:cxnLst/>
              <a:rect l="l" t="t" r="r" b="b"/>
              <a:pathLst>
                <a:path w="1423927" h="1681941">
                  <a:moveTo>
                    <a:pt x="24344" y="0"/>
                  </a:moveTo>
                  <a:lnTo>
                    <a:pt x="1399583" y="0"/>
                  </a:lnTo>
                  <a:cubicBezTo>
                    <a:pt x="1413028" y="0"/>
                    <a:pt x="1423927" y="10899"/>
                    <a:pt x="1423927" y="24344"/>
                  </a:cubicBezTo>
                  <a:lnTo>
                    <a:pt x="1423927" y="1657597"/>
                  </a:lnTo>
                  <a:cubicBezTo>
                    <a:pt x="1423927" y="1664054"/>
                    <a:pt x="1421362" y="1670246"/>
                    <a:pt x="1416797" y="1674811"/>
                  </a:cubicBezTo>
                  <a:cubicBezTo>
                    <a:pt x="1412231" y="1679376"/>
                    <a:pt x="1406039" y="1681941"/>
                    <a:pt x="1399583" y="1681941"/>
                  </a:cubicBezTo>
                  <a:lnTo>
                    <a:pt x="24344" y="1681941"/>
                  </a:lnTo>
                  <a:cubicBezTo>
                    <a:pt x="10899" y="1681941"/>
                    <a:pt x="0" y="1671042"/>
                    <a:pt x="0" y="1657597"/>
                  </a:cubicBezTo>
                  <a:lnTo>
                    <a:pt x="0" y="24344"/>
                  </a:lnTo>
                  <a:cubicBezTo>
                    <a:pt x="0" y="10899"/>
                    <a:pt x="10899" y="0"/>
                    <a:pt x="24344" y="0"/>
                  </a:cubicBezTo>
                  <a:close/>
                </a:path>
              </a:pathLst>
            </a:custGeom>
            <a:solidFill>
              <a:srgbClr val="FDF9E8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423927" cy="172956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6549549" y="2872181"/>
            <a:ext cx="5254071" cy="6386119"/>
            <a:chOff x="0" y="0"/>
            <a:chExt cx="1383788" cy="1681941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383788" cy="1681941"/>
            </a:xfrm>
            <a:custGeom>
              <a:avLst/>
              <a:gdLst/>
              <a:ahLst/>
              <a:cxnLst/>
              <a:rect l="l" t="t" r="r" b="b"/>
              <a:pathLst>
                <a:path w="1383788" h="1681941">
                  <a:moveTo>
                    <a:pt x="25050" y="0"/>
                  </a:moveTo>
                  <a:lnTo>
                    <a:pt x="1358739" y="0"/>
                  </a:lnTo>
                  <a:cubicBezTo>
                    <a:pt x="1365382" y="0"/>
                    <a:pt x="1371754" y="2639"/>
                    <a:pt x="1376451" y="7337"/>
                  </a:cubicBezTo>
                  <a:cubicBezTo>
                    <a:pt x="1381149" y="12035"/>
                    <a:pt x="1383788" y="18406"/>
                    <a:pt x="1383788" y="25050"/>
                  </a:cubicBezTo>
                  <a:lnTo>
                    <a:pt x="1383788" y="1656891"/>
                  </a:lnTo>
                  <a:cubicBezTo>
                    <a:pt x="1383788" y="1663535"/>
                    <a:pt x="1381149" y="1669906"/>
                    <a:pt x="1376451" y="1674604"/>
                  </a:cubicBezTo>
                  <a:cubicBezTo>
                    <a:pt x="1371754" y="1679302"/>
                    <a:pt x="1365382" y="1681941"/>
                    <a:pt x="1358739" y="1681941"/>
                  </a:cubicBezTo>
                  <a:lnTo>
                    <a:pt x="25050" y="1681941"/>
                  </a:lnTo>
                  <a:cubicBezTo>
                    <a:pt x="18406" y="1681941"/>
                    <a:pt x="12035" y="1679302"/>
                    <a:pt x="7337" y="1674604"/>
                  </a:cubicBezTo>
                  <a:cubicBezTo>
                    <a:pt x="2639" y="1669906"/>
                    <a:pt x="0" y="1663535"/>
                    <a:pt x="0" y="1656891"/>
                  </a:cubicBezTo>
                  <a:lnTo>
                    <a:pt x="0" y="25050"/>
                  </a:lnTo>
                  <a:cubicBezTo>
                    <a:pt x="0" y="18406"/>
                    <a:pt x="2639" y="12035"/>
                    <a:pt x="7337" y="7337"/>
                  </a:cubicBezTo>
                  <a:cubicBezTo>
                    <a:pt x="12035" y="2639"/>
                    <a:pt x="18406" y="0"/>
                    <a:pt x="25050" y="0"/>
                  </a:cubicBezTo>
                  <a:close/>
                </a:path>
              </a:pathLst>
            </a:custGeom>
            <a:solidFill>
              <a:srgbClr val="FDF9E8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1383788" cy="172956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2310029" y="2872181"/>
            <a:ext cx="5273121" cy="6386119"/>
            <a:chOff x="0" y="0"/>
            <a:chExt cx="1388806" cy="1681941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388806" cy="1681941"/>
            </a:xfrm>
            <a:custGeom>
              <a:avLst/>
              <a:gdLst/>
              <a:ahLst/>
              <a:cxnLst/>
              <a:rect l="l" t="t" r="r" b="b"/>
              <a:pathLst>
                <a:path w="1388806" h="1681941">
                  <a:moveTo>
                    <a:pt x="24959" y="0"/>
                  </a:moveTo>
                  <a:lnTo>
                    <a:pt x="1363847" y="0"/>
                  </a:lnTo>
                  <a:cubicBezTo>
                    <a:pt x="1370466" y="0"/>
                    <a:pt x="1376815" y="2630"/>
                    <a:pt x="1381495" y="7310"/>
                  </a:cubicBezTo>
                  <a:cubicBezTo>
                    <a:pt x="1386176" y="11991"/>
                    <a:pt x="1388806" y="18340"/>
                    <a:pt x="1388806" y="24959"/>
                  </a:cubicBezTo>
                  <a:lnTo>
                    <a:pt x="1388806" y="1656982"/>
                  </a:lnTo>
                  <a:cubicBezTo>
                    <a:pt x="1388806" y="1663601"/>
                    <a:pt x="1386176" y="1669950"/>
                    <a:pt x="1381495" y="1674631"/>
                  </a:cubicBezTo>
                  <a:cubicBezTo>
                    <a:pt x="1376815" y="1679311"/>
                    <a:pt x="1370466" y="1681941"/>
                    <a:pt x="1363847" y="1681941"/>
                  </a:cubicBezTo>
                  <a:lnTo>
                    <a:pt x="24959" y="1681941"/>
                  </a:lnTo>
                  <a:cubicBezTo>
                    <a:pt x="18340" y="1681941"/>
                    <a:pt x="11991" y="1679311"/>
                    <a:pt x="7310" y="1674631"/>
                  </a:cubicBezTo>
                  <a:cubicBezTo>
                    <a:pt x="2630" y="1669950"/>
                    <a:pt x="0" y="1663601"/>
                    <a:pt x="0" y="1656982"/>
                  </a:cubicBezTo>
                  <a:lnTo>
                    <a:pt x="0" y="24959"/>
                  </a:lnTo>
                  <a:cubicBezTo>
                    <a:pt x="0" y="18340"/>
                    <a:pt x="2630" y="11991"/>
                    <a:pt x="7310" y="7310"/>
                  </a:cubicBezTo>
                  <a:cubicBezTo>
                    <a:pt x="11991" y="2630"/>
                    <a:pt x="18340" y="0"/>
                    <a:pt x="24959" y="0"/>
                  </a:cubicBezTo>
                  <a:close/>
                </a:path>
              </a:pathLst>
            </a:custGeom>
            <a:solidFill>
              <a:srgbClr val="FDF9E8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1388806" cy="172956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</a:p>
          </p:txBody>
        </p:sp>
      </p:grpSp>
      <p:sp>
        <p:nvSpPr>
          <p:cNvPr id="14" name="Freeform 14"/>
          <p:cNvSpPr/>
          <p:nvPr/>
        </p:nvSpPr>
        <p:spPr>
          <a:xfrm>
            <a:off x="789069" y="3950970"/>
            <a:ext cx="990106" cy="927099"/>
          </a:xfrm>
          <a:custGeom>
            <a:avLst/>
            <a:gdLst/>
            <a:ahLst/>
            <a:cxnLst/>
            <a:rect l="l" t="t" r="r" b="b"/>
            <a:pathLst>
              <a:path w="990106" h="927099">
                <a:moveTo>
                  <a:pt x="0" y="0"/>
                </a:moveTo>
                <a:lnTo>
                  <a:pt x="990106" y="0"/>
                </a:lnTo>
                <a:lnTo>
                  <a:pt x="990106" y="927100"/>
                </a:lnTo>
                <a:lnTo>
                  <a:pt x="0" y="927100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15" name="Freeform 15"/>
          <p:cNvSpPr/>
          <p:nvPr/>
        </p:nvSpPr>
        <p:spPr>
          <a:xfrm>
            <a:off x="754748" y="5559935"/>
            <a:ext cx="1024427" cy="669954"/>
          </a:xfrm>
          <a:custGeom>
            <a:avLst/>
            <a:gdLst/>
            <a:ahLst/>
            <a:cxnLst/>
            <a:rect l="l" t="t" r="r" b="b"/>
            <a:pathLst>
              <a:path w="1024427" h="669954">
                <a:moveTo>
                  <a:pt x="0" y="0"/>
                </a:moveTo>
                <a:lnTo>
                  <a:pt x="1024427" y="0"/>
                </a:lnTo>
                <a:lnTo>
                  <a:pt x="1024427" y="669954"/>
                </a:lnTo>
                <a:lnTo>
                  <a:pt x="0" y="6699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4498" r="-4498"/>
            </a:stretch>
          </a:blipFill>
        </p:spPr>
      </p:sp>
      <p:sp>
        <p:nvSpPr>
          <p:cNvPr id="16" name="Freeform 16"/>
          <p:cNvSpPr/>
          <p:nvPr/>
        </p:nvSpPr>
        <p:spPr>
          <a:xfrm>
            <a:off x="789069" y="7190105"/>
            <a:ext cx="896790" cy="883666"/>
          </a:xfrm>
          <a:custGeom>
            <a:avLst/>
            <a:gdLst/>
            <a:ahLst/>
            <a:cxnLst/>
            <a:rect l="l" t="t" r="r" b="b"/>
            <a:pathLst>
              <a:path w="896790" h="883666">
                <a:moveTo>
                  <a:pt x="0" y="0"/>
                </a:moveTo>
                <a:lnTo>
                  <a:pt x="896790" y="0"/>
                </a:lnTo>
                <a:lnTo>
                  <a:pt x="896790" y="883666"/>
                </a:lnTo>
                <a:lnTo>
                  <a:pt x="0" y="8836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17" name="Freeform 17"/>
          <p:cNvSpPr/>
          <p:nvPr/>
        </p:nvSpPr>
        <p:spPr>
          <a:xfrm>
            <a:off x="6773934" y="4414520"/>
            <a:ext cx="803668" cy="885807"/>
          </a:xfrm>
          <a:custGeom>
            <a:avLst/>
            <a:gdLst/>
            <a:ahLst/>
            <a:cxnLst/>
            <a:rect l="l" t="t" r="r" b="b"/>
            <a:pathLst>
              <a:path w="803668" h="885807">
                <a:moveTo>
                  <a:pt x="0" y="0"/>
                </a:moveTo>
                <a:lnTo>
                  <a:pt x="803668" y="0"/>
                </a:lnTo>
                <a:lnTo>
                  <a:pt x="803668" y="885807"/>
                </a:lnTo>
                <a:lnTo>
                  <a:pt x="0" y="88580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8" name="Freeform 18"/>
          <p:cNvSpPr/>
          <p:nvPr/>
        </p:nvSpPr>
        <p:spPr>
          <a:xfrm>
            <a:off x="6609370" y="6975970"/>
            <a:ext cx="1161447" cy="428269"/>
          </a:xfrm>
          <a:custGeom>
            <a:avLst/>
            <a:gdLst/>
            <a:ahLst/>
            <a:cxnLst/>
            <a:rect l="l" t="t" r="r" b="b"/>
            <a:pathLst>
              <a:path w="1161447" h="428269">
                <a:moveTo>
                  <a:pt x="0" y="0"/>
                </a:moveTo>
                <a:lnTo>
                  <a:pt x="1161447" y="0"/>
                </a:lnTo>
                <a:lnTo>
                  <a:pt x="1161447" y="428269"/>
                </a:lnTo>
                <a:lnTo>
                  <a:pt x="0" y="4282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r="-35489"/>
            </a:stretch>
          </a:blipFill>
        </p:spPr>
      </p:sp>
      <p:sp>
        <p:nvSpPr>
          <p:cNvPr id="19" name="Freeform 19"/>
          <p:cNvSpPr/>
          <p:nvPr/>
        </p:nvSpPr>
        <p:spPr>
          <a:xfrm>
            <a:off x="12556095" y="4551213"/>
            <a:ext cx="1281522" cy="673381"/>
          </a:xfrm>
          <a:custGeom>
            <a:avLst/>
            <a:gdLst/>
            <a:ahLst/>
            <a:cxnLst/>
            <a:rect l="l" t="t" r="r" b="b"/>
            <a:pathLst>
              <a:path w="1281522" h="673381">
                <a:moveTo>
                  <a:pt x="0" y="0"/>
                </a:moveTo>
                <a:lnTo>
                  <a:pt x="1281522" y="0"/>
                </a:lnTo>
                <a:lnTo>
                  <a:pt x="1281522" y="673381"/>
                </a:lnTo>
                <a:lnTo>
                  <a:pt x="0" y="673381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20" name="Freeform 20"/>
          <p:cNvSpPr/>
          <p:nvPr/>
        </p:nvSpPr>
        <p:spPr>
          <a:xfrm>
            <a:off x="12537930" y="6591935"/>
            <a:ext cx="1299687" cy="812304"/>
          </a:xfrm>
          <a:custGeom>
            <a:avLst/>
            <a:gdLst/>
            <a:ahLst/>
            <a:cxnLst/>
            <a:rect l="l" t="t" r="r" b="b"/>
            <a:pathLst>
              <a:path w="1299687" h="812304">
                <a:moveTo>
                  <a:pt x="0" y="0"/>
                </a:moveTo>
                <a:lnTo>
                  <a:pt x="1299687" y="0"/>
                </a:lnTo>
                <a:lnTo>
                  <a:pt x="1299687" y="812304"/>
                </a:lnTo>
                <a:lnTo>
                  <a:pt x="0" y="81230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</p:sp>
      <p:sp>
        <p:nvSpPr>
          <p:cNvPr id="21" name="TextBox 21"/>
          <p:cNvSpPr txBox="1"/>
          <p:nvPr/>
        </p:nvSpPr>
        <p:spPr>
          <a:xfrm>
            <a:off x="7770817" y="4032559"/>
            <a:ext cx="3845082" cy="16630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sz="24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Node.js: </a:t>
            </a:r>
            <a:r>
              <a:rPr lang="en-US" sz="240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Môi trường chạy JavaScript phía server với </a:t>
            </a:r>
            <a:endParaRPr lang="en-US" sz="240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sz="240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cơ chế bất đồng bộ, hiệu suất cao.</a:t>
            </a:r>
            <a:endParaRPr lang="en-US" sz="240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4663162" y="75565"/>
            <a:ext cx="8748038" cy="8976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sz="5600" b="1" dirty="0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2. </a:t>
            </a:r>
            <a:r>
              <a:rPr lang="en-US" sz="5600" b="1" dirty="0" err="1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Tổng</a:t>
            </a:r>
            <a:r>
              <a:rPr lang="en-US" sz="5600" b="1" dirty="0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5600" b="1" dirty="0" err="1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quan</a:t>
            </a:r>
            <a:r>
              <a:rPr lang="en-US" sz="5600" b="1" dirty="0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5600" b="1" dirty="0" err="1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hệ</a:t>
            </a:r>
            <a:r>
              <a:rPr lang="en-US" sz="5600" b="1" dirty="0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5600" b="1" dirty="0" err="1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thống</a:t>
            </a:r>
            <a:endParaRPr lang="en-US" sz="5600" b="1" dirty="0">
              <a:solidFill>
                <a:srgbClr val="F4B342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789069" y="1697430"/>
            <a:ext cx="10826830" cy="6699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600"/>
              </a:lnSpc>
              <a:spcBef>
                <a:spcPct val="0"/>
              </a:spcBef>
            </a:pPr>
            <a:r>
              <a:rPr lang="en-US" sz="4000" b="1">
                <a:solidFill>
                  <a:srgbClr val="360185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Nền tảng công nghệ</a:t>
            </a:r>
            <a:endParaRPr lang="en-US" sz="4000" b="1">
              <a:solidFill>
                <a:srgbClr val="360185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2339118" y="3107055"/>
            <a:ext cx="2080482" cy="51700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  <a:spcBef>
                <a:spcPct val="0"/>
              </a:spcBef>
            </a:pPr>
            <a:r>
              <a:rPr lang="en-US" sz="32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Frontend</a:t>
            </a:r>
            <a:endParaRPr lang="en-US" sz="3200" b="1" dirty="0">
              <a:solidFill>
                <a:srgbClr val="000000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8155094" y="3147695"/>
            <a:ext cx="1827106" cy="51700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  <a:spcBef>
                <a:spcPct val="0"/>
              </a:spcBef>
            </a:pPr>
            <a:r>
              <a:rPr lang="en-US" sz="32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Backend</a:t>
            </a:r>
            <a:endParaRPr lang="en-US" sz="3200" b="1" dirty="0">
              <a:solidFill>
                <a:srgbClr val="000000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26" name="TextBox 26"/>
          <p:cNvSpPr txBox="1"/>
          <p:nvPr/>
        </p:nvSpPr>
        <p:spPr>
          <a:xfrm>
            <a:off x="13274753" y="3066415"/>
            <a:ext cx="3234072" cy="10940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32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Database &amp; </a:t>
            </a:r>
            <a:endParaRPr lang="en-US" sz="3200" b="1" dirty="0">
              <a:solidFill>
                <a:srgbClr val="000000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  <a:p>
            <a:pPr algn="ctr">
              <a:lnSpc>
                <a:spcPts val="4480"/>
              </a:lnSpc>
              <a:spcBef>
                <a:spcPct val="0"/>
              </a:spcBef>
            </a:pPr>
            <a:r>
              <a:rPr lang="en-US" sz="32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Authentication</a:t>
            </a:r>
            <a:endParaRPr lang="en-US" sz="3200" b="1" dirty="0">
              <a:solidFill>
                <a:srgbClr val="000000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27" name="TextBox 27"/>
          <p:cNvSpPr txBox="1"/>
          <p:nvPr/>
        </p:nvSpPr>
        <p:spPr>
          <a:xfrm>
            <a:off x="1779175" y="3978275"/>
            <a:ext cx="4244915" cy="8248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sz="24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ReactJS: </a:t>
            </a:r>
            <a:r>
              <a:rPr lang="en-US" sz="240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Thư viện xây dựng giao diện dựa trên component.</a:t>
            </a:r>
            <a:endParaRPr lang="en-US" sz="240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</p:txBody>
      </p:sp>
      <p:sp>
        <p:nvSpPr>
          <p:cNvPr id="28" name="TextBox 28"/>
          <p:cNvSpPr txBox="1"/>
          <p:nvPr/>
        </p:nvSpPr>
        <p:spPr>
          <a:xfrm>
            <a:off x="1779175" y="5260340"/>
            <a:ext cx="4244915" cy="1243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sz="24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Tailwind CSS: </a:t>
            </a:r>
            <a:r>
              <a:rPr lang="en-US" sz="240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Framework CSS giúp thiết kế giao diện nhanh và linh hoạt.</a:t>
            </a:r>
            <a:endParaRPr lang="en-US" sz="240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</p:txBody>
      </p:sp>
      <p:sp>
        <p:nvSpPr>
          <p:cNvPr id="29" name="TextBox 29"/>
          <p:cNvSpPr txBox="1"/>
          <p:nvPr/>
        </p:nvSpPr>
        <p:spPr>
          <a:xfrm>
            <a:off x="1810519" y="7047561"/>
            <a:ext cx="4213571" cy="1243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sz="24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Vite: </a:t>
            </a:r>
            <a:r>
              <a:rPr lang="en-US" sz="240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Công cụ hỗ trợ build và phát triển ứng dụng với tốc độ siêu nhanh.</a:t>
            </a:r>
            <a:endParaRPr lang="en-US" sz="240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</p:txBody>
      </p:sp>
      <p:sp>
        <p:nvSpPr>
          <p:cNvPr id="30" name="TextBox 30"/>
          <p:cNvSpPr txBox="1"/>
          <p:nvPr/>
        </p:nvSpPr>
        <p:spPr>
          <a:xfrm>
            <a:off x="7770817" y="6544310"/>
            <a:ext cx="3937553" cy="1243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sz="24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ExpressJS: </a:t>
            </a:r>
            <a:r>
              <a:rPr lang="en-US" sz="240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Framework tối giản giúp xây dựng API và ứng dụng web trên Node.js.</a:t>
            </a:r>
            <a:endParaRPr lang="en-US" sz="240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</p:txBody>
      </p:sp>
      <p:sp>
        <p:nvSpPr>
          <p:cNvPr id="31" name="TextBox 31"/>
          <p:cNvSpPr txBox="1"/>
          <p:nvPr/>
        </p:nvSpPr>
        <p:spPr>
          <a:xfrm>
            <a:off x="14028117" y="4288155"/>
            <a:ext cx="3433240" cy="1243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sz="24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MySQL: </a:t>
            </a:r>
            <a:r>
              <a:rPr lang="en-US" sz="240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Hệ quản trị cơ sở dữ liệu quan hệ </a:t>
            </a:r>
            <a:endParaRPr lang="en-US" sz="240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sz="240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mã nguồn mở và tin cậy.</a:t>
            </a:r>
            <a:endParaRPr lang="en-US" sz="240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</p:txBody>
      </p:sp>
      <p:sp>
        <p:nvSpPr>
          <p:cNvPr id="32" name="TextBox 32"/>
          <p:cNvSpPr txBox="1"/>
          <p:nvPr/>
        </p:nvSpPr>
        <p:spPr>
          <a:xfrm>
            <a:off x="14028117" y="6239841"/>
            <a:ext cx="3433240" cy="1243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sz="24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JWT: </a:t>
            </a:r>
            <a:r>
              <a:rPr lang="en-US" sz="240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Phương thức xác thực và phân quyền người dùng an toàn.</a:t>
            </a:r>
            <a:endParaRPr lang="en-US" sz="240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256807"/>
            <a:chOff x="0" y="0"/>
            <a:chExt cx="4816593" cy="33101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331011"/>
            </a:xfrm>
            <a:custGeom>
              <a:avLst/>
              <a:gdLst/>
              <a:ahLst/>
              <a:cxnLst/>
              <a:rect l="l" t="t" r="r" b="b"/>
              <a:pathLst>
                <a:path w="4816592" h="331011">
                  <a:moveTo>
                    <a:pt x="0" y="0"/>
                  </a:moveTo>
                  <a:lnTo>
                    <a:pt x="4816592" y="0"/>
                  </a:lnTo>
                  <a:lnTo>
                    <a:pt x="4816592" y="331011"/>
                  </a:lnTo>
                  <a:lnTo>
                    <a:pt x="0" y="331011"/>
                  </a:ln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816593" cy="3786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</a:p>
          </p:txBody>
        </p:sp>
      </p:grpSp>
      <p:sp>
        <p:nvSpPr>
          <p:cNvPr id="5" name="Freeform 5"/>
          <p:cNvSpPr/>
          <p:nvPr/>
        </p:nvSpPr>
        <p:spPr>
          <a:xfrm>
            <a:off x="8514075" y="2264443"/>
            <a:ext cx="1368325" cy="1539016"/>
          </a:xfrm>
          <a:custGeom>
            <a:avLst/>
            <a:gdLst/>
            <a:ahLst/>
            <a:cxnLst/>
            <a:rect l="l" t="t" r="r" b="b"/>
            <a:pathLst>
              <a:path w="1368325" h="1539016">
                <a:moveTo>
                  <a:pt x="0" y="0"/>
                </a:moveTo>
                <a:lnTo>
                  <a:pt x="1368324" y="0"/>
                </a:lnTo>
                <a:lnTo>
                  <a:pt x="1368324" y="1539016"/>
                </a:lnTo>
                <a:lnTo>
                  <a:pt x="0" y="1539016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4663162" y="75565"/>
            <a:ext cx="8595638" cy="8976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sz="5600" b="1" dirty="0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2. </a:t>
            </a:r>
            <a:r>
              <a:rPr lang="en-US" sz="5600" b="1" dirty="0" err="1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Tổng</a:t>
            </a:r>
            <a:r>
              <a:rPr lang="en-US" sz="5600" b="1" dirty="0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5600" b="1" dirty="0" err="1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quan</a:t>
            </a:r>
            <a:r>
              <a:rPr lang="en-US" sz="5600" b="1" dirty="0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5600" b="1" dirty="0" err="1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hệ</a:t>
            </a:r>
            <a:r>
              <a:rPr lang="en-US" sz="5600" b="1" dirty="0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5600" b="1" dirty="0" err="1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thống</a:t>
            </a:r>
            <a:endParaRPr lang="en-US" sz="5600" b="1" dirty="0">
              <a:solidFill>
                <a:srgbClr val="F4B342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789069" y="1496971"/>
            <a:ext cx="10826830" cy="6699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600"/>
              </a:lnSpc>
              <a:spcBef>
                <a:spcPct val="0"/>
              </a:spcBef>
            </a:pPr>
            <a:r>
              <a:rPr lang="en-US" sz="4000" b="1">
                <a:solidFill>
                  <a:srgbClr val="360185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Phân quyền và chức năng theo vài trò</a:t>
            </a:r>
            <a:endParaRPr lang="en-US" sz="4000" b="1">
              <a:solidFill>
                <a:srgbClr val="360185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8" name="AutoShape 8"/>
          <p:cNvSpPr/>
          <p:nvPr/>
        </p:nvSpPr>
        <p:spPr>
          <a:xfrm flipV="1">
            <a:off x="2820280" y="3049484"/>
            <a:ext cx="5623538" cy="106920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9" name="AutoShape 9"/>
          <p:cNvSpPr/>
          <p:nvPr/>
        </p:nvSpPr>
        <p:spPr>
          <a:xfrm>
            <a:off x="9812143" y="2922420"/>
            <a:ext cx="5543633" cy="116361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0" name="AutoShape 10"/>
          <p:cNvSpPr/>
          <p:nvPr/>
        </p:nvSpPr>
        <p:spPr>
          <a:xfrm>
            <a:off x="9198237" y="3803459"/>
            <a:ext cx="0" cy="28257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1" name="Group 11"/>
          <p:cNvGrpSpPr/>
          <p:nvPr/>
        </p:nvGrpSpPr>
        <p:grpSpPr>
          <a:xfrm>
            <a:off x="375569" y="4118683"/>
            <a:ext cx="5543544" cy="5425367"/>
            <a:chOff x="0" y="0"/>
            <a:chExt cx="1460028" cy="1428903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460028" cy="1428903"/>
            </a:xfrm>
            <a:custGeom>
              <a:avLst/>
              <a:gdLst/>
              <a:ahLst/>
              <a:cxnLst/>
              <a:rect l="l" t="t" r="r" b="b"/>
              <a:pathLst>
                <a:path w="1460028" h="1428903">
                  <a:moveTo>
                    <a:pt x="23742" y="0"/>
                  </a:moveTo>
                  <a:lnTo>
                    <a:pt x="1436286" y="0"/>
                  </a:lnTo>
                  <a:cubicBezTo>
                    <a:pt x="1449399" y="0"/>
                    <a:pt x="1460028" y="10629"/>
                    <a:pt x="1460028" y="23742"/>
                  </a:cubicBezTo>
                  <a:lnTo>
                    <a:pt x="1460028" y="1405162"/>
                  </a:lnTo>
                  <a:cubicBezTo>
                    <a:pt x="1460028" y="1418274"/>
                    <a:pt x="1449399" y="1428903"/>
                    <a:pt x="1436286" y="1428903"/>
                  </a:cubicBezTo>
                  <a:lnTo>
                    <a:pt x="23742" y="1428903"/>
                  </a:lnTo>
                  <a:cubicBezTo>
                    <a:pt x="10629" y="1428903"/>
                    <a:pt x="0" y="1418274"/>
                    <a:pt x="0" y="1405162"/>
                  </a:cubicBezTo>
                  <a:lnTo>
                    <a:pt x="0" y="23742"/>
                  </a:lnTo>
                  <a:cubicBezTo>
                    <a:pt x="0" y="10629"/>
                    <a:pt x="10629" y="0"/>
                    <a:pt x="23742" y="0"/>
                  </a:cubicBezTo>
                  <a:close/>
                </a:path>
              </a:pathLst>
            </a:custGeom>
            <a:solidFill>
              <a:srgbClr val="C9E8F7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1460028" cy="147652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60"/>
                </a:lnSpc>
              </a:pP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605480" y="4423483"/>
            <a:ext cx="3086100" cy="787937"/>
            <a:chOff x="0" y="0"/>
            <a:chExt cx="812800" cy="20752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12800" cy="207523"/>
            </a:xfrm>
            <a:custGeom>
              <a:avLst/>
              <a:gdLst/>
              <a:ahLst/>
              <a:cxnLst/>
              <a:rect l="l" t="t" r="r" b="b"/>
              <a:pathLst>
                <a:path w="812800" h="207523">
                  <a:moveTo>
                    <a:pt x="42647" y="0"/>
                  </a:moveTo>
                  <a:lnTo>
                    <a:pt x="770153" y="0"/>
                  </a:lnTo>
                  <a:cubicBezTo>
                    <a:pt x="781464" y="0"/>
                    <a:pt x="792311" y="4493"/>
                    <a:pt x="800309" y="12491"/>
                  </a:cubicBezTo>
                  <a:cubicBezTo>
                    <a:pt x="808307" y="20489"/>
                    <a:pt x="812800" y="31336"/>
                    <a:pt x="812800" y="42647"/>
                  </a:cubicBezTo>
                  <a:lnTo>
                    <a:pt x="812800" y="164876"/>
                  </a:lnTo>
                  <a:cubicBezTo>
                    <a:pt x="812800" y="188429"/>
                    <a:pt x="793706" y="207523"/>
                    <a:pt x="770153" y="207523"/>
                  </a:cubicBezTo>
                  <a:lnTo>
                    <a:pt x="42647" y="207523"/>
                  </a:lnTo>
                  <a:cubicBezTo>
                    <a:pt x="31336" y="207523"/>
                    <a:pt x="20489" y="203029"/>
                    <a:pt x="12491" y="195032"/>
                  </a:cubicBezTo>
                  <a:cubicBezTo>
                    <a:pt x="4493" y="187034"/>
                    <a:pt x="0" y="176186"/>
                    <a:pt x="0" y="164876"/>
                  </a:cubicBezTo>
                  <a:lnTo>
                    <a:pt x="0" y="42647"/>
                  </a:lnTo>
                  <a:cubicBezTo>
                    <a:pt x="0" y="31336"/>
                    <a:pt x="4493" y="20489"/>
                    <a:pt x="12491" y="12491"/>
                  </a:cubicBezTo>
                  <a:cubicBezTo>
                    <a:pt x="20489" y="4493"/>
                    <a:pt x="31336" y="0"/>
                    <a:pt x="42647" y="0"/>
                  </a:cubicBezTo>
                  <a:close/>
                </a:path>
              </a:pathLst>
            </a:custGeom>
            <a:solidFill>
              <a:srgbClr val="FDC128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-47625"/>
              <a:ext cx="812800" cy="2551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375569" y="4299658"/>
            <a:ext cx="5541165" cy="3929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2800" b="1">
                <a:solidFill>
                  <a:srgbClr val="0D1826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Sinh viên</a:t>
            </a:r>
            <a:endParaRPr lang="en-US" sz="2800" b="1">
              <a:solidFill>
                <a:srgbClr val="0D1826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  <a:p>
            <a:pPr marL="561340" lvl="1" indent="-280670" algn="l">
              <a:lnSpc>
                <a:spcPts val="3900"/>
              </a:lnSpc>
              <a:buFont typeface="Arial" panose="020B0604020202020204"/>
              <a:buChar char="•"/>
            </a:pPr>
            <a:r>
              <a:rPr lang="en-US" sz="26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Xác thực: </a:t>
            </a:r>
            <a:r>
              <a:rPr lang="en-US" sz="260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đăng ký, đăng nhập</a:t>
            </a:r>
            <a:endParaRPr lang="en-US" sz="260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  <a:p>
            <a:pPr marL="561340" lvl="1" indent="-280670" algn="l">
              <a:lnSpc>
                <a:spcPts val="3900"/>
              </a:lnSpc>
              <a:buFont typeface="Arial" panose="020B0604020202020204"/>
              <a:buChar char="•"/>
            </a:pPr>
            <a:r>
              <a:rPr lang="en-US" sz="26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Khám phá: </a:t>
            </a:r>
            <a:r>
              <a:rPr lang="en-US" sz="260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tìm kiếm khóa học</a:t>
            </a:r>
            <a:endParaRPr lang="en-US" sz="260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  <a:p>
            <a:pPr marL="561340" lvl="1" indent="-280670" algn="l">
              <a:lnSpc>
                <a:spcPts val="3900"/>
              </a:lnSpc>
              <a:buFont typeface="Arial" panose="020B0604020202020204"/>
              <a:buChar char="•"/>
            </a:pPr>
            <a:r>
              <a:rPr lang="en-US" sz="26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học tập: </a:t>
            </a:r>
            <a:r>
              <a:rPr lang="en-US" sz="260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tham gia học, xem video bài giảng</a:t>
            </a:r>
            <a:endParaRPr lang="en-US" sz="260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  <a:p>
            <a:pPr marL="561340" lvl="1" indent="-280670" algn="l">
              <a:lnSpc>
                <a:spcPts val="3900"/>
              </a:lnSpc>
              <a:buFont typeface="Arial" panose="020B0604020202020204"/>
              <a:buChar char="•"/>
            </a:pPr>
            <a:r>
              <a:rPr lang="en-US" sz="26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Ôn tập: </a:t>
            </a:r>
            <a:r>
              <a:rPr lang="en-US" sz="260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làm bài trắc nghiệm</a:t>
            </a:r>
            <a:endParaRPr lang="en-US" sz="260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  <a:p>
            <a:pPr marL="561340" lvl="1" indent="-280670" algn="l">
              <a:lnSpc>
                <a:spcPts val="3900"/>
              </a:lnSpc>
              <a:buFont typeface="Arial" panose="020B0604020202020204"/>
              <a:buChar char="•"/>
            </a:pPr>
            <a:r>
              <a:rPr lang="en-US" sz="26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Theo dõi : </a:t>
            </a:r>
            <a:r>
              <a:rPr lang="en-US" sz="260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xem tiến độ học tập</a:t>
            </a:r>
            <a:endParaRPr lang="en-US" sz="260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</p:txBody>
      </p:sp>
      <p:grpSp>
        <p:nvGrpSpPr>
          <p:cNvPr id="18" name="Group 18"/>
          <p:cNvGrpSpPr/>
          <p:nvPr/>
        </p:nvGrpSpPr>
        <p:grpSpPr>
          <a:xfrm>
            <a:off x="6202484" y="4086030"/>
            <a:ext cx="5562594" cy="5458020"/>
            <a:chOff x="0" y="0"/>
            <a:chExt cx="1465045" cy="1437503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465045" cy="1437503"/>
            </a:xfrm>
            <a:custGeom>
              <a:avLst/>
              <a:gdLst/>
              <a:ahLst/>
              <a:cxnLst/>
              <a:rect l="l" t="t" r="r" b="b"/>
              <a:pathLst>
                <a:path w="1465045" h="1437503">
                  <a:moveTo>
                    <a:pt x="23660" y="0"/>
                  </a:moveTo>
                  <a:lnTo>
                    <a:pt x="1441385" y="0"/>
                  </a:lnTo>
                  <a:cubicBezTo>
                    <a:pt x="1447660" y="0"/>
                    <a:pt x="1453678" y="2493"/>
                    <a:pt x="1458115" y="6930"/>
                  </a:cubicBezTo>
                  <a:cubicBezTo>
                    <a:pt x="1462552" y="11367"/>
                    <a:pt x="1465045" y="17385"/>
                    <a:pt x="1465045" y="23660"/>
                  </a:cubicBezTo>
                  <a:lnTo>
                    <a:pt x="1465045" y="1413843"/>
                  </a:lnTo>
                  <a:cubicBezTo>
                    <a:pt x="1465045" y="1420118"/>
                    <a:pt x="1462552" y="1426136"/>
                    <a:pt x="1458115" y="1430573"/>
                  </a:cubicBezTo>
                  <a:cubicBezTo>
                    <a:pt x="1453678" y="1435011"/>
                    <a:pt x="1447660" y="1437503"/>
                    <a:pt x="1441385" y="1437503"/>
                  </a:cubicBezTo>
                  <a:lnTo>
                    <a:pt x="23660" y="1437503"/>
                  </a:lnTo>
                  <a:cubicBezTo>
                    <a:pt x="17385" y="1437503"/>
                    <a:pt x="11367" y="1435011"/>
                    <a:pt x="6930" y="1430573"/>
                  </a:cubicBezTo>
                  <a:cubicBezTo>
                    <a:pt x="2493" y="1426136"/>
                    <a:pt x="0" y="1420118"/>
                    <a:pt x="0" y="1413843"/>
                  </a:cubicBezTo>
                  <a:lnTo>
                    <a:pt x="0" y="23660"/>
                  </a:lnTo>
                  <a:cubicBezTo>
                    <a:pt x="0" y="17385"/>
                    <a:pt x="2493" y="11367"/>
                    <a:pt x="6930" y="6930"/>
                  </a:cubicBezTo>
                  <a:cubicBezTo>
                    <a:pt x="11367" y="2493"/>
                    <a:pt x="17385" y="0"/>
                    <a:pt x="23660" y="0"/>
                  </a:cubicBezTo>
                  <a:close/>
                </a:path>
              </a:pathLst>
            </a:custGeom>
            <a:solidFill>
              <a:srgbClr val="C9E8F7"/>
            </a:solidFill>
          </p:spPr>
        </p:sp>
        <p:sp>
          <p:nvSpPr>
            <p:cNvPr id="20" name="TextBox 20"/>
            <p:cNvSpPr txBox="1"/>
            <p:nvPr/>
          </p:nvSpPr>
          <p:spPr>
            <a:xfrm>
              <a:off x="0" y="-47625"/>
              <a:ext cx="1465045" cy="148512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60"/>
                </a:lnSpc>
              </a:pP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2050827" y="4086030"/>
            <a:ext cx="5857998" cy="5458020"/>
            <a:chOff x="0" y="0"/>
            <a:chExt cx="1542847" cy="1437503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542847" cy="1437503"/>
            </a:xfrm>
            <a:custGeom>
              <a:avLst/>
              <a:gdLst/>
              <a:ahLst/>
              <a:cxnLst/>
              <a:rect l="l" t="t" r="r" b="b"/>
              <a:pathLst>
                <a:path w="1542847" h="1437503">
                  <a:moveTo>
                    <a:pt x="22467" y="0"/>
                  </a:moveTo>
                  <a:lnTo>
                    <a:pt x="1520380" y="0"/>
                  </a:lnTo>
                  <a:cubicBezTo>
                    <a:pt x="1526339" y="0"/>
                    <a:pt x="1532053" y="2367"/>
                    <a:pt x="1536267" y="6580"/>
                  </a:cubicBezTo>
                  <a:cubicBezTo>
                    <a:pt x="1540480" y="10794"/>
                    <a:pt x="1542847" y="16509"/>
                    <a:pt x="1542847" y="22467"/>
                  </a:cubicBezTo>
                  <a:lnTo>
                    <a:pt x="1542847" y="1415036"/>
                  </a:lnTo>
                  <a:cubicBezTo>
                    <a:pt x="1542847" y="1420995"/>
                    <a:pt x="1540480" y="1426709"/>
                    <a:pt x="1536267" y="1430923"/>
                  </a:cubicBezTo>
                  <a:cubicBezTo>
                    <a:pt x="1532053" y="1435136"/>
                    <a:pt x="1526339" y="1437503"/>
                    <a:pt x="1520380" y="1437503"/>
                  </a:cubicBezTo>
                  <a:lnTo>
                    <a:pt x="22467" y="1437503"/>
                  </a:lnTo>
                  <a:cubicBezTo>
                    <a:pt x="16509" y="1437503"/>
                    <a:pt x="10794" y="1435136"/>
                    <a:pt x="6580" y="1430923"/>
                  </a:cubicBezTo>
                  <a:cubicBezTo>
                    <a:pt x="2367" y="1426709"/>
                    <a:pt x="0" y="1420995"/>
                    <a:pt x="0" y="1415036"/>
                  </a:cubicBezTo>
                  <a:lnTo>
                    <a:pt x="0" y="22467"/>
                  </a:lnTo>
                  <a:cubicBezTo>
                    <a:pt x="0" y="16509"/>
                    <a:pt x="2367" y="10794"/>
                    <a:pt x="6580" y="6580"/>
                  </a:cubicBezTo>
                  <a:cubicBezTo>
                    <a:pt x="10794" y="2367"/>
                    <a:pt x="16509" y="0"/>
                    <a:pt x="22467" y="0"/>
                  </a:cubicBezTo>
                  <a:close/>
                </a:path>
              </a:pathLst>
            </a:custGeom>
            <a:solidFill>
              <a:srgbClr val="C9E8F7"/>
            </a:solidFill>
          </p:spPr>
        </p:sp>
        <p:sp>
          <p:nvSpPr>
            <p:cNvPr id="23" name="TextBox 23"/>
            <p:cNvSpPr txBox="1"/>
            <p:nvPr/>
          </p:nvSpPr>
          <p:spPr>
            <a:xfrm>
              <a:off x="0" y="-47625"/>
              <a:ext cx="1542847" cy="148512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60"/>
                </a:lnSpc>
              </a:pP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7440731" y="4423483"/>
            <a:ext cx="3086100" cy="787937"/>
            <a:chOff x="0" y="0"/>
            <a:chExt cx="812800" cy="207523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812800" cy="207523"/>
            </a:xfrm>
            <a:custGeom>
              <a:avLst/>
              <a:gdLst/>
              <a:ahLst/>
              <a:cxnLst/>
              <a:rect l="l" t="t" r="r" b="b"/>
              <a:pathLst>
                <a:path w="812800" h="207523">
                  <a:moveTo>
                    <a:pt x="42647" y="0"/>
                  </a:moveTo>
                  <a:lnTo>
                    <a:pt x="770153" y="0"/>
                  </a:lnTo>
                  <a:cubicBezTo>
                    <a:pt x="781464" y="0"/>
                    <a:pt x="792311" y="4493"/>
                    <a:pt x="800309" y="12491"/>
                  </a:cubicBezTo>
                  <a:cubicBezTo>
                    <a:pt x="808307" y="20489"/>
                    <a:pt x="812800" y="31336"/>
                    <a:pt x="812800" y="42647"/>
                  </a:cubicBezTo>
                  <a:lnTo>
                    <a:pt x="812800" y="164876"/>
                  </a:lnTo>
                  <a:cubicBezTo>
                    <a:pt x="812800" y="188429"/>
                    <a:pt x="793706" y="207523"/>
                    <a:pt x="770153" y="207523"/>
                  </a:cubicBezTo>
                  <a:lnTo>
                    <a:pt x="42647" y="207523"/>
                  </a:lnTo>
                  <a:cubicBezTo>
                    <a:pt x="31336" y="207523"/>
                    <a:pt x="20489" y="203029"/>
                    <a:pt x="12491" y="195032"/>
                  </a:cubicBezTo>
                  <a:cubicBezTo>
                    <a:pt x="4493" y="187034"/>
                    <a:pt x="0" y="176186"/>
                    <a:pt x="0" y="164876"/>
                  </a:cubicBezTo>
                  <a:lnTo>
                    <a:pt x="0" y="42647"/>
                  </a:lnTo>
                  <a:cubicBezTo>
                    <a:pt x="0" y="31336"/>
                    <a:pt x="4493" y="20489"/>
                    <a:pt x="12491" y="12491"/>
                  </a:cubicBezTo>
                  <a:cubicBezTo>
                    <a:pt x="20489" y="4493"/>
                    <a:pt x="31336" y="0"/>
                    <a:pt x="42647" y="0"/>
                  </a:cubicBezTo>
                  <a:close/>
                </a:path>
              </a:pathLst>
            </a:custGeom>
            <a:solidFill>
              <a:srgbClr val="FDC128"/>
            </a:solidFill>
          </p:spPr>
        </p:sp>
        <p:sp>
          <p:nvSpPr>
            <p:cNvPr id="26" name="TextBox 26"/>
            <p:cNvSpPr txBox="1"/>
            <p:nvPr/>
          </p:nvSpPr>
          <p:spPr>
            <a:xfrm>
              <a:off x="0" y="-47625"/>
              <a:ext cx="812800" cy="2551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6202484" y="4299658"/>
            <a:ext cx="5413415" cy="49199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2800" b="1">
                <a:solidFill>
                  <a:srgbClr val="0D1826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Giảng viên</a:t>
            </a:r>
            <a:endParaRPr lang="en-US" sz="2800" b="1">
              <a:solidFill>
                <a:srgbClr val="0D1826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  <a:p>
            <a:pPr marL="561340" lvl="1" indent="-280670" algn="l">
              <a:lnSpc>
                <a:spcPts val="3900"/>
              </a:lnSpc>
              <a:buFont typeface="Arial" panose="020B0604020202020204"/>
              <a:buChar char="•"/>
            </a:pPr>
            <a:r>
              <a:rPr lang="en-US" sz="26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Quản lý khóa học: </a:t>
            </a:r>
            <a:r>
              <a:rPr lang="en-US" sz="260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tạo, sửa, xóa khóa học</a:t>
            </a:r>
            <a:endParaRPr lang="en-US" sz="260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  <a:p>
            <a:pPr marL="561340" lvl="1" indent="-280670" algn="l">
              <a:lnSpc>
                <a:spcPts val="3900"/>
              </a:lnSpc>
              <a:buFont typeface="Arial" panose="020B0604020202020204"/>
              <a:buChar char="•"/>
            </a:pPr>
            <a:r>
              <a:rPr lang="en-US" sz="26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Quản lý bài học: </a:t>
            </a:r>
            <a:r>
              <a:rPr lang="en-US" sz="260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thêm, sửa, xóa bài học</a:t>
            </a:r>
            <a:endParaRPr lang="en-US" sz="260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  <a:p>
            <a:pPr marL="561340" lvl="1" indent="-280670" algn="l">
              <a:lnSpc>
                <a:spcPts val="3900"/>
              </a:lnSpc>
              <a:buFont typeface="Arial" panose="020B0604020202020204"/>
              <a:buChar char="•"/>
            </a:pPr>
            <a:r>
              <a:rPr lang="en-US" sz="26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Quàn lý kiểm tra: </a:t>
            </a:r>
            <a:r>
              <a:rPr lang="en-US" sz="260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thêm, sửa, xóa bài kiểm </a:t>
            </a:r>
            <a:endParaRPr lang="en-US" sz="260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  <a:p>
            <a:pPr marL="561340" lvl="1" indent="-280670" algn="l">
              <a:lnSpc>
                <a:spcPts val="3900"/>
              </a:lnSpc>
              <a:buFont typeface="Arial" panose="020B0604020202020204"/>
              <a:buChar char="•"/>
            </a:pPr>
            <a:r>
              <a:rPr lang="en-US" sz="26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Theo dõi : </a:t>
            </a:r>
            <a:r>
              <a:rPr lang="en-US" sz="260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xem danh sách sinh viên tham gia khóa học</a:t>
            </a:r>
            <a:endParaRPr lang="en-US" sz="260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</p:txBody>
      </p:sp>
      <p:grpSp>
        <p:nvGrpSpPr>
          <p:cNvPr id="28" name="Group 28"/>
          <p:cNvGrpSpPr/>
          <p:nvPr/>
        </p:nvGrpSpPr>
        <p:grpSpPr>
          <a:xfrm>
            <a:off x="13436776" y="4423483"/>
            <a:ext cx="3086100" cy="787937"/>
            <a:chOff x="0" y="0"/>
            <a:chExt cx="812800" cy="207523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812800" cy="207523"/>
            </a:xfrm>
            <a:custGeom>
              <a:avLst/>
              <a:gdLst/>
              <a:ahLst/>
              <a:cxnLst/>
              <a:rect l="l" t="t" r="r" b="b"/>
              <a:pathLst>
                <a:path w="812800" h="207523">
                  <a:moveTo>
                    <a:pt x="42647" y="0"/>
                  </a:moveTo>
                  <a:lnTo>
                    <a:pt x="770153" y="0"/>
                  </a:lnTo>
                  <a:cubicBezTo>
                    <a:pt x="781464" y="0"/>
                    <a:pt x="792311" y="4493"/>
                    <a:pt x="800309" y="12491"/>
                  </a:cubicBezTo>
                  <a:cubicBezTo>
                    <a:pt x="808307" y="20489"/>
                    <a:pt x="812800" y="31336"/>
                    <a:pt x="812800" y="42647"/>
                  </a:cubicBezTo>
                  <a:lnTo>
                    <a:pt x="812800" y="164876"/>
                  </a:lnTo>
                  <a:cubicBezTo>
                    <a:pt x="812800" y="188429"/>
                    <a:pt x="793706" y="207523"/>
                    <a:pt x="770153" y="207523"/>
                  </a:cubicBezTo>
                  <a:lnTo>
                    <a:pt x="42647" y="207523"/>
                  </a:lnTo>
                  <a:cubicBezTo>
                    <a:pt x="31336" y="207523"/>
                    <a:pt x="20489" y="203029"/>
                    <a:pt x="12491" y="195032"/>
                  </a:cubicBezTo>
                  <a:cubicBezTo>
                    <a:pt x="4493" y="187034"/>
                    <a:pt x="0" y="176186"/>
                    <a:pt x="0" y="164876"/>
                  </a:cubicBezTo>
                  <a:lnTo>
                    <a:pt x="0" y="42647"/>
                  </a:lnTo>
                  <a:cubicBezTo>
                    <a:pt x="0" y="31336"/>
                    <a:pt x="4493" y="20489"/>
                    <a:pt x="12491" y="12491"/>
                  </a:cubicBezTo>
                  <a:cubicBezTo>
                    <a:pt x="20489" y="4493"/>
                    <a:pt x="31336" y="0"/>
                    <a:pt x="42647" y="0"/>
                  </a:cubicBezTo>
                  <a:close/>
                </a:path>
              </a:pathLst>
            </a:custGeom>
            <a:solidFill>
              <a:srgbClr val="FDC128"/>
            </a:solidFill>
          </p:spPr>
        </p:sp>
        <p:sp>
          <p:nvSpPr>
            <p:cNvPr id="30" name="TextBox 30"/>
            <p:cNvSpPr txBox="1"/>
            <p:nvPr/>
          </p:nvSpPr>
          <p:spPr>
            <a:xfrm>
              <a:off x="0" y="-47625"/>
              <a:ext cx="812800" cy="2551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12050827" y="4299658"/>
            <a:ext cx="5857998" cy="3929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2800" b="1">
                <a:solidFill>
                  <a:srgbClr val="0D1826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Quản trị viên</a:t>
            </a:r>
            <a:endParaRPr lang="en-US" sz="2800" b="1">
              <a:solidFill>
                <a:srgbClr val="0D1826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  <a:p>
            <a:pPr marL="561340" lvl="1" indent="-280670" algn="l">
              <a:lnSpc>
                <a:spcPts val="3900"/>
              </a:lnSpc>
              <a:buFont typeface="Arial" panose="020B0604020202020204"/>
              <a:buChar char="•"/>
            </a:pPr>
            <a:r>
              <a:rPr lang="en-US" sz="26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Quản lý người dùng : </a:t>
            </a:r>
            <a:r>
              <a:rPr lang="en-US" sz="260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quản lý toàn bộ danh sách người dùng</a:t>
            </a:r>
            <a:endParaRPr lang="en-US" sz="260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  <a:p>
            <a:pPr marL="561340" lvl="1" indent="-280670" algn="l">
              <a:lnSpc>
                <a:spcPts val="3900"/>
              </a:lnSpc>
              <a:buFont typeface="Arial" panose="020B0604020202020204"/>
              <a:buChar char="•"/>
            </a:pPr>
            <a:r>
              <a:rPr lang="en-US" sz="26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Quản lý hệ thống: </a:t>
            </a:r>
            <a:r>
              <a:rPr lang="en-US" sz="260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quản lý toàn bộ danh sách khóa học</a:t>
            </a:r>
            <a:endParaRPr lang="en-US" sz="260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  <a:p>
            <a:pPr marL="561340" lvl="1" indent="-280670" algn="l">
              <a:lnSpc>
                <a:spcPts val="3900"/>
              </a:lnSpc>
              <a:buFont typeface="Arial" panose="020B0604020202020204"/>
              <a:buChar char="•"/>
            </a:pPr>
            <a:r>
              <a:rPr lang="en-US" sz="26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Thống kê: </a:t>
            </a:r>
            <a:r>
              <a:rPr lang="en-US" sz="260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theo dõi dữ liệu của hệ thống</a:t>
            </a:r>
            <a:endParaRPr lang="en-US" sz="260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256807"/>
            <a:chOff x="0" y="0"/>
            <a:chExt cx="4816593" cy="33101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331011"/>
            </a:xfrm>
            <a:custGeom>
              <a:avLst/>
              <a:gdLst/>
              <a:ahLst/>
              <a:cxnLst/>
              <a:rect l="l" t="t" r="r" b="b"/>
              <a:pathLst>
                <a:path w="4816592" h="331011">
                  <a:moveTo>
                    <a:pt x="0" y="0"/>
                  </a:moveTo>
                  <a:lnTo>
                    <a:pt x="4816592" y="0"/>
                  </a:lnTo>
                  <a:lnTo>
                    <a:pt x="4816592" y="331011"/>
                  </a:lnTo>
                  <a:lnTo>
                    <a:pt x="0" y="331011"/>
                  </a:ln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816593" cy="3786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</a:p>
          </p:txBody>
        </p:sp>
      </p:grpSp>
      <p:grpSp>
        <p:nvGrpSpPr>
          <p:cNvPr id="5" name="Group 5"/>
          <p:cNvGrpSpPr>
            <a:grpSpLocks noChangeAspect="1"/>
          </p:cNvGrpSpPr>
          <p:nvPr/>
        </p:nvGrpSpPr>
        <p:grpSpPr>
          <a:xfrm>
            <a:off x="6999417" y="3294189"/>
            <a:ext cx="9828664" cy="5391821"/>
            <a:chOff x="0" y="0"/>
            <a:chExt cx="5908040" cy="3241040"/>
          </a:xfrm>
        </p:grpSpPr>
        <p:sp>
          <p:nvSpPr>
            <p:cNvPr id="6" name="Freeform 6"/>
            <p:cNvSpPr/>
            <p:nvPr/>
          </p:nvSpPr>
          <p:spPr>
            <a:xfrm>
              <a:off x="10160" y="12700"/>
              <a:ext cx="5895340" cy="186690"/>
            </a:xfrm>
            <a:custGeom>
              <a:avLst/>
              <a:gdLst/>
              <a:ahLst/>
              <a:cxnLst/>
              <a:rect l="l" t="t" r="r" b="b"/>
              <a:pathLst>
                <a:path w="5895340" h="186690">
                  <a:moveTo>
                    <a:pt x="0" y="186690"/>
                  </a:moveTo>
                  <a:lnTo>
                    <a:pt x="0" y="127000"/>
                  </a:lnTo>
                  <a:cubicBezTo>
                    <a:pt x="0" y="57150"/>
                    <a:pt x="57150" y="0"/>
                    <a:pt x="127000" y="0"/>
                  </a:cubicBezTo>
                  <a:lnTo>
                    <a:pt x="5768340" y="0"/>
                  </a:lnTo>
                  <a:cubicBezTo>
                    <a:pt x="5838190" y="0"/>
                    <a:pt x="5895340" y="57150"/>
                    <a:pt x="5895340" y="127000"/>
                  </a:cubicBezTo>
                  <a:lnTo>
                    <a:pt x="5895340" y="186690"/>
                  </a:lnTo>
                  <a:cubicBezTo>
                    <a:pt x="5895340" y="186690"/>
                    <a:pt x="0" y="186690"/>
                    <a:pt x="0" y="186690"/>
                  </a:cubicBezTo>
                  <a:close/>
                </a:path>
              </a:pathLst>
            </a:custGeom>
            <a:solidFill>
              <a:srgbClr val="F8DB52"/>
            </a:solidFill>
          </p:spPr>
        </p:sp>
        <p:sp>
          <p:nvSpPr>
            <p:cNvPr id="7" name="Freeform 7"/>
            <p:cNvSpPr/>
            <p:nvPr/>
          </p:nvSpPr>
          <p:spPr>
            <a:xfrm>
              <a:off x="6350" y="193040"/>
              <a:ext cx="5895340" cy="3041650"/>
            </a:xfrm>
            <a:custGeom>
              <a:avLst/>
              <a:gdLst/>
              <a:ahLst/>
              <a:cxnLst/>
              <a:rect l="l" t="t" r="r" b="b"/>
              <a:pathLst>
                <a:path w="5895340" h="3041650">
                  <a:moveTo>
                    <a:pt x="5768340" y="3041650"/>
                  </a:moveTo>
                  <a:lnTo>
                    <a:pt x="127000" y="3041650"/>
                  </a:lnTo>
                  <a:cubicBezTo>
                    <a:pt x="57150" y="3041650"/>
                    <a:pt x="0" y="2984500"/>
                    <a:pt x="0" y="2914650"/>
                  </a:cubicBezTo>
                  <a:lnTo>
                    <a:pt x="0" y="0"/>
                  </a:lnTo>
                  <a:lnTo>
                    <a:pt x="5895340" y="0"/>
                  </a:lnTo>
                  <a:lnTo>
                    <a:pt x="5895340" y="2914650"/>
                  </a:lnTo>
                  <a:cubicBezTo>
                    <a:pt x="5895340" y="2985770"/>
                    <a:pt x="5838190" y="3041650"/>
                    <a:pt x="5768340" y="3041650"/>
                  </a:cubicBezTo>
                  <a:close/>
                </a:path>
              </a:pathLst>
            </a:custGeom>
            <a:blipFill>
              <a:blip r:embed="rId1"/>
              <a:stretch>
                <a:fillRect t="-2716" b="-59959"/>
              </a:stretch>
            </a:blipFill>
          </p:spPr>
          <p:txBody>
            <a:bodyPr/>
            <a:lstStyle/>
            <a:p>
              <a:endParaRPr lang="vi-VN" dirty="0"/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0"/>
              <a:ext cx="5908040" cy="3241040"/>
            </a:xfrm>
            <a:custGeom>
              <a:avLst/>
              <a:gdLst/>
              <a:ahLst/>
              <a:cxnLst/>
              <a:rect l="l" t="t" r="r" b="b"/>
              <a:pathLst>
                <a:path w="5908040" h="3241040">
                  <a:moveTo>
                    <a:pt x="5774690" y="0"/>
                  </a:moveTo>
                  <a:lnTo>
                    <a:pt x="133350" y="0"/>
                  </a:lnTo>
                  <a:cubicBezTo>
                    <a:pt x="59690" y="0"/>
                    <a:pt x="0" y="59690"/>
                    <a:pt x="0" y="133350"/>
                  </a:cubicBezTo>
                  <a:lnTo>
                    <a:pt x="0" y="3107690"/>
                  </a:lnTo>
                  <a:cubicBezTo>
                    <a:pt x="0" y="3181350"/>
                    <a:pt x="59690" y="3241040"/>
                    <a:pt x="133350" y="3241040"/>
                  </a:cubicBezTo>
                  <a:lnTo>
                    <a:pt x="5774690" y="3241040"/>
                  </a:lnTo>
                  <a:cubicBezTo>
                    <a:pt x="5848350" y="3241040"/>
                    <a:pt x="5908040" y="3181350"/>
                    <a:pt x="5908040" y="3107690"/>
                  </a:cubicBezTo>
                  <a:lnTo>
                    <a:pt x="5908040" y="133350"/>
                  </a:lnTo>
                  <a:cubicBezTo>
                    <a:pt x="5908040" y="59690"/>
                    <a:pt x="5848350" y="0"/>
                    <a:pt x="5774690" y="0"/>
                  </a:cubicBezTo>
                  <a:close/>
                  <a:moveTo>
                    <a:pt x="5895340" y="3107690"/>
                  </a:moveTo>
                  <a:cubicBezTo>
                    <a:pt x="5895340" y="3175000"/>
                    <a:pt x="5842000" y="3228340"/>
                    <a:pt x="5774690" y="3228340"/>
                  </a:cubicBezTo>
                  <a:lnTo>
                    <a:pt x="133350" y="3228340"/>
                  </a:lnTo>
                  <a:cubicBezTo>
                    <a:pt x="67310" y="3228340"/>
                    <a:pt x="12700" y="3173730"/>
                    <a:pt x="12700" y="3107690"/>
                  </a:cubicBezTo>
                  <a:lnTo>
                    <a:pt x="12700" y="199390"/>
                  </a:lnTo>
                  <a:lnTo>
                    <a:pt x="5895340" y="199390"/>
                  </a:lnTo>
                  <a:lnTo>
                    <a:pt x="5895340" y="3107690"/>
                  </a:lnTo>
                  <a:close/>
                  <a:moveTo>
                    <a:pt x="5895340" y="186690"/>
                  </a:moveTo>
                  <a:lnTo>
                    <a:pt x="12700" y="186690"/>
                  </a:lnTo>
                  <a:lnTo>
                    <a:pt x="12700" y="133350"/>
                  </a:lnTo>
                  <a:cubicBezTo>
                    <a:pt x="12700" y="67310"/>
                    <a:pt x="67310" y="12700"/>
                    <a:pt x="133350" y="12700"/>
                  </a:cubicBezTo>
                  <a:lnTo>
                    <a:pt x="5774690" y="12700"/>
                  </a:lnTo>
                  <a:cubicBezTo>
                    <a:pt x="5840730" y="12700"/>
                    <a:pt x="5895340" y="67310"/>
                    <a:pt x="5895340" y="133350"/>
                  </a:cubicBezTo>
                  <a:lnTo>
                    <a:pt x="5895340" y="18669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" name="Freeform 9"/>
            <p:cNvSpPr/>
            <p:nvPr/>
          </p:nvSpPr>
          <p:spPr>
            <a:xfrm>
              <a:off x="149860" y="73660"/>
              <a:ext cx="299720" cy="63500"/>
            </a:xfrm>
            <a:custGeom>
              <a:avLst/>
              <a:gdLst/>
              <a:ahLst/>
              <a:cxnLst/>
              <a:rect l="l" t="t" r="r" b="b"/>
              <a:pathLst>
                <a:path w="299720" h="63500">
                  <a:moveTo>
                    <a:pt x="118110" y="0"/>
                  </a:moveTo>
                  <a:lnTo>
                    <a:pt x="181610" y="0"/>
                  </a:lnTo>
                  <a:lnTo>
                    <a:pt x="181610" y="63500"/>
                  </a:lnTo>
                  <a:lnTo>
                    <a:pt x="118110" y="63500"/>
                  </a:lnTo>
                  <a:lnTo>
                    <a:pt x="118110" y="0"/>
                  </a:lnTo>
                  <a:close/>
                  <a:moveTo>
                    <a:pt x="31750" y="0"/>
                  </a:moveTo>
                  <a:cubicBezTo>
                    <a:pt x="49530" y="0"/>
                    <a:pt x="63500" y="13970"/>
                    <a:pt x="63500" y="31750"/>
                  </a:cubicBezTo>
                  <a:cubicBezTo>
                    <a:pt x="63500" y="49530"/>
                    <a:pt x="49530" y="63500"/>
                    <a:pt x="31750" y="63500"/>
                  </a:cubicBezTo>
                  <a:cubicBezTo>
                    <a:pt x="13970" y="63500"/>
                    <a:pt x="0" y="49530"/>
                    <a:pt x="0" y="31750"/>
                  </a:cubicBezTo>
                  <a:cubicBezTo>
                    <a:pt x="0" y="13970"/>
                    <a:pt x="13970" y="0"/>
                    <a:pt x="31750" y="0"/>
                  </a:cubicBezTo>
                  <a:close/>
                  <a:moveTo>
                    <a:pt x="267970" y="0"/>
                  </a:moveTo>
                  <a:lnTo>
                    <a:pt x="236220" y="63500"/>
                  </a:lnTo>
                  <a:lnTo>
                    <a:pt x="299720" y="63500"/>
                  </a:lnTo>
                  <a:lnTo>
                    <a:pt x="267970" y="0"/>
                  </a:lnTo>
                  <a:close/>
                </a:path>
              </a:pathLst>
            </a:custGeom>
            <a:solidFill>
              <a:srgbClr val="484FA2"/>
            </a:solidFill>
          </p:spPr>
        </p:sp>
        <p:sp>
          <p:nvSpPr>
            <p:cNvPr id="10" name="Freeform 10"/>
            <p:cNvSpPr/>
            <p:nvPr/>
          </p:nvSpPr>
          <p:spPr>
            <a:xfrm>
              <a:off x="591820" y="88900"/>
              <a:ext cx="5175250" cy="33020"/>
            </a:xfrm>
            <a:custGeom>
              <a:avLst/>
              <a:gdLst/>
              <a:ahLst/>
              <a:cxnLst/>
              <a:rect l="l" t="t" r="r" b="b"/>
              <a:pathLst>
                <a:path w="5175250" h="33020">
                  <a:moveTo>
                    <a:pt x="5158740" y="33020"/>
                  </a:moveTo>
                  <a:lnTo>
                    <a:pt x="16510" y="33020"/>
                  </a:lnTo>
                  <a:cubicBezTo>
                    <a:pt x="7620" y="33020"/>
                    <a:pt x="0" y="25400"/>
                    <a:pt x="0" y="16510"/>
                  </a:cubicBezTo>
                  <a:lnTo>
                    <a:pt x="0" y="16510"/>
                  </a:lnTo>
                  <a:cubicBezTo>
                    <a:pt x="0" y="7620"/>
                    <a:pt x="7620" y="0"/>
                    <a:pt x="16510" y="0"/>
                  </a:cubicBezTo>
                  <a:lnTo>
                    <a:pt x="5158740" y="0"/>
                  </a:lnTo>
                  <a:cubicBezTo>
                    <a:pt x="5167630" y="0"/>
                    <a:pt x="5175250" y="7620"/>
                    <a:pt x="5175250" y="16510"/>
                  </a:cubicBezTo>
                  <a:lnTo>
                    <a:pt x="5175250" y="16510"/>
                  </a:lnTo>
                  <a:cubicBezTo>
                    <a:pt x="5173980" y="25400"/>
                    <a:pt x="5167630" y="33020"/>
                    <a:pt x="5158740" y="33020"/>
                  </a:cubicBezTo>
                  <a:close/>
                </a:path>
              </a:pathLst>
            </a:custGeom>
            <a:solidFill>
              <a:srgbClr val="F26D6F"/>
            </a:solidFill>
          </p:spPr>
        </p:sp>
      </p:grpSp>
      <p:sp>
        <p:nvSpPr>
          <p:cNvPr id="11" name="TextBox 11"/>
          <p:cNvSpPr txBox="1"/>
          <p:nvPr/>
        </p:nvSpPr>
        <p:spPr>
          <a:xfrm>
            <a:off x="5188863" y="75565"/>
            <a:ext cx="6988493" cy="953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sz="5600" b="1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3. Kết quả đạt được</a:t>
            </a:r>
            <a:endParaRPr lang="en-US" sz="5600" b="1">
              <a:solidFill>
                <a:srgbClr val="F4B342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789069" y="1496971"/>
            <a:ext cx="10826830" cy="6699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600"/>
              </a:lnSpc>
              <a:spcBef>
                <a:spcPct val="0"/>
              </a:spcBef>
            </a:pPr>
            <a:r>
              <a:rPr lang="en-US" sz="4000" b="1">
                <a:solidFill>
                  <a:srgbClr val="360185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Trải nghiệm học tập của sinh viên</a:t>
            </a:r>
            <a:endParaRPr lang="en-US" sz="4000" b="1">
              <a:solidFill>
                <a:srgbClr val="360185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774502" y="2255964"/>
            <a:ext cx="15309890" cy="504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Giao diện trực quan, giúp sinh viên dễ dàng tìm kiếm, tham gia và theo dõi tiến độ học tập</a:t>
            </a:r>
            <a:endParaRPr lang="en-US" sz="300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2899889" y="6063489"/>
            <a:ext cx="4400686" cy="25046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5" name="TextBox 15"/>
          <p:cNvSpPr txBox="1"/>
          <p:nvPr/>
        </p:nvSpPr>
        <p:spPr>
          <a:xfrm>
            <a:off x="1028700" y="5584335"/>
            <a:ext cx="4400686" cy="39017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360"/>
              </a:lnSpc>
              <a:spcBef>
                <a:spcPct val="0"/>
              </a:spcBef>
            </a:pP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Lọc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khóa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học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theo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năm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học</a:t>
            </a:r>
            <a:endParaRPr lang="en-US" sz="2400" b="1" dirty="0">
              <a:solidFill>
                <a:srgbClr val="000000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256807"/>
            <a:chOff x="0" y="0"/>
            <a:chExt cx="4816593" cy="33101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331011"/>
            </a:xfrm>
            <a:custGeom>
              <a:avLst/>
              <a:gdLst/>
              <a:ahLst/>
              <a:cxnLst/>
              <a:rect l="l" t="t" r="r" b="b"/>
              <a:pathLst>
                <a:path w="4816592" h="331011">
                  <a:moveTo>
                    <a:pt x="0" y="0"/>
                  </a:moveTo>
                  <a:lnTo>
                    <a:pt x="4816592" y="0"/>
                  </a:lnTo>
                  <a:lnTo>
                    <a:pt x="4816592" y="331011"/>
                  </a:lnTo>
                  <a:lnTo>
                    <a:pt x="0" y="331011"/>
                  </a:ln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816593" cy="3786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</a:p>
          </p:txBody>
        </p:sp>
      </p:grpSp>
      <p:grpSp>
        <p:nvGrpSpPr>
          <p:cNvPr id="5" name="Group 5"/>
          <p:cNvGrpSpPr>
            <a:grpSpLocks noChangeAspect="1"/>
          </p:cNvGrpSpPr>
          <p:nvPr/>
        </p:nvGrpSpPr>
        <p:grpSpPr>
          <a:xfrm>
            <a:off x="6999417" y="3294189"/>
            <a:ext cx="9828664" cy="5391821"/>
            <a:chOff x="0" y="0"/>
            <a:chExt cx="5908040" cy="3241040"/>
          </a:xfrm>
        </p:grpSpPr>
        <p:sp>
          <p:nvSpPr>
            <p:cNvPr id="6" name="Freeform 6"/>
            <p:cNvSpPr/>
            <p:nvPr/>
          </p:nvSpPr>
          <p:spPr>
            <a:xfrm>
              <a:off x="10160" y="12700"/>
              <a:ext cx="5895340" cy="186690"/>
            </a:xfrm>
            <a:custGeom>
              <a:avLst/>
              <a:gdLst/>
              <a:ahLst/>
              <a:cxnLst/>
              <a:rect l="l" t="t" r="r" b="b"/>
              <a:pathLst>
                <a:path w="5895340" h="186690">
                  <a:moveTo>
                    <a:pt x="0" y="186690"/>
                  </a:moveTo>
                  <a:lnTo>
                    <a:pt x="0" y="127000"/>
                  </a:lnTo>
                  <a:cubicBezTo>
                    <a:pt x="0" y="57150"/>
                    <a:pt x="57150" y="0"/>
                    <a:pt x="127000" y="0"/>
                  </a:cubicBezTo>
                  <a:lnTo>
                    <a:pt x="5768340" y="0"/>
                  </a:lnTo>
                  <a:cubicBezTo>
                    <a:pt x="5838190" y="0"/>
                    <a:pt x="5895340" y="57150"/>
                    <a:pt x="5895340" y="127000"/>
                  </a:cubicBezTo>
                  <a:lnTo>
                    <a:pt x="5895340" y="186690"/>
                  </a:lnTo>
                  <a:cubicBezTo>
                    <a:pt x="5895340" y="186690"/>
                    <a:pt x="0" y="186690"/>
                    <a:pt x="0" y="186690"/>
                  </a:cubicBezTo>
                  <a:close/>
                </a:path>
              </a:pathLst>
            </a:custGeom>
            <a:solidFill>
              <a:srgbClr val="F8DB52"/>
            </a:solidFill>
          </p:spPr>
        </p:sp>
        <p:sp>
          <p:nvSpPr>
            <p:cNvPr id="7" name="Freeform 7"/>
            <p:cNvSpPr/>
            <p:nvPr/>
          </p:nvSpPr>
          <p:spPr>
            <a:xfrm>
              <a:off x="6350" y="193040"/>
              <a:ext cx="5895340" cy="3041650"/>
            </a:xfrm>
            <a:custGeom>
              <a:avLst/>
              <a:gdLst/>
              <a:ahLst/>
              <a:cxnLst/>
              <a:rect l="l" t="t" r="r" b="b"/>
              <a:pathLst>
                <a:path w="5895340" h="3041650">
                  <a:moveTo>
                    <a:pt x="5768340" y="3041650"/>
                  </a:moveTo>
                  <a:lnTo>
                    <a:pt x="127000" y="3041650"/>
                  </a:lnTo>
                  <a:cubicBezTo>
                    <a:pt x="57150" y="3041650"/>
                    <a:pt x="0" y="2984500"/>
                    <a:pt x="0" y="2914650"/>
                  </a:cubicBezTo>
                  <a:lnTo>
                    <a:pt x="0" y="0"/>
                  </a:lnTo>
                  <a:lnTo>
                    <a:pt x="5895340" y="0"/>
                  </a:lnTo>
                  <a:lnTo>
                    <a:pt x="5895340" y="2914650"/>
                  </a:lnTo>
                  <a:cubicBezTo>
                    <a:pt x="5895340" y="2985770"/>
                    <a:pt x="5838190" y="3041650"/>
                    <a:pt x="5768340" y="3041650"/>
                  </a:cubicBezTo>
                  <a:close/>
                </a:path>
              </a:pathLst>
            </a:custGeom>
            <a:blipFill>
              <a:blip r:embed="rId1"/>
              <a:stretch>
                <a:fillRect b="-23802"/>
              </a:stretch>
            </a:blipFill>
          </p:spPr>
        </p:sp>
        <p:sp>
          <p:nvSpPr>
            <p:cNvPr id="8" name="Freeform 8"/>
            <p:cNvSpPr/>
            <p:nvPr/>
          </p:nvSpPr>
          <p:spPr>
            <a:xfrm>
              <a:off x="0" y="0"/>
              <a:ext cx="5908040" cy="3241040"/>
            </a:xfrm>
            <a:custGeom>
              <a:avLst/>
              <a:gdLst/>
              <a:ahLst/>
              <a:cxnLst/>
              <a:rect l="l" t="t" r="r" b="b"/>
              <a:pathLst>
                <a:path w="5908040" h="3241040">
                  <a:moveTo>
                    <a:pt x="5774690" y="0"/>
                  </a:moveTo>
                  <a:lnTo>
                    <a:pt x="133350" y="0"/>
                  </a:lnTo>
                  <a:cubicBezTo>
                    <a:pt x="59690" y="0"/>
                    <a:pt x="0" y="59690"/>
                    <a:pt x="0" y="133350"/>
                  </a:cubicBezTo>
                  <a:lnTo>
                    <a:pt x="0" y="3107690"/>
                  </a:lnTo>
                  <a:cubicBezTo>
                    <a:pt x="0" y="3181350"/>
                    <a:pt x="59690" y="3241040"/>
                    <a:pt x="133350" y="3241040"/>
                  </a:cubicBezTo>
                  <a:lnTo>
                    <a:pt x="5774690" y="3241040"/>
                  </a:lnTo>
                  <a:cubicBezTo>
                    <a:pt x="5848350" y="3241040"/>
                    <a:pt x="5908040" y="3181350"/>
                    <a:pt x="5908040" y="3107690"/>
                  </a:cubicBezTo>
                  <a:lnTo>
                    <a:pt x="5908040" y="133350"/>
                  </a:lnTo>
                  <a:cubicBezTo>
                    <a:pt x="5908040" y="59690"/>
                    <a:pt x="5848350" y="0"/>
                    <a:pt x="5774690" y="0"/>
                  </a:cubicBezTo>
                  <a:close/>
                  <a:moveTo>
                    <a:pt x="5895340" y="3107690"/>
                  </a:moveTo>
                  <a:cubicBezTo>
                    <a:pt x="5895340" y="3175000"/>
                    <a:pt x="5842000" y="3228340"/>
                    <a:pt x="5774690" y="3228340"/>
                  </a:cubicBezTo>
                  <a:lnTo>
                    <a:pt x="133350" y="3228340"/>
                  </a:lnTo>
                  <a:cubicBezTo>
                    <a:pt x="67310" y="3228340"/>
                    <a:pt x="12700" y="3173730"/>
                    <a:pt x="12700" y="3107690"/>
                  </a:cubicBezTo>
                  <a:lnTo>
                    <a:pt x="12700" y="199390"/>
                  </a:lnTo>
                  <a:lnTo>
                    <a:pt x="5895340" y="199390"/>
                  </a:lnTo>
                  <a:lnTo>
                    <a:pt x="5895340" y="3107690"/>
                  </a:lnTo>
                  <a:close/>
                  <a:moveTo>
                    <a:pt x="5895340" y="186690"/>
                  </a:moveTo>
                  <a:lnTo>
                    <a:pt x="12700" y="186690"/>
                  </a:lnTo>
                  <a:lnTo>
                    <a:pt x="12700" y="133350"/>
                  </a:lnTo>
                  <a:cubicBezTo>
                    <a:pt x="12700" y="67310"/>
                    <a:pt x="67310" y="12700"/>
                    <a:pt x="133350" y="12700"/>
                  </a:cubicBezTo>
                  <a:lnTo>
                    <a:pt x="5774690" y="12700"/>
                  </a:lnTo>
                  <a:cubicBezTo>
                    <a:pt x="5840730" y="12700"/>
                    <a:pt x="5895340" y="67310"/>
                    <a:pt x="5895340" y="133350"/>
                  </a:cubicBezTo>
                  <a:lnTo>
                    <a:pt x="5895340" y="18669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" name="Freeform 9"/>
            <p:cNvSpPr/>
            <p:nvPr/>
          </p:nvSpPr>
          <p:spPr>
            <a:xfrm>
              <a:off x="149860" y="73660"/>
              <a:ext cx="299720" cy="63500"/>
            </a:xfrm>
            <a:custGeom>
              <a:avLst/>
              <a:gdLst/>
              <a:ahLst/>
              <a:cxnLst/>
              <a:rect l="l" t="t" r="r" b="b"/>
              <a:pathLst>
                <a:path w="299720" h="63500">
                  <a:moveTo>
                    <a:pt x="118110" y="0"/>
                  </a:moveTo>
                  <a:lnTo>
                    <a:pt x="181610" y="0"/>
                  </a:lnTo>
                  <a:lnTo>
                    <a:pt x="181610" y="63500"/>
                  </a:lnTo>
                  <a:lnTo>
                    <a:pt x="118110" y="63500"/>
                  </a:lnTo>
                  <a:lnTo>
                    <a:pt x="118110" y="0"/>
                  </a:lnTo>
                  <a:close/>
                  <a:moveTo>
                    <a:pt x="31750" y="0"/>
                  </a:moveTo>
                  <a:cubicBezTo>
                    <a:pt x="49530" y="0"/>
                    <a:pt x="63500" y="13970"/>
                    <a:pt x="63500" y="31750"/>
                  </a:cubicBezTo>
                  <a:cubicBezTo>
                    <a:pt x="63500" y="49530"/>
                    <a:pt x="49530" y="63500"/>
                    <a:pt x="31750" y="63500"/>
                  </a:cubicBezTo>
                  <a:cubicBezTo>
                    <a:pt x="13970" y="63500"/>
                    <a:pt x="0" y="49530"/>
                    <a:pt x="0" y="31750"/>
                  </a:cubicBezTo>
                  <a:cubicBezTo>
                    <a:pt x="0" y="13970"/>
                    <a:pt x="13970" y="0"/>
                    <a:pt x="31750" y="0"/>
                  </a:cubicBezTo>
                  <a:close/>
                  <a:moveTo>
                    <a:pt x="267970" y="0"/>
                  </a:moveTo>
                  <a:lnTo>
                    <a:pt x="236220" y="63500"/>
                  </a:lnTo>
                  <a:lnTo>
                    <a:pt x="299720" y="63500"/>
                  </a:lnTo>
                  <a:lnTo>
                    <a:pt x="267970" y="0"/>
                  </a:lnTo>
                  <a:close/>
                </a:path>
              </a:pathLst>
            </a:custGeom>
            <a:solidFill>
              <a:srgbClr val="484FA2"/>
            </a:solidFill>
          </p:spPr>
        </p:sp>
        <p:sp>
          <p:nvSpPr>
            <p:cNvPr id="10" name="Freeform 10"/>
            <p:cNvSpPr/>
            <p:nvPr/>
          </p:nvSpPr>
          <p:spPr>
            <a:xfrm>
              <a:off x="591820" y="88900"/>
              <a:ext cx="5175250" cy="33020"/>
            </a:xfrm>
            <a:custGeom>
              <a:avLst/>
              <a:gdLst/>
              <a:ahLst/>
              <a:cxnLst/>
              <a:rect l="l" t="t" r="r" b="b"/>
              <a:pathLst>
                <a:path w="5175250" h="33020">
                  <a:moveTo>
                    <a:pt x="5158740" y="33020"/>
                  </a:moveTo>
                  <a:lnTo>
                    <a:pt x="16510" y="33020"/>
                  </a:lnTo>
                  <a:cubicBezTo>
                    <a:pt x="7620" y="33020"/>
                    <a:pt x="0" y="25400"/>
                    <a:pt x="0" y="16510"/>
                  </a:cubicBezTo>
                  <a:lnTo>
                    <a:pt x="0" y="16510"/>
                  </a:lnTo>
                  <a:cubicBezTo>
                    <a:pt x="0" y="7620"/>
                    <a:pt x="7620" y="0"/>
                    <a:pt x="16510" y="0"/>
                  </a:cubicBezTo>
                  <a:lnTo>
                    <a:pt x="5158740" y="0"/>
                  </a:lnTo>
                  <a:cubicBezTo>
                    <a:pt x="5167630" y="0"/>
                    <a:pt x="5175250" y="7620"/>
                    <a:pt x="5175250" y="16510"/>
                  </a:cubicBezTo>
                  <a:lnTo>
                    <a:pt x="5175250" y="16510"/>
                  </a:lnTo>
                  <a:cubicBezTo>
                    <a:pt x="5173980" y="25400"/>
                    <a:pt x="5167630" y="33020"/>
                    <a:pt x="5158740" y="33020"/>
                  </a:cubicBezTo>
                  <a:close/>
                </a:path>
              </a:pathLst>
            </a:custGeom>
            <a:solidFill>
              <a:srgbClr val="F26D6F"/>
            </a:solidFill>
          </p:spPr>
        </p:sp>
      </p:grpSp>
      <p:sp>
        <p:nvSpPr>
          <p:cNvPr id="11" name="AutoShape 11"/>
          <p:cNvSpPr/>
          <p:nvPr/>
        </p:nvSpPr>
        <p:spPr>
          <a:xfrm>
            <a:off x="3381545" y="5729208"/>
            <a:ext cx="4323621" cy="4056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2" name="TextBox 12"/>
          <p:cNvSpPr txBox="1"/>
          <p:nvPr/>
        </p:nvSpPr>
        <p:spPr>
          <a:xfrm>
            <a:off x="5188863" y="75565"/>
            <a:ext cx="6988493" cy="953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sz="5600" b="1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3. Kết quả đạt được</a:t>
            </a:r>
            <a:endParaRPr lang="en-US" sz="5600" b="1">
              <a:solidFill>
                <a:srgbClr val="F4B342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789069" y="1496971"/>
            <a:ext cx="10826830" cy="6699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600"/>
              </a:lnSpc>
              <a:spcBef>
                <a:spcPct val="0"/>
              </a:spcBef>
            </a:pPr>
            <a:r>
              <a:rPr lang="en-US" sz="4000" b="1">
                <a:solidFill>
                  <a:srgbClr val="360185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Trải nghiệm học tập của sinh viên</a:t>
            </a:r>
            <a:endParaRPr lang="en-US" sz="4000" b="1">
              <a:solidFill>
                <a:srgbClr val="360185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774501" y="2255964"/>
            <a:ext cx="15819061" cy="4829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Giao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diện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trực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quan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,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giúp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sinh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viên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dễ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dàng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tìm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kiếm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,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tham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gia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và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theo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dõi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tiến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độ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học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tập</a:t>
            </a:r>
            <a:endParaRPr lang="en-US" sz="3000" dirty="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232586" y="4904343"/>
            <a:ext cx="4406214" cy="8248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360"/>
              </a:lnSpc>
            </a:pP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Theo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dõi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tiến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độ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hoàn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thành</a:t>
            </a:r>
            <a:endParaRPr lang="en-US" sz="2400" b="1" dirty="0">
              <a:solidFill>
                <a:srgbClr val="000000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  <a:p>
            <a:pPr>
              <a:lnSpc>
                <a:spcPts val="3360"/>
              </a:lnSpc>
              <a:spcBef>
                <a:spcPct val="0"/>
              </a:spcBef>
            </a:pP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qua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thanh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trạng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thái</a:t>
            </a:r>
            <a:endParaRPr lang="en-US" sz="2400" b="1" dirty="0">
              <a:solidFill>
                <a:srgbClr val="000000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256807"/>
            <a:chOff x="0" y="0"/>
            <a:chExt cx="4816593" cy="33101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331011"/>
            </a:xfrm>
            <a:custGeom>
              <a:avLst/>
              <a:gdLst/>
              <a:ahLst/>
              <a:cxnLst/>
              <a:rect l="l" t="t" r="r" b="b"/>
              <a:pathLst>
                <a:path w="4816592" h="331011">
                  <a:moveTo>
                    <a:pt x="0" y="0"/>
                  </a:moveTo>
                  <a:lnTo>
                    <a:pt x="4816592" y="0"/>
                  </a:lnTo>
                  <a:lnTo>
                    <a:pt x="4816592" y="331011"/>
                  </a:lnTo>
                  <a:lnTo>
                    <a:pt x="0" y="331011"/>
                  </a:ln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816593" cy="3786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</a:p>
          </p:txBody>
        </p:sp>
      </p:grpSp>
      <p:grpSp>
        <p:nvGrpSpPr>
          <p:cNvPr id="5" name="Group 5"/>
          <p:cNvGrpSpPr>
            <a:grpSpLocks noChangeAspect="1"/>
          </p:cNvGrpSpPr>
          <p:nvPr/>
        </p:nvGrpSpPr>
        <p:grpSpPr>
          <a:xfrm>
            <a:off x="9606539" y="2988384"/>
            <a:ext cx="7652761" cy="6292992"/>
            <a:chOff x="0" y="0"/>
            <a:chExt cx="4188460" cy="3444240"/>
          </a:xfrm>
        </p:grpSpPr>
        <p:sp>
          <p:nvSpPr>
            <p:cNvPr id="6" name="Freeform 6"/>
            <p:cNvSpPr/>
            <p:nvPr/>
          </p:nvSpPr>
          <p:spPr>
            <a:xfrm>
              <a:off x="38100" y="38100"/>
              <a:ext cx="4105910" cy="3368040"/>
            </a:xfrm>
            <a:custGeom>
              <a:avLst/>
              <a:gdLst/>
              <a:ahLst/>
              <a:cxnLst/>
              <a:rect l="l" t="t" r="r" b="b"/>
              <a:pathLst>
                <a:path w="4105910" h="3368040">
                  <a:moveTo>
                    <a:pt x="0" y="0"/>
                  </a:moveTo>
                  <a:lnTo>
                    <a:pt x="4105910" y="0"/>
                  </a:lnTo>
                  <a:lnTo>
                    <a:pt x="4105910" y="3368040"/>
                  </a:lnTo>
                  <a:lnTo>
                    <a:pt x="0" y="3368040"/>
                  </a:lnTo>
                  <a:close/>
                </a:path>
              </a:pathLst>
            </a:custGeom>
            <a:blipFill>
              <a:blip r:embed="rId1"/>
              <a:stretch>
                <a:fillRect r="-4657" b="-37559"/>
              </a:stretch>
            </a:blipFill>
          </p:spPr>
        </p:sp>
        <p:sp>
          <p:nvSpPr>
            <p:cNvPr id="7" name="Freeform 7"/>
            <p:cNvSpPr/>
            <p:nvPr/>
          </p:nvSpPr>
          <p:spPr>
            <a:xfrm>
              <a:off x="6350" y="6350"/>
              <a:ext cx="4175760" cy="3431540"/>
            </a:xfrm>
            <a:custGeom>
              <a:avLst/>
              <a:gdLst/>
              <a:ahLst/>
              <a:cxnLst/>
              <a:rect l="l" t="t" r="r" b="b"/>
              <a:pathLst>
                <a:path w="4175760" h="3431540">
                  <a:moveTo>
                    <a:pt x="0" y="0"/>
                  </a:moveTo>
                  <a:lnTo>
                    <a:pt x="63500" y="0"/>
                  </a:lnTo>
                  <a:lnTo>
                    <a:pt x="63500" y="63500"/>
                  </a:lnTo>
                  <a:lnTo>
                    <a:pt x="0" y="63500"/>
                  </a:lnTo>
                  <a:lnTo>
                    <a:pt x="0" y="0"/>
                  </a:lnTo>
                  <a:close/>
                  <a:moveTo>
                    <a:pt x="4112260" y="0"/>
                  </a:moveTo>
                  <a:lnTo>
                    <a:pt x="4112260" y="63500"/>
                  </a:lnTo>
                  <a:lnTo>
                    <a:pt x="4175760" y="63500"/>
                  </a:lnTo>
                  <a:lnTo>
                    <a:pt x="4175760" y="0"/>
                  </a:lnTo>
                  <a:lnTo>
                    <a:pt x="4112260" y="0"/>
                  </a:lnTo>
                  <a:close/>
                  <a:moveTo>
                    <a:pt x="2056130" y="63500"/>
                  </a:moveTo>
                  <a:lnTo>
                    <a:pt x="2119630" y="63500"/>
                  </a:lnTo>
                  <a:lnTo>
                    <a:pt x="2119630" y="0"/>
                  </a:lnTo>
                  <a:lnTo>
                    <a:pt x="2056130" y="0"/>
                  </a:lnTo>
                  <a:lnTo>
                    <a:pt x="2056130" y="63500"/>
                  </a:lnTo>
                  <a:close/>
                  <a:moveTo>
                    <a:pt x="0" y="3431540"/>
                  </a:moveTo>
                  <a:lnTo>
                    <a:pt x="63500" y="3431540"/>
                  </a:lnTo>
                  <a:lnTo>
                    <a:pt x="63500" y="3368040"/>
                  </a:lnTo>
                  <a:lnTo>
                    <a:pt x="0" y="3368040"/>
                  </a:lnTo>
                  <a:lnTo>
                    <a:pt x="0" y="3431540"/>
                  </a:lnTo>
                  <a:close/>
                  <a:moveTo>
                    <a:pt x="4112260" y="3431540"/>
                  </a:moveTo>
                  <a:lnTo>
                    <a:pt x="4175760" y="3431540"/>
                  </a:lnTo>
                  <a:lnTo>
                    <a:pt x="4175760" y="3368040"/>
                  </a:lnTo>
                  <a:lnTo>
                    <a:pt x="4112260" y="3368040"/>
                  </a:lnTo>
                  <a:lnTo>
                    <a:pt x="4112260" y="3431540"/>
                  </a:lnTo>
                  <a:close/>
                  <a:moveTo>
                    <a:pt x="2056130" y="3431540"/>
                  </a:moveTo>
                  <a:lnTo>
                    <a:pt x="2119630" y="3431540"/>
                  </a:lnTo>
                  <a:lnTo>
                    <a:pt x="2119630" y="3368040"/>
                  </a:lnTo>
                  <a:lnTo>
                    <a:pt x="2056130" y="3368040"/>
                  </a:lnTo>
                  <a:lnTo>
                    <a:pt x="2056130" y="3431540"/>
                  </a:lnTo>
                  <a:close/>
                  <a:moveTo>
                    <a:pt x="4112260" y="1684020"/>
                  </a:moveTo>
                  <a:lnTo>
                    <a:pt x="4112260" y="1747520"/>
                  </a:lnTo>
                  <a:lnTo>
                    <a:pt x="4175760" y="1747520"/>
                  </a:lnTo>
                  <a:lnTo>
                    <a:pt x="4175760" y="1684020"/>
                  </a:lnTo>
                  <a:lnTo>
                    <a:pt x="4141470" y="1684020"/>
                  </a:lnTo>
                  <a:lnTo>
                    <a:pt x="4112260" y="1684020"/>
                  </a:lnTo>
                  <a:close/>
                  <a:moveTo>
                    <a:pt x="0" y="1747520"/>
                  </a:moveTo>
                  <a:lnTo>
                    <a:pt x="63500" y="1747520"/>
                  </a:lnTo>
                  <a:lnTo>
                    <a:pt x="63500" y="1684020"/>
                  </a:lnTo>
                  <a:lnTo>
                    <a:pt x="0" y="1684020"/>
                  </a:lnTo>
                  <a:lnTo>
                    <a:pt x="0" y="1747520"/>
                  </a:ln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id="8" name="Freeform 8"/>
            <p:cNvSpPr/>
            <p:nvPr/>
          </p:nvSpPr>
          <p:spPr>
            <a:xfrm>
              <a:off x="0" y="0"/>
              <a:ext cx="4188460" cy="3444240"/>
            </a:xfrm>
            <a:custGeom>
              <a:avLst/>
              <a:gdLst/>
              <a:ahLst/>
              <a:cxnLst/>
              <a:rect l="l" t="t" r="r" b="b"/>
              <a:pathLst>
                <a:path w="4188460" h="3444240">
                  <a:moveTo>
                    <a:pt x="4188460" y="76200"/>
                  </a:moveTo>
                  <a:lnTo>
                    <a:pt x="4188460" y="0"/>
                  </a:lnTo>
                  <a:lnTo>
                    <a:pt x="4112260" y="0"/>
                  </a:lnTo>
                  <a:lnTo>
                    <a:pt x="4112260" y="31750"/>
                  </a:lnTo>
                  <a:lnTo>
                    <a:pt x="2132330" y="31750"/>
                  </a:lnTo>
                  <a:lnTo>
                    <a:pt x="2132330" y="0"/>
                  </a:lnTo>
                  <a:lnTo>
                    <a:pt x="2056130" y="0"/>
                  </a:lnTo>
                  <a:lnTo>
                    <a:pt x="2056130" y="31750"/>
                  </a:lnTo>
                  <a:lnTo>
                    <a:pt x="76200" y="31750"/>
                  </a:lnTo>
                  <a:lnTo>
                    <a:pt x="76200" y="0"/>
                  </a:lnTo>
                  <a:lnTo>
                    <a:pt x="0" y="0"/>
                  </a:lnTo>
                  <a:lnTo>
                    <a:pt x="0" y="76200"/>
                  </a:lnTo>
                  <a:lnTo>
                    <a:pt x="31750" y="76200"/>
                  </a:lnTo>
                  <a:lnTo>
                    <a:pt x="31750" y="1684020"/>
                  </a:lnTo>
                  <a:lnTo>
                    <a:pt x="0" y="1684020"/>
                  </a:lnTo>
                  <a:lnTo>
                    <a:pt x="0" y="1760220"/>
                  </a:lnTo>
                  <a:lnTo>
                    <a:pt x="31750" y="1760220"/>
                  </a:lnTo>
                  <a:lnTo>
                    <a:pt x="31750" y="3368040"/>
                  </a:lnTo>
                  <a:lnTo>
                    <a:pt x="0" y="3368040"/>
                  </a:lnTo>
                  <a:lnTo>
                    <a:pt x="0" y="3444240"/>
                  </a:lnTo>
                  <a:lnTo>
                    <a:pt x="76200" y="3444240"/>
                  </a:lnTo>
                  <a:lnTo>
                    <a:pt x="76200" y="3412490"/>
                  </a:lnTo>
                  <a:lnTo>
                    <a:pt x="2056130" y="3412490"/>
                  </a:lnTo>
                  <a:lnTo>
                    <a:pt x="2056130" y="3444240"/>
                  </a:lnTo>
                  <a:lnTo>
                    <a:pt x="2132330" y="3444240"/>
                  </a:lnTo>
                  <a:lnTo>
                    <a:pt x="2132330" y="3412490"/>
                  </a:lnTo>
                  <a:lnTo>
                    <a:pt x="4112260" y="3412490"/>
                  </a:lnTo>
                  <a:lnTo>
                    <a:pt x="4112260" y="3444240"/>
                  </a:lnTo>
                  <a:lnTo>
                    <a:pt x="4188460" y="3444240"/>
                  </a:lnTo>
                  <a:lnTo>
                    <a:pt x="4188460" y="3368040"/>
                  </a:lnTo>
                  <a:lnTo>
                    <a:pt x="4156710" y="3368040"/>
                  </a:lnTo>
                  <a:lnTo>
                    <a:pt x="4156710" y="1760220"/>
                  </a:lnTo>
                  <a:lnTo>
                    <a:pt x="4188460" y="1760220"/>
                  </a:lnTo>
                  <a:lnTo>
                    <a:pt x="4188460" y="1684020"/>
                  </a:lnTo>
                  <a:lnTo>
                    <a:pt x="4156710" y="1684020"/>
                  </a:lnTo>
                  <a:lnTo>
                    <a:pt x="4156710" y="76200"/>
                  </a:lnTo>
                  <a:lnTo>
                    <a:pt x="4188460" y="76200"/>
                  </a:lnTo>
                  <a:close/>
                  <a:moveTo>
                    <a:pt x="4124960" y="12700"/>
                  </a:moveTo>
                  <a:lnTo>
                    <a:pt x="4175760" y="12700"/>
                  </a:lnTo>
                  <a:lnTo>
                    <a:pt x="4175760" y="63500"/>
                  </a:lnTo>
                  <a:lnTo>
                    <a:pt x="4124960" y="63500"/>
                  </a:lnTo>
                  <a:lnTo>
                    <a:pt x="4124960" y="12700"/>
                  </a:lnTo>
                  <a:close/>
                  <a:moveTo>
                    <a:pt x="2068830" y="12700"/>
                  </a:moveTo>
                  <a:lnTo>
                    <a:pt x="2119630" y="12700"/>
                  </a:lnTo>
                  <a:lnTo>
                    <a:pt x="2119630" y="63500"/>
                  </a:lnTo>
                  <a:lnTo>
                    <a:pt x="2068830" y="63500"/>
                  </a:lnTo>
                  <a:lnTo>
                    <a:pt x="2068830" y="12700"/>
                  </a:lnTo>
                  <a:close/>
                  <a:moveTo>
                    <a:pt x="12700" y="63500"/>
                  </a:moveTo>
                  <a:lnTo>
                    <a:pt x="12700" y="12700"/>
                  </a:lnTo>
                  <a:lnTo>
                    <a:pt x="63500" y="12700"/>
                  </a:lnTo>
                  <a:lnTo>
                    <a:pt x="63500" y="63500"/>
                  </a:lnTo>
                  <a:lnTo>
                    <a:pt x="12700" y="63500"/>
                  </a:lnTo>
                  <a:close/>
                  <a:moveTo>
                    <a:pt x="12700" y="1747520"/>
                  </a:moveTo>
                  <a:lnTo>
                    <a:pt x="12700" y="1696720"/>
                  </a:lnTo>
                  <a:lnTo>
                    <a:pt x="63500" y="1696720"/>
                  </a:lnTo>
                  <a:lnTo>
                    <a:pt x="63500" y="1747520"/>
                  </a:lnTo>
                  <a:lnTo>
                    <a:pt x="12700" y="1747520"/>
                  </a:lnTo>
                  <a:close/>
                  <a:moveTo>
                    <a:pt x="63500" y="3431540"/>
                  </a:moveTo>
                  <a:lnTo>
                    <a:pt x="12700" y="3431540"/>
                  </a:lnTo>
                  <a:lnTo>
                    <a:pt x="12700" y="3380740"/>
                  </a:lnTo>
                  <a:lnTo>
                    <a:pt x="63500" y="3380740"/>
                  </a:lnTo>
                  <a:lnTo>
                    <a:pt x="63500" y="3431540"/>
                  </a:lnTo>
                  <a:close/>
                  <a:moveTo>
                    <a:pt x="2119630" y="3431540"/>
                  </a:moveTo>
                  <a:lnTo>
                    <a:pt x="2068830" y="3431540"/>
                  </a:lnTo>
                  <a:lnTo>
                    <a:pt x="2068830" y="3380740"/>
                  </a:lnTo>
                  <a:lnTo>
                    <a:pt x="2119630" y="3380740"/>
                  </a:lnTo>
                  <a:lnTo>
                    <a:pt x="2119630" y="3431540"/>
                  </a:lnTo>
                  <a:close/>
                  <a:moveTo>
                    <a:pt x="4175760" y="3380740"/>
                  </a:moveTo>
                  <a:lnTo>
                    <a:pt x="4175760" y="3431540"/>
                  </a:lnTo>
                  <a:lnTo>
                    <a:pt x="4124960" y="3431540"/>
                  </a:lnTo>
                  <a:lnTo>
                    <a:pt x="4124960" y="3380740"/>
                  </a:lnTo>
                  <a:lnTo>
                    <a:pt x="4175760" y="3380740"/>
                  </a:lnTo>
                  <a:close/>
                  <a:moveTo>
                    <a:pt x="4175760" y="1747520"/>
                  </a:moveTo>
                  <a:lnTo>
                    <a:pt x="4124960" y="1747520"/>
                  </a:lnTo>
                  <a:lnTo>
                    <a:pt x="4124960" y="1696720"/>
                  </a:lnTo>
                  <a:lnTo>
                    <a:pt x="4175760" y="1696720"/>
                  </a:lnTo>
                  <a:lnTo>
                    <a:pt x="4175760" y="1747520"/>
                  </a:lnTo>
                  <a:close/>
                  <a:moveTo>
                    <a:pt x="4144010" y="1684020"/>
                  </a:moveTo>
                  <a:lnTo>
                    <a:pt x="4112260" y="1684020"/>
                  </a:lnTo>
                  <a:lnTo>
                    <a:pt x="4112260" y="1760220"/>
                  </a:lnTo>
                  <a:lnTo>
                    <a:pt x="4144010" y="1760220"/>
                  </a:lnTo>
                  <a:lnTo>
                    <a:pt x="4144010" y="3368040"/>
                  </a:lnTo>
                  <a:lnTo>
                    <a:pt x="4112260" y="3368040"/>
                  </a:lnTo>
                  <a:lnTo>
                    <a:pt x="4112260" y="3399790"/>
                  </a:lnTo>
                  <a:lnTo>
                    <a:pt x="2132330" y="3399790"/>
                  </a:lnTo>
                  <a:lnTo>
                    <a:pt x="2132330" y="3368040"/>
                  </a:lnTo>
                  <a:lnTo>
                    <a:pt x="2056130" y="3368040"/>
                  </a:lnTo>
                  <a:lnTo>
                    <a:pt x="2056130" y="3399790"/>
                  </a:lnTo>
                  <a:lnTo>
                    <a:pt x="76200" y="3399790"/>
                  </a:lnTo>
                  <a:lnTo>
                    <a:pt x="76200" y="3368040"/>
                  </a:lnTo>
                  <a:lnTo>
                    <a:pt x="44450" y="3368040"/>
                  </a:lnTo>
                  <a:lnTo>
                    <a:pt x="44450" y="1760220"/>
                  </a:lnTo>
                  <a:lnTo>
                    <a:pt x="76200" y="1760220"/>
                  </a:lnTo>
                  <a:lnTo>
                    <a:pt x="76200" y="1684020"/>
                  </a:lnTo>
                  <a:lnTo>
                    <a:pt x="44450" y="1684020"/>
                  </a:lnTo>
                  <a:lnTo>
                    <a:pt x="44450" y="76200"/>
                  </a:lnTo>
                  <a:lnTo>
                    <a:pt x="76200" y="76200"/>
                  </a:lnTo>
                  <a:lnTo>
                    <a:pt x="76200" y="44450"/>
                  </a:lnTo>
                  <a:lnTo>
                    <a:pt x="2056130" y="44450"/>
                  </a:lnTo>
                  <a:lnTo>
                    <a:pt x="2056130" y="76200"/>
                  </a:lnTo>
                  <a:lnTo>
                    <a:pt x="2132330" y="76200"/>
                  </a:lnTo>
                  <a:lnTo>
                    <a:pt x="2132330" y="44450"/>
                  </a:lnTo>
                  <a:lnTo>
                    <a:pt x="4112260" y="44450"/>
                  </a:lnTo>
                  <a:lnTo>
                    <a:pt x="4112260" y="76200"/>
                  </a:lnTo>
                  <a:lnTo>
                    <a:pt x="4144010" y="76200"/>
                  </a:lnTo>
                  <a:lnTo>
                    <a:pt x="4144010" y="1684020"/>
                  </a:lnTo>
                  <a:close/>
                </a:path>
              </a:pathLst>
            </a:custGeom>
            <a:solidFill>
              <a:srgbClr val="484FA2"/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5188863" y="75565"/>
            <a:ext cx="6988493" cy="953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sz="5600" b="1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3. Kết quả đạt được</a:t>
            </a:r>
            <a:endParaRPr lang="en-US" sz="5600" b="1">
              <a:solidFill>
                <a:srgbClr val="F4B342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789069" y="1496971"/>
            <a:ext cx="10826830" cy="6699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600"/>
              </a:lnSpc>
              <a:spcBef>
                <a:spcPct val="0"/>
              </a:spcBef>
            </a:pPr>
            <a:r>
              <a:rPr lang="en-US" sz="4000" b="1">
                <a:solidFill>
                  <a:srgbClr val="360185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Trải nghiệm học tập của sinh viên</a:t>
            </a:r>
            <a:endParaRPr lang="en-US" sz="4000" b="1">
              <a:solidFill>
                <a:srgbClr val="360185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774501" y="2255964"/>
            <a:ext cx="15805273" cy="4829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Giao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diện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trực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quan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,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giúp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sinh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viên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dễ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dàng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tìm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kiếm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,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tham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gia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và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theo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dõi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tiến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độ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học</a:t>
            </a:r>
            <a:r>
              <a:rPr lang="en-US" sz="30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tập</a:t>
            </a:r>
            <a:endParaRPr lang="en-US" sz="3000" dirty="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3904298" y="3283973"/>
            <a:ext cx="5163502" cy="39017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360"/>
              </a:lnSpc>
              <a:spcBef>
                <a:spcPct val="0"/>
              </a:spcBef>
            </a:pP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Khung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xem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video: </a:t>
            </a:r>
            <a:r>
              <a:rPr lang="en-US" sz="24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phát</a:t>
            </a:r>
            <a:r>
              <a:rPr lang="en-US" sz="24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bài</a:t>
            </a:r>
            <a:r>
              <a:rPr lang="en-US" sz="24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giảng</a:t>
            </a:r>
            <a:endParaRPr lang="en-US" sz="2400" dirty="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</p:txBody>
      </p:sp>
      <p:sp>
        <p:nvSpPr>
          <p:cNvPr id="13" name="AutoShape 13"/>
          <p:cNvSpPr/>
          <p:nvPr/>
        </p:nvSpPr>
        <p:spPr>
          <a:xfrm>
            <a:off x="6293703" y="3689737"/>
            <a:ext cx="6153110" cy="124318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4" name="AutoShape 14"/>
          <p:cNvSpPr/>
          <p:nvPr/>
        </p:nvSpPr>
        <p:spPr>
          <a:xfrm flipV="1">
            <a:off x="2572238" y="4904510"/>
            <a:ext cx="13992296" cy="91646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5" name="TextBox 15"/>
          <p:cNvSpPr txBox="1"/>
          <p:nvPr/>
        </p:nvSpPr>
        <p:spPr>
          <a:xfrm>
            <a:off x="678419" y="4381562"/>
            <a:ext cx="3607313" cy="1243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Danh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sách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điều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hướng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: </a:t>
            </a:r>
            <a:r>
              <a:rPr lang="en-US" sz="24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chuyển</a:t>
            </a:r>
            <a:r>
              <a:rPr lang="en-US" sz="24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đổi</a:t>
            </a:r>
            <a:r>
              <a:rPr lang="en-US" sz="24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và</a:t>
            </a:r>
            <a:r>
              <a:rPr lang="en-US" sz="24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đánh</a:t>
            </a:r>
            <a:r>
              <a:rPr lang="en-US" sz="24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dấu</a:t>
            </a:r>
            <a:r>
              <a:rPr lang="en-US" sz="24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bài</a:t>
            </a:r>
            <a:r>
              <a:rPr lang="en-US" sz="24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học</a:t>
            </a:r>
            <a:r>
              <a:rPr lang="en-US" sz="24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đã</a:t>
            </a:r>
            <a:r>
              <a:rPr lang="en-US" sz="24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hoàn</a:t>
            </a:r>
            <a:r>
              <a:rPr lang="en-US" sz="24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thành</a:t>
            </a:r>
            <a:endParaRPr lang="en-US" sz="2400" dirty="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</p:txBody>
      </p:sp>
      <p:sp>
        <p:nvSpPr>
          <p:cNvPr id="16" name="AutoShape 16"/>
          <p:cNvSpPr/>
          <p:nvPr/>
        </p:nvSpPr>
        <p:spPr>
          <a:xfrm flipV="1">
            <a:off x="6820669" y="8407493"/>
            <a:ext cx="5626145" cy="8870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7" name="TextBox 17"/>
          <p:cNvSpPr txBox="1"/>
          <p:nvPr/>
        </p:nvSpPr>
        <p:spPr>
          <a:xfrm>
            <a:off x="3062927" y="7850398"/>
            <a:ext cx="3607313" cy="1243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Bài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tập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trắc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nghiệm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: </a:t>
            </a:r>
            <a:r>
              <a:rPr lang="en-US" sz="24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cũng</a:t>
            </a:r>
            <a:r>
              <a:rPr lang="en-US" sz="24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cố</a:t>
            </a:r>
            <a:r>
              <a:rPr lang="en-US" sz="24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kiến</a:t>
            </a:r>
            <a:r>
              <a:rPr lang="en-US" sz="24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thức</a:t>
            </a:r>
            <a:r>
              <a:rPr lang="en-US" sz="24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ngay</a:t>
            </a:r>
            <a:r>
              <a:rPr lang="en-US" sz="24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sau</a:t>
            </a:r>
            <a:r>
              <a:rPr lang="en-US" sz="24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mỗi</a:t>
            </a:r>
            <a:r>
              <a:rPr lang="en-US" sz="24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bài</a:t>
            </a:r>
            <a:r>
              <a:rPr lang="en-US" sz="24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học</a:t>
            </a:r>
            <a:endParaRPr lang="en-US" sz="2400" dirty="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256807"/>
            <a:chOff x="0" y="0"/>
            <a:chExt cx="4816593" cy="33101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331011"/>
            </a:xfrm>
            <a:custGeom>
              <a:avLst/>
              <a:gdLst/>
              <a:ahLst/>
              <a:cxnLst/>
              <a:rect l="l" t="t" r="r" b="b"/>
              <a:pathLst>
                <a:path w="4816592" h="331011">
                  <a:moveTo>
                    <a:pt x="0" y="0"/>
                  </a:moveTo>
                  <a:lnTo>
                    <a:pt x="4816592" y="0"/>
                  </a:lnTo>
                  <a:lnTo>
                    <a:pt x="4816592" y="331011"/>
                  </a:lnTo>
                  <a:lnTo>
                    <a:pt x="0" y="331011"/>
                  </a:ln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816593" cy="3786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</a:p>
          </p:txBody>
        </p:sp>
      </p:grpSp>
      <p:grpSp>
        <p:nvGrpSpPr>
          <p:cNvPr id="5" name="Group 5"/>
          <p:cNvGrpSpPr>
            <a:grpSpLocks noChangeAspect="1"/>
          </p:cNvGrpSpPr>
          <p:nvPr/>
        </p:nvGrpSpPr>
        <p:grpSpPr>
          <a:xfrm>
            <a:off x="6847245" y="3546442"/>
            <a:ext cx="10412055" cy="5711858"/>
            <a:chOff x="0" y="0"/>
            <a:chExt cx="5908040" cy="3241040"/>
          </a:xfrm>
        </p:grpSpPr>
        <p:sp>
          <p:nvSpPr>
            <p:cNvPr id="6" name="Freeform 6"/>
            <p:cNvSpPr/>
            <p:nvPr/>
          </p:nvSpPr>
          <p:spPr>
            <a:xfrm>
              <a:off x="10160" y="12700"/>
              <a:ext cx="5895340" cy="186690"/>
            </a:xfrm>
            <a:custGeom>
              <a:avLst/>
              <a:gdLst/>
              <a:ahLst/>
              <a:cxnLst/>
              <a:rect l="l" t="t" r="r" b="b"/>
              <a:pathLst>
                <a:path w="5895340" h="186690">
                  <a:moveTo>
                    <a:pt x="0" y="186690"/>
                  </a:moveTo>
                  <a:lnTo>
                    <a:pt x="0" y="127000"/>
                  </a:lnTo>
                  <a:cubicBezTo>
                    <a:pt x="0" y="57150"/>
                    <a:pt x="57150" y="0"/>
                    <a:pt x="127000" y="0"/>
                  </a:cubicBezTo>
                  <a:lnTo>
                    <a:pt x="5768340" y="0"/>
                  </a:lnTo>
                  <a:cubicBezTo>
                    <a:pt x="5838190" y="0"/>
                    <a:pt x="5895340" y="57150"/>
                    <a:pt x="5895340" y="127000"/>
                  </a:cubicBezTo>
                  <a:lnTo>
                    <a:pt x="5895340" y="186690"/>
                  </a:lnTo>
                  <a:cubicBezTo>
                    <a:pt x="5895340" y="186690"/>
                    <a:pt x="0" y="186690"/>
                    <a:pt x="0" y="186690"/>
                  </a:cubicBezTo>
                  <a:close/>
                </a:path>
              </a:pathLst>
            </a:custGeom>
            <a:solidFill>
              <a:srgbClr val="F8DB52"/>
            </a:solidFill>
          </p:spPr>
        </p:sp>
        <p:sp>
          <p:nvSpPr>
            <p:cNvPr id="7" name="Freeform 7"/>
            <p:cNvSpPr/>
            <p:nvPr/>
          </p:nvSpPr>
          <p:spPr>
            <a:xfrm>
              <a:off x="6350" y="193040"/>
              <a:ext cx="5895340" cy="3041650"/>
            </a:xfrm>
            <a:custGeom>
              <a:avLst/>
              <a:gdLst/>
              <a:ahLst/>
              <a:cxnLst/>
              <a:rect l="l" t="t" r="r" b="b"/>
              <a:pathLst>
                <a:path w="5895340" h="3041650">
                  <a:moveTo>
                    <a:pt x="5768340" y="3041650"/>
                  </a:moveTo>
                  <a:lnTo>
                    <a:pt x="127000" y="3041650"/>
                  </a:lnTo>
                  <a:cubicBezTo>
                    <a:pt x="57150" y="3041650"/>
                    <a:pt x="0" y="2984500"/>
                    <a:pt x="0" y="2914650"/>
                  </a:cubicBezTo>
                  <a:lnTo>
                    <a:pt x="0" y="0"/>
                  </a:lnTo>
                  <a:lnTo>
                    <a:pt x="5895340" y="0"/>
                  </a:lnTo>
                  <a:lnTo>
                    <a:pt x="5895340" y="2914650"/>
                  </a:lnTo>
                  <a:cubicBezTo>
                    <a:pt x="5895340" y="2985770"/>
                    <a:pt x="5838190" y="3041650"/>
                    <a:pt x="5768340" y="3041650"/>
                  </a:cubicBezTo>
                  <a:close/>
                </a:path>
              </a:pathLst>
            </a:custGeom>
            <a:blipFill>
              <a:blip r:embed="rId1"/>
              <a:stretch>
                <a:fillRect l="-2331" r="-5436"/>
              </a:stretch>
            </a:blipFill>
          </p:spPr>
        </p:sp>
        <p:sp>
          <p:nvSpPr>
            <p:cNvPr id="8" name="Freeform 8"/>
            <p:cNvSpPr/>
            <p:nvPr/>
          </p:nvSpPr>
          <p:spPr>
            <a:xfrm>
              <a:off x="0" y="0"/>
              <a:ext cx="5908040" cy="3241040"/>
            </a:xfrm>
            <a:custGeom>
              <a:avLst/>
              <a:gdLst/>
              <a:ahLst/>
              <a:cxnLst/>
              <a:rect l="l" t="t" r="r" b="b"/>
              <a:pathLst>
                <a:path w="5908040" h="3241040">
                  <a:moveTo>
                    <a:pt x="5774690" y="0"/>
                  </a:moveTo>
                  <a:lnTo>
                    <a:pt x="133350" y="0"/>
                  </a:lnTo>
                  <a:cubicBezTo>
                    <a:pt x="59690" y="0"/>
                    <a:pt x="0" y="59690"/>
                    <a:pt x="0" y="133350"/>
                  </a:cubicBezTo>
                  <a:lnTo>
                    <a:pt x="0" y="3107690"/>
                  </a:lnTo>
                  <a:cubicBezTo>
                    <a:pt x="0" y="3181350"/>
                    <a:pt x="59690" y="3241040"/>
                    <a:pt x="133350" y="3241040"/>
                  </a:cubicBezTo>
                  <a:lnTo>
                    <a:pt x="5774690" y="3241040"/>
                  </a:lnTo>
                  <a:cubicBezTo>
                    <a:pt x="5848350" y="3241040"/>
                    <a:pt x="5908040" y="3181350"/>
                    <a:pt x="5908040" y="3107690"/>
                  </a:cubicBezTo>
                  <a:lnTo>
                    <a:pt x="5908040" y="133350"/>
                  </a:lnTo>
                  <a:cubicBezTo>
                    <a:pt x="5908040" y="59690"/>
                    <a:pt x="5848350" y="0"/>
                    <a:pt x="5774690" y="0"/>
                  </a:cubicBezTo>
                  <a:close/>
                  <a:moveTo>
                    <a:pt x="5895340" y="3107690"/>
                  </a:moveTo>
                  <a:cubicBezTo>
                    <a:pt x="5895340" y="3175000"/>
                    <a:pt x="5842000" y="3228340"/>
                    <a:pt x="5774690" y="3228340"/>
                  </a:cubicBezTo>
                  <a:lnTo>
                    <a:pt x="133350" y="3228340"/>
                  </a:lnTo>
                  <a:cubicBezTo>
                    <a:pt x="67310" y="3228340"/>
                    <a:pt x="12700" y="3173730"/>
                    <a:pt x="12700" y="3107690"/>
                  </a:cubicBezTo>
                  <a:lnTo>
                    <a:pt x="12700" y="199390"/>
                  </a:lnTo>
                  <a:lnTo>
                    <a:pt x="5895340" y="199390"/>
                  </a:lnTo>
                  <a:lnTo>
                    <a:pt x="5895340" y="3107690"/>
                  </a:lnTo>
                  <a:close/>
                  <a:moveTo>
                    <a:pt x="5895340" y="186690"/>
                  </a:moveTo>
                  <a:lnTo>
                    <a:pt x="12700" y="186690"/>
                  </a:lnTo>
                  <a:lnTo>
                    <a:pt x="12700" y="133350"/>
                  </a:lnTo>
                  <a:cubicBezTo>
                    <a:pt x="12700" y="67310"/>
                    <a:pt x="67310" y="12700"/>
                    <a:pt x="133350" y="12700"/>
                  </a:cubicBezTo>
                  <a:lnTo>
                    <a:pt x="5774690" y="12700"/>
                  </a:lnTo>
                  <a:cubicBezTo>
                    <a:pt x="5840730" y="12700"/>
                    <a:pt x="5895340" y="67310"/>
                    <a:pt x="5895340" y="133350"/>
                  </a:cubicBezTo>
                  <a:lnTo>
                    <a:pt x="5895340" y="18669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" name="Freeform 9"/>
            <p:cNvSpPr/>
            <p:nvPr/>
          </p:nvSpPr>
          <p:spPr>
            <a:xfrm>
              <a:off x="149860" y="73660"/>
              <a:ext cx="299720" cy="63500"/>
            </a:xfrm>
            <a:custGeom>
              <a:avLst/>
              <a:gdLst/>
              <a:ahLst/>
              <a:cxnLst/>
              <a:rect l="l" t="t" r="r" b="b"/>
              <a:pathLst>
                <a:path w="299720" h="63500">
                  <a:moveTo>
                    <a:pt x="118110" y="0"/>
                  </a:moveTo>
                  <a:lnTo>
                    <a:pt x="181610" y="0"/>
                  </a:lnTo>
                  <a:lnTo>
                    <a:pt x="181610" y="63500"/>
                  </a:lnTo>
                  <a:lnTo>
                    <a:pt x="118110" y="63500"/>
                  </a:lnTo>
                  <a:lnTo>
                    <a:pt x="118110" y="0"/>
                  </a:lnTo>
                  <a:close/>
                  <a:moveTo>
                    <a:pt x="31750" y="0"/>
                  </a:moveTo>
                  <a:cubicBezTo>
                    <a:pt x="49530" y="0"/>
                    <a:pt x="63500" y="13970"/>
                    <a:pt x="63500" y="31750"/>
                  </a:cubicBezTo>
                  <a:cubicBezTo>
                    <a:pt x="63500" y="49530"/>
                    <a:pt x="49530" y="63500"/>
                    <a:pt x="31750" y="63500"/>
                  </a:cubicBezTo>
                  <a:cubicBezTo>
                    <a:pt x="13970" y="63500"/>
                    <a:pt x="0" y="49530"/>
                    <a:pt x="0" y="31750"/>
                  </a:cubicBezTo>
                  <a:cubicBezTo>
                    <a:pt x="0" y="13970"/>
                    <a:pt x="13970" y="0"/>
                    <a:pt x="31750" y="0"/>
                  </a:cubicBezTo>
                  <a:close/>
                  <a:moveTo>
                    <a:pt x="267970" y="0"/>
                  </a:moveTo>
                  <a:lnTo>
                    <a:pt x="236220" y="63500"/>
                  </a:lnTo>
                  <a:lnTo>
                    <a:pt x="299720" y="63500"/>
                  </a:lnTo>
                  <a:lnTo>
                    <a:pt x="267970" y="0"/>
                  </a:lnTo>
                  <a:close/>
                </a:path>
              </a:pathLst>
            </a:custGeom>
            <a:solidFill>
              <a:srgbClr val="484FA2"/>
            </a:solidFill>
          </p:spPr>
        </p:sp>
        <p:sp>
          <p:nvSpPr>
            <p:cNvPr id="10" name="Freeform 10"/>
            <p:cNvSpPr/>
            <p:nvPr/>
          </p:nvSpPr>
          <p:spPr>
            <a:xfrm>
              <a:off x="591820" y="88900"/>
              <a:ext cx="5175250" cy="33020"/>
            </a:xfrm>
            <a:custGeom>
              <a:avLst/>
              <a:gdLst/>
              <a:ahLst/>
              <a:cxnLst/>
              <a:rect l="l" t="t" r="r" b="b"/>
              <a:pathLst>
                <a:path w="5175250" h="33020">
                  <a:moveTo>
                    <a:pt x="5158740" y="33020"/>
                  </a:moveTo>
                  <a:lnTo>
                    <a:pt x="16510" y="33020"/>
                  </a:lnTo>
                  <a:cubicBezTo>
                    <a:pt x="7620" y="33020"/>
                    <a:pt x="0" y="25400"/>
                    <a:pt x="0" y="16510"/>
                  </a:cubicBezTo>
                  <a:lnTo>
                    <a:pt x="0" y="16510"/>
                  </a:lnTo>
                  <a:cubicBezTo>
                    <a:pt x="0" y="7620"/>
                    <a:pt x="7620" y="0"/>
                    <a:pt x="16510" y="0"/>
                  </a:cubicBezTo>
                  <a:lnTo>
                    <a:pt x="5158740" y="0"/>
                  </a:lnTo>
                  <a:cubicBezTo>
                    <a:pt x="5167630" y="0"/>
                    <a:pt x="5175250" y="7620"/>
                    <a:pt x="5175250" y="16510"/>
                  </a:cubicBezTo>
                  <a:lnTo>
                    <a:pt x="5175250" y="16510"/>
                  </a:lnTo>
                  <a:cubicBezTo>
                    <a:pt x="5173980" y="25400"/>
                    <a:pt x="5167630" y="33020"/>
                    <a:pt x="5158740" y="33020"/>
                  </a:cubicBezTo>
                  <a:close/>
                </a:path>
              </a:pathLst>
            </a:custGeom>
            <a:solidFill>
              <a:srgbClr val="F26D6F"/>
            </a:solidFill>
          </p:spPr>
        </p:sp>
      </p:grpSp>
      <p:sp>
        <p:nvSpPr>
          <p:cNvPr id="11" name="TextBox 11"/>
          <p:cNvSpPr txBox="1"/>
          <p:nvPr/>
        </p:nvSpPr>
        <p:spPr>
          <a:xfrm>
            <a:off x="5188863" y="75565"/>
            <a:ext cx="7384137" cy="8976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sz="5600" b="1" dirty="0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3. </a:t>
            </a:r>
            <a:r>
              <a:rPr lang="en-US" sz="5600" b="1" dirty="0" err="1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Kết</a:t>
            </a:r>
            <a:r>
              <a:rPr lang="en-US" sz="5600" b="1" dirty="0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5600" b="1" dirty="0" err="1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quả</a:t>
            </a:r>
            <a:r>
              <a:rPr lang="en-US" sz="5600" b="1" dirty="0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5600" b="1" dirty="0" err="1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đạt</a:t>
            </a:r>
            <a:r>
              <a:rPr lang="en-US" sz="5600" b="1" dirty="0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5600" b="1" dirty="0" err="1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được</a:t>
            </a:r>
            <a:endParaRPr lang="en-US" sz="5600" b="1" dirty="0">
              <a:solidFill>
                <a:srgbClr val="F4B342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789069" y="1496971"/>
            <a:ext cx="11926584" cy="6699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600"/>
              </a:lnSpc>
              <a:spcBef>
                <a:spcPct val="0"/>
              </a:spcBef>
            </a:pPr>
            <a:r>
              <a:rPr lang="en-US" sz="4000" b="1">
                <a:solidFill>
                  <a:srgbClr val="360185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Hỗ trợ giảng viên quản lý nội dung giảng dạy</a:t>
            </a:r>
            <a:endParaRPr lang="en-US" sz="4000" b="1">
              <a:solidFill>
                <a:srgbClr val="360185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13" name="AutoShape 13"/>
          <p:cNvSpPr/>
          <p:nvPr/>
        </p:nvSpPr>
        <p:spPr>
          <a:xfrm>
            <a:off x="3711381" y="6470928"/>
            <a:ext cx="9450991" cy="3467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4" name="TextBox 14"/>
          <p:cNvSpPr txBox="1"/>
          <p:nvPr/>
        </p:nvSpPr>
        <p:spPr>
          <a:xfrm>
            <a:off x="1406536" y="5646063"/>
            <a:ext cx="4609690" cy="8248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sz="24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Cung cấp các số liệu thống kê và các lối tắt chức năng</a:t>
            </a:r>
            <a:endParaRPr lang="en-US" sz="2400" b="1">
              <a:solidFill>
                <a:srgbClr val="000000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256807"/>
            <a:chOff x="0" y="0"/>
            <a:chExt cx="4816593" cy="33101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331011"/>
            </a:xfrm>
            <a:custGeom>
              <a:avLst/>
              <a:gdLst/>
              <a:ahLst/>
              <a:cxnLst/>
              <a:rect l="l" t="t" r="r" b="b"/>
              <a:pathLst>
                <a:path w="4816592" h="331011">
                  <a:moveTo>
                    <a:pt x="0" y="0"/>
                  </a:moveTo>
                  <a:lnTo>
                    <a:pt x="4816592" y="0"/>
                  </a:lnTo>
                  <a:lnTo>
                    <a:pt x="4816592" y="331011"/>
                  </a:lnTo>
                  <a:lnTo>
                    <a:pt x="0" y="331011"/>
                  </a:ln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816593" cy="3786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</a:p>
          </p:txBody>
        </p:sp>
      </p:grpSp>
      <p:grpSp>
        <p:nvGrpSpPr>
          <p:cNvPr id="5" name="Group 5"/>
          <p:cNvGrpSpPr>
            <a:grpSpLocks noChangeAspect="1"/>
          </p:cNvGrpSpPr>
          <p:nvPr/>
        </p:nvGrpSpPr>
        <p:grpSpPr>
          <a:xfrm>
            <a:off x="6847245" y="3226379"/>
            <a:ext cx="10412055" cy="5711858"/>
            <a:chOff x="0" y="0"/>
            <a:chExt cx="5908040" cy="3241040"/>
          </a:xfrm>
        </p:grpSpPr>
        <p:sp>
          <p:nvSpPr>
            <p:cNvPr id="6" name="Freeform 6"/>
            <p:cNvSpPr/>
            <p:nvPr/>
          </p:nvSpPr>
          <p:spPr>
            <a:xfrm>
              <a:off x="10160" y="12700"/>
              <a:ext cx="5895340" cy="186690"/>
            </a:xfrm>
            <a:custGeom>
              <a:avLst/>
              <a:gdLst/>
              <a:ahLst/>
              <a:cxnLst/>
              <a:rect l="l" t="t" r="r" b="b"/>
              <a:pathLst>
                <a:path w="5895340" h="186690">
                  <a:moveTo>
                    <a:pt x="0" y="186690"/>
                  </a:moveTo>
                  <a:lnTo>
                    <a:pt x="0" y="127000"/>
                  </a:lnTo>
                  <a:cubicBezTo>
                    <a:pt x="0" y="57150"/>
                    <a:pt x="57150" y="0"/>
                    <a:pt x="127000" y="0"/>
                  </a:cubicBezTo>
                  <a:lnTo>
                    <a:pt x="5768340" y="0"/>
                  </a:lnTo>
                  <a:cubicBezTo>
                    <a:pt x="5838190" y="0"/>
                    <a:pt x="5895340" y="57150"/>
                    <a:pt x="5895340" y="127000"/>
                  </a:cubicBezTo>
                  <a:lnTo>
                    <a:pt x="5895340" y="186690"/>
                  </a:lnTo>
                  <a:cubicBezTo>
                    <a:pt x="5895340" y="186690"/>
                    <a:pt x="0" y="186690"/>
                    <a:pt x="0" y="186690"/>
                  </a:cubicBezTo>
                  <a:close/>
                </a:path>
              </a:pathLst>
            </a:custGeom>
            <a:solidFill>
              <a:srgbClr val="F8DB52"/>
            </a:solidFill>
          </p:spPr>
        </p:sp>
        <p:sp>
          <p:nvSpPr>
            <p:cNvPr id="7" name="Freeform 7"/>
            <p:cNvSpPr/>
            <p:nvPr/>
          </p:nvSpPr>
          <p:spPr>
            <a:xfrm>
              <a:off x="6350" y="193040"/>
              <a:ext cx="5895340" cy="3041650"/>
            </a:xfrm>
            <a:custGeom>
              <a:avLst/>
              <a:gdLst/>
              <a:ahLst/>
              <a:cxnLst/>
              <a:rect l="l" t="t" r="r" b="b"/>
              <a:pathLst>
                <a:path w="5895340" h="3041650">
                  <a:moveTo>
                    <a:pt x="5768340" y="3041650"/>
                  </a:moveTo>
                  <a:lnTo>
                    <a:pt x="127000" y="3041650"/>
                  </a:lnTo>
                  <a:cubicBezTo>
                    <a:pt x="57150" y="3041650"/>
                    <a:pt x="0" y="2984500"/>
                    <a:pt x="0" y="2914650"/>
                  </a:cubicBezTo>
                  <a:lnTo>
                    <a:pt x="0" y="0"/>
                  </a:lnTo>
                  <a:lnTo>
                    <a:pt x="5895340" y="0"/>
                  </a:lnTo>
                  <a:lnTo>
                    <a:pt x="5895340" y="2914650"/>
                  </a:lnTo>
                  <a:cubicBezTo>
                    <a:pt x="5895340" y="2985770"/>
                    <a:pt x="5838190" y="3041650"/>
                    <a:pt x="5768340" y="3041650"/>
                  </a:cubicBezTo>
                  <a:close/>
                </a:path>
              </a:pathLst>
            </a:custGeom>
            <a:blipFill>
              <a:blip r:embed="rId1"/>
              <a:stretch>
                <a:fillRect l="-3884" r="-3884"/>
              </a:stretch>
            </a:blipFill>
          </p:spPr>
        </p:sp>
        <p:sp>
          <p:nvSpPr>
            <p:cNvPr id="8" name="Freeform 8"/>
            <p:cNvSpPr/>
            <p:nvPr/>
          </p:nvSpPr>
          <p:spPr>
            <a:xfrm>
              <a:off x="0" y="0"/>
              <a:ext cx="5908040" cy="3241040"/>
            </a:xfrm>
            <a:custGeom>
              <a:avLst/>
              <a:gdLst/>
              <a:ahLst/>
              <a:cxnLst/>
              <a:rect l="l" t="t" r="r" b="b"/>
              <a:pathLst>
                <a:path w="5908040" h="3241040">
                  <a:moveTo>
                    <a:pt x="5774690" y="0"/>
                  </a:moveTo>
                  <a:lnTo>
                    <a:pt x="133350" y="0"/>
                  </a:lnTo>
                  <a:cubicBezTo>
                    <a:pt x="59690" y="0"/>
                    <a:pt x="0" y="59690"/>
                    <a:pt x="0" y="133350"/>
                  </a:cubicBezTo>
                  <a:lnTo>
                    <a:pt x="0" y="3107690"/>
                  </a:lnTo>
                  <a:cubicBezTo>
                    <a:pt x="0" y="3181350"/>
                    <a:pt x="59690" y="3241040"/>
                    <a:pt x="133350" y="3241040"/>
                  </a:cubicBezTo>
                  <a:lnTo>
                    <a:pt x="5774690" y="3241040"/>
                  </a:lnTo>
                  <a:cubicBezTo>
                    <a:pt x="5848350" y="3241040"/>
                    <a:pt x="5908040" y="3181350"/>
                    <a:pt x="5908040" y="3107690"/>
                  </a:cubicBezTo>
                  <a:lnTo>
                    <a:pt x="5908040" y="133350"/>
                  </a:lnTo>
                  <a:cubicBezTo>
                    <a:pt x="5908040" y="59690"/>
                    <a:pt x="5848350" y="0"/>
                    <a:pt x="5774690" y="0"/>
                  </a:cubicBezTo>
                  <a:close/>
                  <a:moveTo>
                    <a:pt x="5895340" y="3107690"/>
                  </a:moveTo>
                  <a:cubicBezTo>
                    <a:pt x="5895340" y="3175000"/>
                    <a:pt x="5842000" y="3228340"/>
                    <a:pt x="5774690" y="3228340"/>
                  </a:cubicBezTo>
                  <a:lnTo>
                    <a:pt x="133350" y="3228340"/>
                  </a:lnTo>
                  <a:cubicBezTo>
                    <a:pt x="67310" y="3228340"/>
                    <a:pt x="12700" y="3173730"/>
                    <a:pt x="12700" y="3107690"/>
                  </a:cubicBezTo>
                  <a:lnTo>
                    <a:pt x="12700" y="199390"/>
                  </a:lnTo>
                  <a:lnTo>
                    <a:pt x="5895340" y="199390"/>
                  </a:lnTo>
                  <a:lnTo>
                    <a:pt x="5895340" y="3107690"/>
                  </a:lnTo>
                  <a:close/>
                  <a:moveTo>
                    <a:pt x="5895340" y="186690"/>
                  </a:moveTo>
                  <a:lnTo>
                    <a:pt x="12700" y="186690"/>
                  </a:lnTo>
                  <a:lnTo>
                    <a:pt x="12700" y="133350"/>
                  </a:lnTo>
                  <a:cubicBezTo>
                    <a:pt x="12700" y="67310"/>
                    <a:pt x="67310" y="12700"/>
                    <a:pt x="133350" y="12700"/>
                  </a:cubicBezTo>
                  <a:lnTo>
                    <a:pt x="5774690" y="12700"/>
                  </a:lnTo>
                  <a:cubicBezTo>
                    <a:pt x="5840730" y="12700"/>
                    <a:pt x="5895340" y="67310"/>
                    <a:pt x="5895340" y="133350"/>
                  </a:cubicBezTo>
                  <a:lnTo>
                    <a:pt x="5895340" y="18669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" name="Freeform 9"/>
            <p:cNvSpPr/>
            <p:nvPr/>
          </p:nvSpPr>
          <p:spPr>
            <a:xfrm>
              <a:off x="149860" y="73660"/>
              <a:ext cx="299720" cy="63500"/>
            </a:xfrm>
            <a:custGeom>
              <a:avLst/>
              <a:gdLst/>
              <a:ahLst/>
              <a:cxnLst/>
              <a:rect l="l" t="t" r="r" b="b"/>
              <a:pathLst>
                <a:path w="299720" h="63500">
                  <a:moveTo>
                    <a:pt x="118110" y="0"/>
                  </a:moveTo>
                  <a:lnTo>
                    <a:pt x="181610" y="0"/>
                  </a:lnTo>
                  <a:lnTo>
                    <a:pt x="181610" y="63500"/>
                  </a:lnTo>
                  <a:lnTo>
                    <a:pt x="118110" y="63500"/>
                  </a:lnTo>
                  <a:lnTo>
                    <a:pt x="118110" y="0"/>
                  </a:lnTo>
                  <a:close/>
                  <a:moveTo>
                    <a:pt x="31750" y="0"/>
                  </a:moveTo>
                  <a:cubicBezTo>
                    <a:pt x="49530" y="0"/>
                    <a:pt x="63500" y="13970"/>
                    <a:pt x="63500" y="31750"/>
                  </a:cubicBezTo>
                  <a:cubicBezTo>
                    <a:pt x="63500" y="49530"/>
                    <a:pt x="49530" y="63500"/>
                    <a:pt x="31750" y="63500"/>
                  </a:cubicBezTo>
                  <a:cubicBezTo>
                    <a:pt x="13970" y="63500"/>
                    <a:pt x="0" y="49530"/>
                    <a:pt x="0" y="31750"/>
                  </a:cubicBezTo>
                  <a:cubicBezTo>
                    <a:pt x="0" y="13970"/>
                    <a:pt x="13970" y="0"/>
                    <a:pt x="31750" y="0"/>
                  </a:cubicBezTo>
                  <a:close/>
                  <a:moveTo>
                    <a:pt x="267970" y="0"/>
                  </a:moveTo>
                  <a:lnTo>
                    <a:pt x="236220" y="63500"/>
                  </a:lnTo>
                  <a:lnTo>
                    <a:pt x="299720" y="63500"/>
                  </a:lnTo>
                  <a:lnTo>
                    <a:pt x="267970" y="0"/>
                  </a:lnTo>
                  <a:close/>
                </a:path>
              </a:pathLst>
            </a:custGeom>
            <a:solidFill>
              <a:srgbClr val="484FA2"/>
            </a:solidFill>
          </p:spPr>
        </p:sp>
        <p:sp>
          <p:nvSpPr>
            <p:cNvPr id="10" name="Freeform 10"/>
            <p:cNvSpPr/>
            <p:nvPr/>
          </p:nvSpPr>
          <p:spPr>
            <a:xfrm>
              <a:off x="591820" y="88900"/>
              <a:ext cx="5175250" cy="33020"/>
            </a:xfrm>
            <a:custGeom>
              <a:avLst/>
              <a:gdLst/>
              <a:ahLst/>
              <a:cxnLst/>
              <a:rect l="l" t="t" r="r" b="b"/>
              <a:pathLst>
                <a:path w="5175250" h="33020">
                  <a:moveTo>
                    <a:pt x="5158740" y="33020"/>
                  </a:moveTo>
                  <a:lnTo>
                    <a:pt x="16510" y="33020"/>
                  </a:lnTo>
                  <a:cubicBezTo>
                    <a:pt x="7620" y="33020"/>
                    <a:pt x="0" y="25400"/>
                    <a:pt x="0" y="16510"/>
                  </a:cubicBezTo>
                  <a:lnTo>
                    <a:pt x="0" y="16510"/>
                  </a:lnTo>
                  <a:cubicBezTo>
                    <a:pt x="0" y="7620"/>
                    <a:pt x="7620" y="0"/>
                    <a:pt x="16510" y="0"/>
                  </a:cubicBezTo>
                  <a:lnTo>
                    <a:pt x="5158740" y="0"/>
                  </a:lnTo>
                  <a:cubicBezTo>
                    <a:pt x="5167630" y="0"/>
                    <a:pt x="5175250" y="7620"/>
                    <a:pt x="5175250" y="16510"/>
                  </a:cubicBezTo>
                  <a:lnTo>
                    <a:pt x="5175250" y="16510"/>
                  </a:lnTo>
                  <a:cubicBezTo>
                    <a:pt x="5173980" y="25400"/>
                    <a:pt x="5167630" y="33020"/>
                    <a:pt x="5158740" y="33020"/>
                  </a:cubicBezTo>
                  <a:close/>
                </a:path>
              </a:pathLst>
            </a:custGeom>
            <a:solidFill>
              <a:srgbClr val="F26D6F"/>
            </a:solidFill>
          </p:spPr>
        </p:sp>
      </p:grpSp>
      <p:sp>
        <p:nvSpPr>
          <p:cNvPr id="11" name="AutoShape 11"/>
          <p:cNvSpPr/>
          <p:nvPr/>
        </p:nvSpPr>
        <p:spPr>
          <a:xfrm>
            <a:off x="3264662" y="7278648"/>
            <a:ext cx="9450991" cy="2951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2" name="TextBox 12"/>
          <p:cNvSpPr txBox="1"/>
          <p:nvPr/>
        </p:nvSpPr>
        <p:spPr>
          <a:xfrm>
            <a:off x="5188863" y="75565"/>
            <a:ext cx="6988493" cy="953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sz="5600" b="1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3. Kết quả đạt được</a:t>
            </a:r>
            <a:endParaRPr lang="en-US" sz="5600" b="1">
              <a:solidFill>
                <a:srgbClr val="F4B342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789069" y="1496971"/>
            <a:ext cx="11926584" cy="6699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600"/>
              </a:lnSpc>
              <a:spcBef>
                <a:spcPct val="0"/>
              </a:spcBef>
            </a:pPr>
            <a:r>
              <a:rPr lang="en-US" sz="4000" b="1">
                <a:solidFill>
                  <a:srgbClr val="360185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Hỗ trợ giảng viên quản lý nội dung giảng dạy</a:t>
            </a:r>
            <a:endParaRPr lang="en-US" sz="4000" b="1">
              <a:solidFill>
                <a:srgbClr val="360185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959817" y="6034683"/>
            <a:ext cx="4609690" cy="1243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liệt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kê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danh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sách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khóa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học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và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cung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cáp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các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chức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năng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sửa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,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xóa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khóa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học</a:t>
            </a:r>
            <a:endParaRPr lang="en-US" sz="2400" b="1" dirty="0">
              <a:solidFill>
                <a:srgbClr val="000000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256807"/>
            <a:chOff x="0" y="0"/>
            <a:chExt cx="4816593" cy="33101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331011"/>
            </a:xfrm>
            <a:custGeom>
              <a:avLst/>
              <a:gdLst/>
              <a:ahLst/>
              <a:cxnLst/>
              <a:rect l="l" t="t" r="r" b="b"/>
              <a:pathLst>
                <a:path w="4816592" h="331011">
                  <a:moveTo>
                    <a:pt x="0" y="0"/>
                  </a:moveTo>
                  <a:lnTo>
                    <a:pt x="4816592" y="0"/>
                  </a:lnTo>
                  <a:lnTo>
                    <a:pt x="4816592" y="331011"/>
                  </a:lnTo>
                  <a:lnTo>
                    <a:pt x="0" y="331011"/>
                  </a:ln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816593" cy="3786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</a:p>
          </p:txBody>
        </p:sp>
      </p:grpSp>
      <p:grpSp>
        <p:nvGrpSpPr>
          <p:cNvPr id="5" name="Group 5"/>
          <p:cNvGrpSpPr>
            <a:grpSpLocks noChangeAspect="1"/>
          </p:cNvGrpSpPr>
          <p:nvPr/>
        </p:nvGrpSpPr>
        <p:grpSpPr>
          <a:xfrm>
            <a:off x="7292090" y="3226379"/>
            <a:ext cx="10412055" cy="5711858"/>
            <a:chOff x="0" y="0"/>
            <a:chExt cx="5908040" cy="3241040"/>
          </a:xfrm>
        </p:grpSpPr>
        <p:sp>
          <p:nvSpPr>
            <p:cNvPr id="6" name="Freeform 6"/>
            <p:cNvSpPr/>
            <p:nvPr/>
          </p:nvSpPr>
          <p:spPr>
            <a:xfrm>
              <a:off x="10160" y="12700"/>
              <a:ext cx="5895340" cy="186690"/>
            </a:xfrm>
            <a:custGeom>
              <a:avLst/>
              <a:gdLst/>
              <a:ahLst/>
              <a:cxnLst/>
              <a:rect l="l" t="t" r="r" b="b"/>
              <a:pathLst>
                <a:path w="5895340" h="186690">
                  <a:moveTo>
                    <a:pt x="0" y="186690"/>
                  </a:moveTo>
                  <a:lnTo>
                    <a:pt x="0" y="127000"/>
                  </a:lnTo>
                  <a:cubicBezTo>
                    <a:pt x="0" y="57150"/>
                    <a:pt x="57150" y="0"/>
                    <a:pt x="127000" y="0"/>
                  </a:cubicBezTo>
                  <a:lnTo>
                    <a:pt x="5768340" y="0"/>
                  </a:lnTo>
                  <a:cubicBezTo>
                    <a:pt x="5838190" y="0"/>
                    <a:pt x="5895340" y="57150"/>
                    <a:pt x="5895340" y="127000"/>
                  </a:cubicBezTo>
                  <a:lnTo>
                    <a:pt x="5895340" y="186690"/>
                  </a:lnTo>
                  <a:cubicBezTo>
                    <a:pt x="5895340" y="186690"/>
                    <a:pt x="0" y="186690"/>
                    <a:pt x="0" y="186690"/>
                  </a:cubicBezTo>
                  <a:close/>
                </a:path>
              </a:pathLst>
            </a:custGeom>
            <a:solidFill>
              <a:srgbClr val="F8DB52"/>
            </a:solidFill>
          </p:spPr>
        </p:sp>
        <p:sp>
          <p:nvSpPr>
            <p:cNvPr id="7" name="Freeform 7"/>
            <p:cNvSpPr/>
            <p:nvPr/>
          </p:nvSpPr>
          <p:spPr>
            <a:xfrm>
              <a:off x="6350" y="193040"/>
              <a:ext cx="5895340" cy="3041650"/>
            </a:xfrm>
            <a:custGeom>
              <a:avLst/>
              <a:gdLst/>
              <a:ahLst/>
              <a:cxnLst/>
              <a:rect l="l" t="t" r="r" b="b"/>
              <a:pathLst>
                <a:path w="5895340" h="3041650">
                  <a:moveTo>
                    <a:pt x="5768340" y="3041650"/>
                  </a:moveTo>
                  <a:lnTo>
                    <a:pt x="127000" y="3041650"/>
                  </a:lnTo>
                  <a:cubicBezTo>
                    <a:pt x="57150" y="3041650"/>
                    <a:pt x="0" y="2984500"/>
                    <a:pt x="0" y="2914650"/>
                  </a:cubicBezTo>
                  <a:lnTo>
                    <a:pt x="0" y="0"/>
                  </a:lnTo>
                  <a:lnTo>
                    <a:pt x="5895340" y="0"/>
                  </a:lnTo>
                  <a:lnTo>
                    <a:pt x="5895340" y="2914650"/>
                  </a:lnTo>
                  <a:cubicBezTo>
                    <a:pt x="5895340" y="2985770"/>
                    <a:pt x="5838190" y="3041650"/>
                    <a:pt x="5768340" y="3041650"/>
                  </a:cubicBezTo>
                  <a:close/>
                </a:path>
              </a:pathLst>
            </a:custGeom>
            <a:blipFill>
              <a:blip r:embed="rId1"/>
              <a:stretch>
                <a:fillRect l="-7768"/>
              </a:stretch>
            </a:blipFill>
          </p:spPr>
        </p:sp>
        <p:sp>
          <p:nvSpPr>
            <p:cNvPr id="8" name="Freeform 8"/>
            <p:cNvSpPr/>
            <p:nvPr/>
          </p:nvSpPr>
          <p:spPr>
            <a:xfrm>
              <a:off x="0" y="0"/>
              <a:ext cx="5908040" cy="3241040"/>
            </a:xfrm>
            <a:custGeom>
              <a:avLst/>
              <a:gdLst/>
              <a:ahLst/>
              <a:cxnLst/>
              <a:rect l="l" t="t" r="r" b="b"/>
              <a:pathLst>
                <a:path w="5908040" h="3241040">
                  <a:moveTo>
                    <a:pt x="5774690" y="0"/>
                  </a:moveTo>
                  <a:lnTo>
                    <a:pt x="133350" y="0"/>
                  </a:lnTo>
                  <a:cubicBezTo>
                    <a:pt x="59690" y="0"/>
                    <a:pt x="0" y="59690"/>
                    <a:pt x="0" y="133350"/>
                  </a:cubicBezTo>
                  <a:lnTo>
                    <a:pt x="0" y="3107690"/>
                  </a:lnTo>
                  <a:cubicBezTo>
                    <a:pt x="0" y="3181350"/>
                    <a:pt x="59690" y="3241040"/>
                    <a:pt x="133350" y="3241040"/>
                  </a:cubicBezTo>
                  <a:lnTo>
                    <a:pt x="5774690" y="3241040"/>
                  </a:lnTo>
                  <a:cubicBezTo>
                    <a:pt x="5848350" y="3241040"/>
                    <a:pt x="5908040" y="3181350"/>
                    <a:pt x="5908040" y="3107690"/>
                  </a:cubicBezTo>
                  <a:lnTo>
                    <a:pt x="5908040" y="133350"/>
                  </a:lnTo>
                  <a:cubicBezTo>
                    <a:pt x="5908040" y="59690"/>
                    <a:pt x="5848350" y="0"/>
                    <a:pt x="5774690" y="0"/>
                  </a:cubicBezTo>
                  <a:close/>
                  <a:moveTo>
                    <a:pt x="5895340" y="3107690"/>
                  </a:moveTo>
                  <a:cubicBezTo>
                    <a:pt x="5895340" y="3175000"/>
                    <a:pt x="5842000" y="3228340"/>
                    <a:pt x="5774690" y="3228340"/>
                  </a:cubicBezTo>
                  <a:lnTo>
                    <a:pt x="133350" y="3228340"/>
                  </a:lnTo>
                  <a:cubicBezTo>
                    <a:pt x="67310" y="3228340"/>
                    <a:pt x="12700" y="3173730"/>
                    <a:pt x="12700" y="3107690"/>
                  </a:cubicBezTo>
                  <a:lnTo>
                    <a:pt x="12700" y="199390"/>
                  </a:lnTo>
                  <a:lnTo>
                    <a:pt x="5895340" y="199390"/>
                  </a:lnTo>
                  <a:lnTo>
                    <a:pt x="5895340" y="3107690"/>
                  </a:lnTo>
                  <a:close/>
                  <a:moveTo>
                    <a:pt x="5895340" y="186690"/>
                  </a:moveTo>
                  <a:lnTo>
                    <a:pt x="12700" y="186690"/>
                  </a:lnTo>
                  <a:lnTo>
                    <a:pt x="12700" y="133350"/>
                  </a:lnTo>
                  <a:cubicBezTo>
                    <a:pt x="12700" y="67310"/>
                    <a:pt x="67310" y="12700"/>
                    <a:pt x="133350" y="12700"/>
                  </a:cubicBezTo>
                  <a:lnTo>
                    <a:pt x="5774690" y="12700"/>
                  </a:lnTo>
                  <a:cubicBezTo>
                    <a:pt x="5840730" y="12700"/>
                    <a:pt x="5895340" y="67310"/>
                    <a:pt x="5895340" y="133350"/>
                  </a:cubicBezTo>
                  <a:lnTo>
                    <a:pt x="5895340" y="18669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" name="Freeform 9"/>
            <p:cNvSpPr/>
            <p:nvPr/>
          </p:nvSpPr>
          <p:spPr>
            <a:xfrm>
              <a:off x="149860" y="73660"/>
              <a:ext cx="299720" cy="63500"/>
            </a:xfrm>
            <a:custGeom>
              <a:avLst/>
              <a:gdLst/>
              <a:ahLst/>
              <a:cxnLst/>
              <a:rect l="l" t="t" r="r" b="b"/>
              <a:pathLst>
                <a:path w="299720" h="63500">
                  <a:moveTo>
                    <a:pt x="118110" y="0"/>
                  </a:moveTo>
                  <a:lnTo>
                    <a:pt x="181610" y="0"/>
                  </a:lnTo>
                  <a:lnTo>
                    <a:pt x="181610" y="63500"/>
                  </a:lnTo>
                  <a:lnTo>
                    <a:pt x="118110" y="63500"/>
                  </a:lnTo>
                  <a:lnTo>
                    <a:pt x="118110" y="0"/>
                  </a:lnTo>
                  <a:close/>
                  <a:moveTo>
                    <a:pt x="31750" y="0"/>
                  </a:moveTo>
                  <a:cubicBezTo>
                    <a:pt x="49530" y="0"/>
                    <a:pt x="63500" y="13970"/>
                    <a:pt x="63500" y="31750"/>
                  </a:cubicBezTo>
                  <a:cubicBezTo>
                    <a:pt x="63500" y="49530"/>
                    <a:pt x="49530" y="63500"/>
                    <a:pt x="31750" y="63500"/>
                  </a:cubicBezTo>
                  <a:cubicBezTo>
                    <a:pt x="13970" y="63500"/>
                    <a:pt x="0" y="49530"/>
                    <a:pt x="0" y="31750"/>
                  </a:cubicBezTo>
                  <a:cubicBezTo>
                    <a:pt x="0" y="13970"/>
                    <a:pt x="13970" y="0"/>
                    <a:pt x="31750" y="0"/>
                  </a:cubicBezTo>
                  <a:close/>
                  <a:moveTo>
                    <a:pt x="267970" y="0"/>
                  </a:moveTo>
                  <a:lnTo>
                    <a:pt x="236220" y="63500"/>
                  </a:lnTo>
                  <a:lnTo>
                    <a:pt x="299720" y="63500"/>
                  </a:lnTo>
                  <a:lnTo>
                    <a:pt x="267970" y="0"/>
                  </a:lnTo>
                  <a:close/>
                </a:path>
              </a:pathLst>
            </a:custGeom>
            <a:solidFill>
              <a:srgbClr val="484FA2"/>
            </a:solidFill>
          </p:spPr>
        </p:sp>
        <p:sp>
          <p:nvSpPr>
            <p:cNvPr id="10" name="Freeform 10"/>
            <p:cNvSpPr/>
            <p:nvPr/>
          </p:nvSpPr>
          <p:spPr>
            <a:xfrm>
              <a:off x="591820" y="88900"/>
              <a:ext cx="5175250" cy="33020"/>
            </a:xfrm>
            <a:custGeom>
              <a:avLst/>
              <a:gdLst/>
              <a:ahLst/>
              <a:cxnLst/>
              <a:rect l="l" t="t" r="r" b="b"/>
              <a:pathLst>
                <a:path w="5175250" h="33020">
                  <a:moveTo>
                    <a:pt x="5158740" y="33020"/>
                  </a:moveTo>
                  <a:lnTo>
                    <a:pt x="16510" y="33020"/>
                  </a:lnTo>
                  <a:cubicBezTo>
                    <a:pt x="7620" y="33020"/>
                    <a:pt x="0" y="25400"/>
                    <a:pt x="0" y="16510"/>
                  </a:cubicBezTo>
                  <a:lnTo>
                    <a:pt x="0" y="16510"/>
                  </a:lnTo>
                  <a:cubicBezTo>
                    <a:pt x="0" y="7620"/>
                    <a:pt x="7620" y="0"/>
                    <a:pt x="16510" y="0"/>
                  </a:cubicBezTo>
                  <a:lnTo>
                    <a:pt x="5158740" y="0"/>
                  </a:lnTo>
                  <a:cubicBezTo>
                    <a:pt x="5167630" y="0"/>
                    <a:pt x="5175250" y="7620"/>
                    <a:pt x="5175250" y="16510"/>
                  </a:cubicBezTo>
                  <a:lnTo>
                    <a:pt x="5175250" y="16510"/>
                  </a:lnTo>
                  <a:cubicBezTo>
                    <a:pt x="5173980" y="25400"/>
                    <a:pt x="5167630" y="33020"/>
                    <a:pt x="5158740" y="33020"/>
                  </a:cubicBezTo>
                  <a:close/>
                </a:path>
              </a:pathLst>
            </a:custGeom>
            <a:solidFill>
              <a:srgbClr val="F26D6F"/>
            </a:solidFill>
          </p:spPr>
        </p:sp>
      </p:grpSp>
      <p:sp>
        <p:nvSpPr>
          <p:cNvPr id="11" name="AutoShape 11"/>
          <p:cNvSpPr/>
          <p:nvPr/>
        </p:nvSpPr>
        <p:spPr>
          <a:xfrm>
            <a:off x="3733800" y="5555374"/>
            <a:ext cx="9450991" cy="2951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2" name="TextBox 12"/>
          <p:cNvSpPr txBox="1"/>
          <p:nvPr/>
        </p:nvSpPr>
        <p:spPr>
          <a:xfrm>
            <a:off x="5188863" y="75565"/>
            <a:ext cx="6988493" cy="953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sz="5600" b="1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3. Kết quả đạt được</a:t>
            </a:r>
            <a:endParaRPr lang="en-US" sz="5600" b="1">
              <a:solidFill>
                <a:srgbClr val="F4B342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789069" y="1496971"/>
            <a:ext cx="11926584" cy="6699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600"/>
              </a:lnSpc>
              <a:spcBef>
                <a:spcPct val="0"/>
              </a:spcBef>
            </a:pPr>
            <a:r>
              <a:rPr lang="en-US" sz="4000" b="1">
                <a:solidFill>
                  <a:srgbClr val="360185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Hỗ trợ giảng viên quản lý nội dung giảng dạy</a:t>
            </a:r>
            <a:endParaRPr lang="en-US" sz="4000" b="1">
              <a:solidFill>
                <a:srgbClr val="360185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959817" y="4458986"/>
            <a:ext cx="4609690" cy="1243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cho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phép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thêm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,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sửa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bài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học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và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tạo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câu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hỏi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trắc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nghiệm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cho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từng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bài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học</a:t>
            </a:r>
            <a:endParaRPr lang="en-US" sz="2400" b="1" dirty="0">
              <a:solidFill>
                <a:srgbClr val="000000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256807"/>
            <a:chOff x="0" y="0"/>
            <a:chExt cx="4816593" cy="33101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331011"/>
            </a:xfrm>
            <a:custGeom>
              <a:avLst/>
              <a:gdLst/>
              <a:ahLst/>
              <a:cxnLst/>
              <a:rect l="l" t="t" r="r" b="b"/>
              <a:pathLst>
                <a:path w="4816592" h="331011">
                  <a:moveTo>
                    <a:pt x="0" y="0"/>
                  </a:moveTo>
                  <a:lnTo>
                    <a:pt x="4816592" y="0"/>
                  </a:lnTo>
                  <a:lnTo>
                    <a:pt x="4816592" y="331011"/>
                  </a:lnTo>
                  <a:lnTo>
                    <a:pt x="0" y="331011"/>
                  </a:ln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816593" cy="3786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</a:p>
          </p:txBody>
        </p:sp>
      </p:grpSp>
      <p:grpSp>
        <p:nvGrpSpPr>
          <p:cNvPr id="5" name="Group 5"/>
          <p:cNvGrpSpPr>
            <a:grpSpLocks noChangeAspect="1"/>
          </p:cNvGrpSpPr>
          <p:nvPr/>
        </p:nvGrpSpPr>
        <p:grpSpPr>
          <a:xfrm>
            <a:off x="7292090" y="3226379"/>
            <a:ext cx="10412055" cy="5711858"/>
            <a:chOff x="0" y="0"/>
            <a:chExt cx="5908040" cy="3241040"/>
          </a:xfrm>
        </p:grpSpPr>
        <p:sp>
          <p:nvSpPr>
            <p:cNvPr id="6" name="Freeform 6"/>
            <p:cNvSpPr/>
            <p:nvPr/>
          </p:nvSpPr>
          <p:spPr>
            <a:xfrm>
              <a:off x="10160" y="12700"/>
              <a:ext cx="5895340" cy="186690"/>
            </a:xfrm>
            <a:custGeom>
              <a:avLst/>
              <a:gdLst/>
              <a:ahLst/>
              <a:cxnLst/>
              <a:rect l="l" t="t" r="r" b="b"/>
              <a:pathLst>
                <a:path w="5895340" h="186690">
                  <a:moveTo>
                    <a:pt x="0" y="186690"/>
                  </a:moveTo>
                  <a:lnTo>
                    <a:pt x="0" y="127000"/>
                  </a:lnTo>
                  <a:cubicBezTo>
                    <a:pt x="0" y="57150"/>
                    <a:pt x="57150" y="0"/>
                    <a:pt x="127000" y="0"/>
                  </a:cubicBezTo>
                  <a:lnTo>
                    <a:pt x="5768340" y="0"/>
                  </a:lnTo>
                  <a:cubicBezTo>
                    <a:pt x="5838190" y="0"/>
                    <a:pt x="5895340" y="57150"/>
                    <a:pt x="5895340" y="127000"/>
                  </a:cubicBezTo>
                  <a:lnTo>
                    <a:pt x="5895340" y="186690"/>
                  </a:lnTo>
                  <a:cubicBezTo>
                    <a:pt x="5895340" y="186690"/>
                    <a:pt x="0" y="186690"/>
                    <a:pt x="0" y="186690"/>
                  </a:cubicBezTo>
                  <a:close/>
                </a:path>
              </a:pathLst>
            </a:custGeom>
            <a:solidFill>
              <a:srgbClr val="F8DB52"/>
            </a:solidFill>
          </p:spPr>
        </p:sp>
        <p:sp>
          <p:nvSpPr>
            <p:cNvPr id="7" name="Freeform 7"/>
            <p:cNvSpPr/>
            <p:nvPr/>
          </p:nvSpPr>
          <p:spPr>
            <a:xfrm>
              <a:off x="6350" y="193040"/>
              <a:ext cx="5895340" cy="3041650"/>
            </a:xfrm>
            <a:custGeom>
              <a:avLst/>
              <a:gdLst/>
              <a:ahLst/>
              <a:cxnLst/>
              <a:rect l="l" t="t" r="r" b="b"/>
              <a:pathLst>
                <a:path w="5895340" h="3041650">
                  <a:moveTo>
                    <a:pt x="5768340" y="3041650"/>
                  </a:moveTo>
                  <a:lnTo>
                    <a:pt x="127000" y="3041650"/>
                  </a:lnTo>
                  <a:cubicBezTo>
                    <a:pt x="57150" y="3041650"/>
                    <a:pt x="0" y="2984500"/>
                    <a:pt x="0" y="2914650"/>
                  </a:cubicBezTo>
                  <a:lnTo>
                    <a:pt x="0" y="0"/>
                  </a:lnTo>
                  <a:lnTo>
                    <a:pt x="5895340" y="0"/>
                  </a:lnTo>
                  <a:lnTo>
                    <a:pt x="5895340" y="2914650"/>
                  </a:lnTo>
                  <a:cubicBezTo>
                    <a:pt x="5895340" y="2985770"/>
                    <a:pt x="5838190" y="3041650"/>
                    <a:pt x="5768340" y="3041650"/>
                  </a:cubicBezTo>
                  <a:close/>
                </a:path>
              </a:pathLst>
            </a:custGeom>
            <a:blipFill>
              <a:blip r:embed="rId1"/>
              <a:stretch>
                <a:fillRect r="-7768"/>
              </a:stretch>
            </a:blipFill>
          </p:spPr>
        </p:sp>
        <p:sp>
          <p:nvSpPr>
            <p:cNvPr id="8" name="Freeform 8"/>
            <p:cNvSpPr/>
            <p:nvPr/>
          </p:nvSpPr>
          <p:spPr>
            <a:xfrm>
              <a:off x="0" y="0"/>
              <a:ext cx="5908040" cy="3241040"/>
            </a:xfrm>
            <a:custGeom>
              <a:avLst/>
              <a:gdLst/>
              <a:ahLst/>
              <a:cxnLst/>
              <a:rect l="l" t="t" r="r" b="b"/>
              <a:pathLst>
                <a:path w="5908040" h="3241040">
                  <a:moveTo>
                    <a:pt x="5774690" y="0"/>
                  </a:moveTo>
                  <a:lnTo>
                    <a:pt x="133350" y="0"/>
                  </a:lnTo>
                  <a:cubicBezTo>
                    <a:pt x="59690" y="0"/>
                    <a:pt x="0" y="59690"/>
                    <a:pt x="0" y="133350"/>
                  </a:cubicBezTo>
                  <a:lnTo>
                    <a:pt x="0" y="3107690"/>
                  </a:lnTo>
                  <a:cubicBezTo>
                    <a:pt x="0" y="3181350"/>
                    <a:pt x="59690" y="3241040"/>
                    <a:pt x="133350" y="3241040"/>
                  </a:cubicBezTo>
                  <a:lnTo>
                    <a:pt x="5774690" y="3241040"/>
                  </a:lnTo>
                  <a:cubicBezTo>
                    <a:pt x="5848350" y="3241040"/>
                    <a:pt x="5908040" y="3181350"/>
                    <a:pt x="5908040" y="3107690"/>
                  </a:cubicBezTo>
                  <a:lnTo>
                    <a:pt x="5908040" y="133350"/>
                  </a:lnTo>
                  <a:cubicBezTo>
                    <a:pt x="5908040" y="59690"/>
                    <a:pt x="5848350" y="0"/>
                    <a:pt x="5774690" y="0"/>
                  </a:cubicBezTo>
                  <a:close/>
                  <a:moveTo>
                    <a:pt x="5895340" y="3107690"/>
                  </a:moveTo>
                  <a:cubicBezTo>
                    <a:pt x="5895340" y="3175000"/>
                    <a:pt x="5842000" y="3228340"/>
                    <a:pt x="5774690" y="3228340"/>
                  </a:cubicBezTo>
                  <a:lnTo>
                    <a:pt x="133350" y="3228340"/>
                  </a:lnTo>
                  <a:cubicBezTo>
                    <a:pt x="67310" y="3228340"/>
                    <a:pt x="12700" y="3173730"/>
                    <a:pt x="12700" y="3107690"/>
                  </a:cubicBezTo>
                  <a:lnTo>
                    <a:pt x="12700" y="199390"/>
                  </a:lnTo>
                  <a:lnTo>
                    <a:pt x="5895340" y="199390"/>
                  </a:lnTo>
                  <a:lnTo>
                    <a:pt x="5895340" y="3107690"/>
                  </a:lnTo>
                  <a:close/>
                  <a:moveTo>
                    <a:pt x="5895340" y="186690"/>
                  </a:moveTo>
                  <a:lnTo>
                    <a:pt x="12700" y="186690"/>
                  </a:lnTo>
                  <a:lnTo>
                    <a:pt x="12700" y="133350"/>
                  </a:lnTo>
                  <a:cubicBezTo>
                    <a:pt x="12700" y="67310"/>
                    <a:pt x="67310" y="12700"/>
                    <a:pt x="133350" y="12700"/>
                  </a:cubicBezTo>
                  <a:lnTo>
                    <a:pt x="5774690" y="12700"/>
                  </a:lnTo>
                  <a:cubicBezTo>
                    <a:pt x="5840730" y="12700"/>
                    <a:pt x="5895340" y="67310"/>
                    <a:pt x="5895340" y="133350"/>
                  </a:cubicBezTo>
                  <a:lnTo>
                    <a:pt x="5895340" y="18669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" name="Freeform 9"/>
            <p:cNvSpPr/>
            <p:nvPr/>
          </p:nvSpPr>
          <p:spPr>
            <a:xfrm>
              <a:off x="149860" y="73660"/>
              <a:ext cx="299720" cy="63500"/>
            </a:xfrm>
            <a:custGeom>
              <a:avLst/>
              <a:gdLst/>
              <a:ahLst/>
              <a:cxnLst/>
              <a:rect l="l" t="t" r="r" b="b"/>
              <a:pathLst>
                <a:path w="299720" h="63500">
                  <a:moveTo>
                    <a:pt x="118110" y="0"/>
                  </a:moveTo>
                  <a:lnTo>
                    <a:pt x="181610" y="0"/>
                  </a:lnTo>
                  <a:lnTo>
                    <a:pt x="181610" y="63500"/>
                  </a:lnTo>
                  <a:lnTo>
                    <a:pt x="118110" y="63500"/>
                  </a:lnTo>
                  <a:lnTo>
                    <a:pt x="118110" y="0"/>
                  </a:lnTo>
                  <a:close/>
                  <a:moveTo>
                    <a:pt x="31750" y="0"/>
                  </a:moveTo>
                  <a:cubicBezTo>
                    <a:pt x="49530" y="0"/>
                    <a:pt x="63500" y="13970"/>
                    <a:pt x="63500" y="31750"/>
                  </a:cubicBezTo>
                  <a:cubicBezTo>
                    <a:pt x="63500" y="49530"/>
                    <a:pt x="49530" y="63500"/>
                    <a:pt x="31750" y="63500"/>
                  </a:cubicBezTo>
                  <a:cubicBezTo>
                    <a:pt x="13970" y="63500"/>
                    <a:pt x="0" y="49530"/>
                    <a:pt x="0" y="31750"/>
                  </a:cubicBezTo>
                  <a:cubicBezTo>
                    <a:pt x="0" y="13970"/>
                    <a:pt x="13970" y="0"/>
                    <a:pt x="31750" y="0"/>
                  </a:cubicBezTo>
                  <a:close/>
                  <a:moveTo>
                    <a:pt x="267970" y="0"/>
                  </a:moveTo>
                  <a:lnTo>
                    <a:pt x="236220" y="63500"/>
                  </a:lnTo>
                  <a:lnTo>
                    <a:pt x="299720" y="63500"/>
                  </a:lnTo>
                  <a:lnTo>
                    <a:pt x="267970" y="0"/>
                  </a:lnTo>
                  <a:close/>
                </a:path>
              </a:pathLst>
            </a:custGeom>
            <a:solidFill>
              <a:srgbClr val="484FA2"/>
            </a:solidFill>
          </p:spPr>
        </p:sp>
        <p:sp>
          <p:nvSpPr>
            <p:cNvPr id="10" name="Freeform 10"/>
            <p:cNvSpPr/>
            <p:nvPr/>
          </p:nvSpPr>
          <p:spPr>
            <a:xfrm>
              <a:off x="591820" y="88900"/>
              <a:ext cx="5175250" cy="33020"/>
            </a:xfrm>
            <a:custGeom>
              <a:avLst/>
              <a:gdLst/>
              <a:ahLst/>
              <a:cxnLst/>
              <a:rect l="l" t="t" r="r" b="b"/>
              <a:pathLst>
                <a:path w="5175250" h="33020">
                  <a:moveTo>
                    <a:pt x="5158740" y="33020"/>
                  </a:moveTo>
                  <a:lnTo>
                    <a:pt x="16510" y="33020"/>
                  </a:lnTo>
                  <a:cubicBezTo>
                    <a:pt x="7620" y="33020"/>
                    <a:pt x="0" y="25400"/>
                    <a:pt x="0" y="16510"/>
                  </a:cubicBezTo>
                  <a:lnTo>
                    <a:pt x="0" y="16510"/>
                  </a:lnTo>
                  <a:cubicBezTo>
                    <a:pt x="0" y="7620"/>
                    <a:pt x="7620" y="0"/>
                    <a:pt x="16510" y="0"/>
                  </a:cubicBezTo>
                  <a:lnTo>
                    <a:pt x="5158740" y="0"/>
                  </a:lnTo>
                  <a:cubicBezTo>
                    <a:pt x="5167630" y="0"/>
                    <a:pt x="5175250" y="7620"/>
                    <a:pt x="5175250" y="16510"/>
                  </a:cubicBezTo>
                  <a:lnTo>
                    <a:pt x="5175250" y="16510"/>
                  </a:lnTo>
                  <a:cubicBezTo>
                    <a:pt x="5173980" y="25400"/>
                    <a:pt x="5167630" y="33020"/>
                    <a:pt x="5158740" y="33020"/>
                  </a:cubicBezTo>
                  <a:close/>
                </a:path>
              </a:pathLst>
            </a:custGeom>
            <a:solidFill>
              <a:srgbClr val="F26D6F"/>
            </a:solidFill>
          </p:spPr>
        </p:sp>
      </p:grpSp>
      <p:sp>
        <p:nvSpPr>
          <p:cNvPr id="11" name="AutoShape 11"/>
          <p:cNvSpPr/>
          <p:nvPr/>
        </p:nvSpPr>
        <p:spPr>
          <a:xfrm>
            <a:off x="2819400" y="5503978"/>
            <a:ext cx="9753600" cy="57144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2" name="TextBox 12"/>
          <p:cNvSpPr txBox="1"/>
          <p:nvPr/>
        </p:nvSpPr>
        <p:spPr>
          <a:xfrm>
            <a:off x="5188863" y="75565"/>
            <a:ext cx="6988493" cy="953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sz="5600" b="1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3. Kết quả đạt được</a:t>
            </a:r>
            <a:endParaRPr lang="en-US" sz="5600" b="1">
              <a:solidFill>
                <a:srgbClr val="F4B342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789069" y="1496971"/>
            <a:ext cx="11926584" cy="6699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600"/>
              </a:lnSpc>
              <a:spcBef>
                <a:spcPct val="0"/>
              </a:spcBef>
            </a:pPr>
            <a:r>
              <a:rPr lang="en-US" sz="4000" b="1">
                <a:solidFill>
                  <a:srgbClr val="360185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Hỗ trợ quản trị viên quản lý hệ thống</a:t>
            </a:r>
            <a:endParaRPr lang="en-US" sz="4000" b="1">
              <a:solidFill>
                <a:srgbClr val="360185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742281" y="4161533"/>
            <a:ext cx="4609690" cy="1243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sz="24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Thống kê thông tin hệ thông và cung cấp các chức năng để quản lý hệ thống</a:t>
            </a:r>
            <a:endParaRPr lang="en-US" sz="2400" b="1">
              <a:solidFill>
                <a:srgbClr val="000000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256807"/>
            <a:chOff x="0" y="0"/>
            <a:chExt cx="4816593" cy="33101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331011"/>
            </a:xfrm>
            <a:custGeom>
              <a:avLst/>
              <a:gdLst/>
              <a:ahLst/>
              <a:cxnLst/>
              <a:rect l="l" t="t" r="r" b="b"/>
              <a:pathLst>
                <a:path w="4816592" h="331011">
                  <a:moveTo>
                    <a:pt x="0" y="0"/>
                  </a:moveTo>
                  <a:lnTo>
                    <a:pt x="4816592" y="0"/>
                  </a:lnTo>
                  <a:lnTo>
                    <a:pt x="4816592" y="331011"/>
                  </a:lnTo>
                  <a:lnTo>
                    <a:pt x="0" y="331011"/>
                  </a:ln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816593" cy="3786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</a:p>
          </p:txBody>
        </p:sp>
      </p:grpSp>
      <p:grpSp>
        <p:nvGrpSpPr>
          <p:cNvPr id="5" name="Group 5"/>
          <p:cNvGrpSpPr>
            <a:grpSpLocks noChangeAspect="1"/>
          </p:cNvGrpSpPr>
          <p:nvPr/>
        </p:nvGrpSpPr>
        <p:grpSpPr>
          <a:xfrm>
            <a:off x="7292090" y="3226379"/>
            <a:ext cx="10412055" cy="5711858"/>
            <a:chOff x="0" y="0"/>
            <a:chExt cx="5908040" cy="3241040"/>
          </a:xfrm>
        </p:grpSpPr>
        <p:sp>
          <p:nvSpPr>
            <p:cNvPr id="6" name="Freeform 6"/>
            <p:cNvSpPr/>
            <p:nvPr/>
          </p:nvSpPr>
          <p:spPr>
            <a:xfrm>
              <a:off x="10160" y="12700"/>
              <a:ext cx="5895340" cy="186690"/>
            </a:xfrm>
            <a:custGeom>
              <a:avLst/>
              <a:gdLst/>
              <a:ahLst/>
              <a:cxnLst/>
              <a:rect l="l" t="t" r="r" b="b"/>
              <a:pathLst>
                <a:path w="5895340" h="186690">
                  <a:moveTo>
                    <a:pt x="0" y="186690"/>
                  </a:moveTo>
                  <a:lnTo>
                    <a:pt x="0" y="127000"/>
                  </a:lnTo>
                  <a:cubicBezTo>
                    <a:pt x="0" y="57150"/>
                    <a:pt x="57150" y="0"/>
                    <a:pt x="127000" y="0"/>
                  </a:cubicBezTo>
                  <a:lnTo>
                    <a:pt x="5768340" y="0"/>
                  </a:lnTo>
                  <a:cubicBezTo>
                    <a:pt x="5838190" y="0"/>
                    <a:pt x="5895340" y="57150"/>
                    <a:pt x="5895340" y="127000"/>
                  </a:cubicBezTo>
                  <a:lnTo>
                    <a:pt x="5895340" y="186690"/>
                  </a:lnTo>
                  <a:cubicBezTo>
                    <a:pt x="5895340" y="186690"/>
                    <a:pt x="0" y="186690"/>
                    <a:pt x="0" y="186690"/>
                  </a:cubicBezTo>
                  <a:close/>
                </a:path>
              </a:pathLst>
            </a:custGeom>
            <a:solidFill>
              <a:srgbClr val="F8DB52"/>
            </a:solidFill>
          </p:spPr>
        </p:sp>
        <p:sp>
          <p:nvSpPr>
            <p:cNvPr id="7" name="Freeform 7"/>
            <p:cNvSpPr/>
            <p:nvPr/>
          </p:nvSpPr>
          <p:spPr>
            <a:xfrm>
              <a:off x="6350" y="193040"/>
              <a:ext cx="5895340" cy="3041650"/>
            </a:xfrm>
            <a:custGeom>
              <a:avLst/>
              <a:gdLst/>
              <a:ahLst/>
              <a:cxnLst/>
              <a:rect l="l" t="t" r="r" b="b"/>
              <a:pathLst>
                <a:path w="5895340" h="3041650">
                  <a:moveTo>
                    <a:pt x="5768340" y="3041650"/>
                  </a:moveTo>
                  <a:lnTo>
                    <a:pt x="127000" y="3041650"/>
                  </a:lnTo>
                  <a:cubicBezTo>
                    <a:pt x="57150" y="3041650"/>
                    <a:pt x="0" y="2984500"/>
                    <a:pt x="0" y="2914650"/>
                  </a:cubicBezTo>
                  <a:lnTo>
                    <a:pt x="0" y="0"/>
                  </a:lnTo>
                  <a:lnTo>
                    <a:pt x="5895340" y="0"/>
                  </a:lnTo>
                  <a:lnTo>
                    <a:pt x="5895340" y="2914650"/>
                  </a:lnTo>
                  <a:cubicBezTo>
                    <a:pt x="5895340" y="2985770"/>
                    <a:pt x="5838190" y="3041650"/>
                    <a:pt x="5768340" y="3041650"/>
                  </a:cubicBezTo>
                  <a:close/>
                </a:path>
              </a:pathLst>
            </a:custGeom>
            <a:blipFill>
              <a:blip r:embed="rId1"/>
              <a:stretch>
                <a:fillRect r="-7768"/>
              </a:stretch>
            </a:blipFill>
          </p:spPr>
        </p:sp>
        <p:sp>
          <p:nvSpPr>
            <p:cNvPr id="8" name="Freeform 8"/>
            <p:cNvSpPr/>
            <p:nvPr/>
          </p:nvSpPr>
          <p:spPr>
            <a:xfrm>
              <a:off x="0" y="0"/>
              <a:ext cx="5908040" cy="3241040"/>
            </a:xfrm>
            <a:custGeom>
              <a:avLst/>
              <a:gdLst/>
              <a:ahLst/>
              <a:cxnLst/>
              <a:rect l="l" t="t" r="r" b="b"/>
              <a:pathLst>
                <a:path w="5908040" h="3241040">
                  <a:moveTo>
                    <a:pt x="5774690" y="0"/>
                  </a:moveTo>
                  <a:lnTo>
                    <a:pt x="133350" y="0"/>
                  </a:lnTo>
                  <a:cubicBezTo>
                    <a:pt x="59690" y="0"/>
                    <a:pt x="0" y="59690"/>
                    <a:pt x="0" y="133350"/>
                  </a:cubicBezTo>
                  <a:lnTo>
                    <a:pt x="0" y="3107690"/>
                  </a:lnTo>
                  <a:cubicBezTo>
                    <a:pt x="0" y="3181350"/>
                    <a:pt x="59690" y="3241040"/>
                    <a:pt x="133350" y="3241040"/>
                  </a:cubicBezTo>
                  <a:lnTo>
                    <a:pt x="5774690" y="3241040"/>
                  </a:lnTo>
                  <a:cubicBezTo>
                    <a:pt x="5848350" y="3241040"/>
                    <a:pt x="5908040" y="3181350"/>
                    <a:pt x="5908040" y="3107690"/>
                  </a:cubicBezTo>
                  <a:lnTo>
                    <a:pt x="5908040" y="133350"/>
                  </a:lnTo>
                  <a:cubicBezTo>
                    <a:pt x="5908040" y="59690"/>
                    <a:pt x="5848350" y="0"/>
                    <a:pt x="5774690" y="0"/>
                  </a:cubicBezTo>
                  <a:close/>
                  <a:moveTo>
                    <a:pt x="5895340" y="3107690"/>
                  </a:moveTo>
                  <a:cubicBezTo>
                    <a:pt x="5895340" y="3175000"/>
                    <a:pt x="5842000" y="3228340"/>
                    <a:pt x="5774690" y="3228340"/>
                  </a:cubicBezTo>
                  <a:lnTo>
                    <a:pt x="133350" y="3228340"/>
                  </a:lnTo>
                  <a:cubicBezTo>
                    <a:pt x="67310" y="3228340"/>
                    <a:pt x="12700" y="3173730"/>
                    <a:pt x="12700" y="3107690"/>
                  </a:cubicBezTo>
                  <a:lnTo>
                    <a:pt x="12700" y="199390"/>
                  </a:lnTo>
                  <a:lnTo>
                    <a:pt x="5895340" y="199390"/>
                  </a:lnTo>
                  <a:lnTo>
                    <a:pt x="5895340" y="3107690"/>
                  </a:lnTo>
                  <a:close/>
                  <a:moveTo>
                    <a:pt x="5895340" y="186690"/>
                  </a:moveTo>
                  <a:lnTo>
                    <a:pt x="12700" y="186690"/>
                  </a:lnTo>
                  <a:lnTo>
                    <a:pt x="12700" y="133350"/>
                  </a:lnTo>
                  <a:cubicBezTo>
                    <a:pt x="12700" y="67310"/>
                    <a:pt x="67310" y="12700"/>
                    <a:pt x="133350" y="12700"/>
                  </a:cubicBezTo>
                  <a:lnTo>
                    <a:pt x="5774690" y="12700"/>
                  </a:lnTo>
                  <a:cubicBezTo>
                    <a:pt x="5840730" y="12700"/>
                    <a:pt x="5895340" y="67310"/>
                    <a:pt x="5895340" y="133350"/>
                  </a:cubicBezTo>
                  <a:lnTo>
                    <a:pt x="5895340" y="18669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" name="Freeform 9"/>
            <p:cNvSpPr/>
            <p:nvPr/>
          </p:nvSpPr>
          <p:spPr>
            <a:xfrm>
              <a:off x="149860" y="73660"/>
              <a:ext cx="299720" cy="63500"/>
            </a:xfrm>
            <a:custGeom>
              <a:avLst/>
              <a:gdLst/>
              <a:ahLst/>
              <a:cxnLst/>
              <a:rect l="l" t="t" r="r" b="b"/>
              <a:pathLst>
                <a:path w="299720" h="63500">
                  <a:moveTo>
                    <a:pt x="118110" y="0"/>
                  </a:moveTo>
                  <a:lnTo>
                    <a:pt x="181610" y="0"/>
                  </a:lnTo>
                  <a:lnTo>
                    <a:pt x="181610" y="63500"/>
                  </a:lnTo>
                  <a:lnTo>
                    <a:pt x="118110" y="63500"/>
                  </a:lnTo>
                  <a:lnTo>
                    <a:pt x="118110" y="0"/>
                  </a:lnTo>
                  <a:close/>
                  <a:moveTo>
                    <a:pt x="31750" y="0"/>
                  </a:moveTo>
                  <a:cubicBezTo>
                    <a:pt x="49530" y="0"/>
                    <a:pt x="63500" y="13970"/>
                    <a:pt x="63500" y="31750"/>
                  </a:cubicBezTo>
                  <a:cubicBezTo>
                    <a:pt x="63500" y="49530"/>
                    <a:pt x="49530" y="63500"/>
                    <a:pt x="31750" y="63500"/>
                  </a:cubicBezTo>
                  <a:cubicBezTo>
                    <a:pt x="13970" y="63500"/>
                    <a:pt x="0" y="49530"/>
                    <a:pt x="0" y="31750"/>
                  </a:cubicBezTo>
                  <a:cubicBezTo>
                    <a:pt x="0" y="13970"/>
                    <a:pt x="13970" y="0"/>
                    <a:pt x="31750" y="0"/>
                  </a:cubicBezTo>
                  <a:close/>
                  <a:moveTo>
                    <a:pt x="267970" y="0"/>
                  </a:moveTo>
                  <a:lnTo>
                    <a:pt x="236220" y="63500"/>
                  </a:lnTo>
                  <a:lnTo>
                    <a:pt x="299720" y="63500"/>
                  </a:lnTo>
                  <a:lnTo>
                    <a:pt x="267970" y="0"/>
                  </a:lnTo>
                  <a:close/>
                </a:path>
              </a:pathLst>
            </a:custGeom>
            <a:solidFill>
              <a:srgbClr val="484FA2"/>
            </a:solidFill>
          </p:spPr>
        </p:sp>
        <p:sp>
          <p:nvSpPr>
            <p:cNvPr id="10" name="Freeform 10"/>
            <p:cNvSpPr/>
            <p:nvPr/>
          </p:nvSpPr>
          <p:spPr>
            <a:xfrm>
              <a:off x="591820" y="88900"/>
              <a:ext cx="5175250" cy="33020"/>
            </a:xfrm>
            <a:custGeom>
              <a:avLst/>
              <a:gdLst/>
              <a:ahLst/>
              <a:cxnLst/>
              <a:rect l="l" t="t" r="r" b="b"/>
              <a:pathLst>
                <a:path w="5175250" h="33020">
                  <a:moveTo>
                    <a:pt x="5158740" y="33020"/>
                  </a:moveTo>
                  <a:lnTo>
                    <a:pt x="16510" y="33020"/>
                  </a:lnTo>
                  <a:cubicBezTo>
                    <a:pt x="7620" y="33020"/>
                    <a:pt x="0" y="25400"/>
                    <a:pt x="0" y="16510"/>
                  </a:cubicBezTo>
                  <a:lnTo>
                    <a:pt x="0" y="16510"/>
                  </a:lnTo>
                  <a:cubicBezTo>
                    <a:pt x="0" y="7620"/>
                    <a:pt x="7620" y="0"/>
                    <a:pt x="16510" y="0"/>
                  </a:cubicBezTo>
                  <a:lnTo>
                    <a:pt x="5158740" y="0"/>
                  </a:lnTo>
                  <a:cubicBezTo>
                    <a:pt x="5167630" y="0"/>
                    <a:pt x="5175250" y="7620"/>
                    <a:pt x="5175250" y="16510"/>
                  </a:cubicBezTo>
                  <a:lnTo>
                    <a:pt x="5175250" y="16510"/>
                  </a:lnTo>
                  <a:cubicBezTo>
                    <a:pt x="5173980" y="25400"/>
                    <a:pt x="5167630" y="33020"/>
                    <a:pt x="5158740" y="33020"/>
                  </a:cubicBezTo>
                  <a:close/>
                </a:path>
              </a:pathLst>
            </a:custGeom>
            <a:solidFill>
              <a:srgbClr val="F26D6F"/>
            </a:solidFill>
          </p:spPr>
        </p:sp>
      </p:grpSp>
      <p:sp>
        <p:nvSpPr>
          <p:cNvPr id="11" name="AutoShape 11"/>
          <p:cNvSpPr/>
          <p:nvPr/>
        </p:nvSpPr>
        <p:spPr>
          <a:xfrm>
            <a:off x="3124199" y="5723321"/>
            <a:ext cx="10124853" cy="37360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2" name="TextBox 12"/>
          <p:cNvSpPr txBox="1"/>
          <p:nvPr/>
        </p:nvSpPr>
        <p:spPr>
          <a:xfrm>
            <a:off x="5188863" y="75565"/>
            <a:ext cx="6988493" cy="953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sz="5600" b="1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3. Kết quả đạt được</a:t>
            </a:r>
            <a:endParaRPr lang="en-US" sz="5600" b="1">
              <a:solidFill>
                <a:srgbClr val="F4B342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789069" y="1496971"/>
            <a:ext cx="11926584" cy="6699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600"/>
              </a:lnSpc>
              <a:spcBef>
                <a:spcPct val="0"/>
              </a:spcBef>
            </a:pPr>
            <a:r>
              <a:rPr lang="en-US" sz="4000" b="1">
                <a:solidFill>
                  <a:srgbClr val="360185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Hỗ trợ quản trị viên quản lý hệ thống</a:t>
            </a:r>
            <a:endParaRPr lang="en-US" sz="4000" b="1">
              <a:solidFill>
                <a:srgbClr val="360185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742281" y="4161533"/>
            <a:ext cx="4609690" cy="1243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Thống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kê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thông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tin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hệ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thông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và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cung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cấp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các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chức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năng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để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quản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lý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hệ</a:t>
            </a:r>
            <a:r>
              <a:rPr lang="en-US" sz="24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thống</a:t>
            </a:r>
            <a:endParaRPr lang="en-US" sz="2400" b="1" dirty="0">
              <a:solidFill>
                <a:srgbClr val="000000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256807"/>
            <a:chOff x="0" y="0"/>
            <a:chExt cx="4816593" cy="33101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331011"/>
            </a:xfrm>
            <a:custGeom>
              <a:avLst/>
              <a:gdLst/>
              <a:ahLst/>
              <a:cxnLst/>
              <a:rect l="l" t="t" r="r" b="b"/>
              <a:pathLst>
                <a:path w="4816592" h="331011">
                  <a:moveTo>
                    <a:pt x="0" y="0"/>
                  </a:moveTo>
                  <a:lnTo>
                    <a:pt x="4816592" y="0"/>
                  </a:lnTo>
                  <a:lnTo>
                    <a:pt x="4816592" y="331011"/>
                  </a:lnTo>
                  <a:lnTo>
                    <a:pt x="0" y="331011"/>
                  </a:ln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816593" cy="3786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</a:p>
          </p:txBody>
        </p:sp>
      </p:grpSp>
      <p:sp>
        <p:nvSpPr>
          <p:cNvPr id="5" name="Freeform 5"/>
          <p:cNvSpPr/>
          <p:nvPr/>
        </p:nvSpPr>
        <p:spPr>
          <a:xfrm>
            <a:off x="1126398" y="6385728"/>
            <a:ext cx="1065465" cy="867870"/>
          </a:xfrm>
          <a:custGeom>
            <a:avLst/>
            <a:gdLst/>
            <a:ahLst/>
            <a:cxnLst/>
            <a:rect l="l" t="t" r="r" b="b"/>
            <a:pathLst>
              <a:path w="1065465" h="867870">
                <a:moveTo>
                  <a:pt x="0" y="0"/>
                </a:moveTo>
                <a:lnTo>
                  <a:pt x="1065466" y="0"/>
                </a:lnTo>
                <a:lnTo>
                  <a:pt x="1065466" y="867870"/>
                </a:lnTo>
                <a:lnTo>
                  <a:pt x="0" y="867870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191035" y="7844547"/>
            <a:ext cx="936191" cy="1019614"/>
          </a:xfrm>
          <a:custGeom>
            <a:avLst/>
            <a:gdLst/>
            <a:ahLst/>
            <a:cxnLst/>
            <a:rect l="l" t="t" r="r" b="b"/>
            <a:pathLst>
              <a:path w="936191" h="1019614">
                <a:moveTo>
                  <a:pt x="0" y="0"/>
                </a:moveTo>
                <a:lnTo>
                  <a:pt x="936192" y="0"/>
                </a:lnTo>
                <a:lnTo>
                  <a:pt x="936192" y="1019614"/>
                </a:lnTo>
                <a:lnTo>
                  <a:pt x="0" y="101961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126398" y="4537488"/>
            <a:ext cx="963744" cy="976168"/>
          </a:xfrm>
          <a:custGeom>
            <a:avLst/>
            <a:gdLst/>
            <a:ahLst/>
            <a:cxnLst/>
            <a:rect l="l" t="t" r="r" b="b"/>
            <a:pathLst>
              <a:path w="963744" h="976168">
                <a:moveTo>
                  <a:pt x="0" y="0"/>
                </a:moveTo>
                <a:lnTo>
                  <a:pt x="963744" y="0"/>
                </a:lnTo>
                <a:lnTo>
                  <a:pt x="963744" y="976168"/>
                </a:lnTo>
                <a:lnTo>
                  <a:pt x="0" y="97616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10994654" y="2549498"/>
            <a:ext cx="6782361" cy="6852162"/>
            <a:chOff x="0" y="0"/>
            <a:chExt cx="1786301" cy="1804685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786301" cy="1804685"/>
            </a:xfrm>
            <a:custGeom>
              <a:avLst/>
              <a:gdLst/>
              <a:ahLst/>
              <a:cxnLst/>
              <a:rect l="l" t="t" r="r" b="b"/>
              <a:pathLst>
                <a:path w="1786301" h="1804685">
                  <a:moveTo>
                    <a:pt x="19405" y="0"/>
                  </a:moveTo>
                  <a:lnTo>
                    <a:pt x="1766896" y="0"/>
                  </a:lnTo>
                  <a:cubicBezTo>
                    <a:pt x="1772042" y="0"/>
                    <a:pt x="1776978" y="2044"/>
                    <a:pt x="1780617" y="5684"/>
                  </a:cubicBezTo>
                  <a:cubicBezTo>
                    <a:pt x="1784256" y="9323"/>
                    <a:pt x="1786301" y="14259"/>
                    <a:pt x="1786301" y="19405"/>
                  </a:cubicBezTo>
                  <a:lnTo>
                    <a:pt x="1786301" y="1785280"/>
                  </a:lnTo>
                  <a:cubicBezTo>
                    <a:pt x="1786301" y="1795997"/>
                    <a:pt x="1777613" y="1804685"/>
                    <a:pt x="1766896" y="1804685"/>
                  </a:cubicBezTo>
                  <a:lnTo>
                    <a:pt x="19405" y="1804685"/>
                  </a:lnTo>
                  <a:cubicBezTo>
                    <a:pt x="14259" y="1804685"/>
                    <a:pt x="9323" y="1802640"/>
                    <a:pt x="5684" y="1799001"/>
                  </a:cubicBezTo>
                  <a:cubicBezTo>
                    <a:pt x="2044" y="1795362"/>
                    <a:pt x="0" y="1790426"/>
                    <a:pt x="0" y="1785280"/>
                  </a:cubicBezTo>
                  <a:lnTo>
                    <a:pt x="0" y="19405"/>
                  </a:lnTo>
                  <a:cubicBezTo>
                    <a:pt x="0" y="14259"/>
                    <a:pt x="2044" y="9323"/>
                    <a:pt x="5684" y="5684"/>
                  </a:cubicBezTo>
                  <a:cubicBezTo>
                    <a:pt x="9323" y="2044"/>
                    <a:pt x="14259" y="0"/>
                    <a:pt x="19405" y="0"/>
                  </a:cubicBezTo>
                  <a:close/>
                </a:path>
              </a:pathLst>
            </a:custGeom>
            <a:solidFill>
              <a:srgbClr val="C9E8F7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1786301" cy="18523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</a:p>
          </p:txBody>
        </p:sp>
      </p:grpSp>
      <p:sp>
        <p:nvSpPr>
          <p:cNvPr id="11" name="Freeform 11"/>
          <p:cNvSpPr/>
          <p:nvPr/>
        </p:nvSpPr>
        <p:spPr>
          <a:xfrm>
            <a:off x="11356604" y="4352486"/>
            <a:ext cx="1050864" cy="791014"/>
          </a:xfrm>
          <a:custGeom>
            <a:avLst/>
            <a:gdLst/>
            <a:ahLst/>
            <a:cxnLst/>
            <a:rect l="l" t="t" r="r" b="b"/>
            <a:pathLst>
              <a:path w="1050864" h="791014">
                <a:moveTo>
                  <a:pt x="0" y="0"/>
                </a:moveTo>
                <a:lnTo>
                  <a:pt x="1050864" y="0"/>
                </a:lnTo>
                <a:lnTo>
                  <a:pt x="1050864" y="791014"/>
                </a:lnTo>
                <a:lnTo>
                  <a:pt x="0" y="79101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1454112" y="6096000"/>
            <a:ext cx="953356" cy="1037441"/>
          </a:xfrm>
          <a:custGeom>
            <a:avLst/>
            <a:gdLst/>
            <a:ahLst/>
            <a:cxnLst/>
            <a:rect l="l" t="t" r="r" b="b"/>
            <a:pathLst>
              <a:path w="953356" h="1037441">
                <a:moveTo>
                  <a:pt x="0" y="0"/>
                </a:moveTo>
                <a:lnTo>
                  <a:pt x="953356" y="0"/>
                </a:lnTo>
                <a:lnTo>
                  <a:pt x="953356" y="1037441"/>
                </a:lnTo>
                <a:lnTo>
                  <a:pt x="0" y="1037441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2455497" y="4285811"/>
            <a:ext cx="8539157" cy="4578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20"/>
              </a:lnSpc>
            </a:pPr>
            <a:r>
              <a:rPr lang="en-US" sz="28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Hoàn</a:t>
            </a:r>
            <a:r>
              <a:rPr lang="en-US" sz="28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thiện</a:t>
            </a:r>
            <a:r>
              <a:rPr lang="en-US" sz="28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hệ</a:t>
            </a:r>
            <a:r>
              <a:rPr lang="en-US" sz="28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thống</a:t>
            </a:r>
            <a:r>
              <a:rPr lang="en-US" sz="28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:</a:t>
            </a:r>
            <a:r>
              <a:rPr lang="en-US" sz="28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Website </a:t>
            </a:r>
            <a:r>
              <a:rPr lang="en-US" sz="28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hỗ</a:t>
            </a:r>
            <a:r>
              <a:rPr lang="en-US" sz="28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8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trợ</a:t>
            </a:r>
            <a:r>
              <a:rPr lang="en-US" sz="28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8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học</a:t>
            </a:r>
            <a:r>
              <a:rPr lang="en-US" sz="28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8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tập</a:t>
            </a:r>
            <a:r>
              <a:rPr lang="en-US" sz="28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8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đầy</a:t>
            </a:r>
            <a:r>
              <a:rPr lang="en-US" sz="28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8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đủ</a:t>
            </a:r>
            <a:r>
              <a:rPr lang="en-US" sz="28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8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tính</a:t>
            </a:r>
            <a:r>
              <a:rPr lang="en-US" sz="28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8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năng</a:t>
            </a:r>
            <a:r>
              <a:rPr lang="en-US" sz="28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8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cho</a:t>
            </a:r>
            <a:r>
              <a:rPr lang="en-US" sz="28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8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Sinh</a:t>
            </a:r>
            <a:r>
              <a:rPr lang="en-US" sz="28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8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viên</a:t>
            </a:r>
            <a:r>
              <a:rPr lang="en-US" sz="28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, </a:t>
            </a:r>
            <a:r>
              <a:rPr lang="en-US" sz="28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Giảng</a:t>
            </a:r>
            <a:r>
              <a:rPr lang="en-US" sz="28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8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viên</a:t>
            </a:r>
            <a:r>
              <a:rPr lang="en-US" sz="28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8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và</a:t>
            </a:r>
            <a:r>
              <a:rPr lang="en-US" sz="28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8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Quản</a:t>
            </a:r>
            <a:r>
              <a:rPr lang="en-US" sz="28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8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trị</a:t>
            </a:r>
            <a:r>
              <a:rPr lang="en-US" sz="28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8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viên</a:t>
            </a:r>
            <a:endParaRPr lang="en-US" sz="2800" dirty="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  <a:p>
            <a:pPr algn="l">
              <a:lnSpc>
                <a:spcPts val="3920"/>
              </a:lnSpc>
            </a:pPr>
            <a:endParaRPr lang="en-US" sz="2800" dirty="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  <a:p>
            <a:pPr algn="l">
              <a:lnSpc>
                <a:spcPts val="4200"/>
              </a:lnSpc>
            </a:pPr>
            <a:r>
              <a:rPr lang="en-US" sz="28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Công</a:t>
            </a:r>
            <a:r>
              <a:rPr lang="en-US" sz="28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nghệ</a:t>
            </a:r>
            <a:r>
              <a:rPr lang="en-US" sz="28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hiện</a:t>
            </a:r>
            <a:r>
              <a:rPr lang="en-US" sz="28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đại</a:t>
            </a:r>
            <a:r>
              <a:rPr lang="en-US" sz="28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:</a:t>
            </a:r>
            <a:r>
              <a:rPr lang="en-US" sz="28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8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Sử</a:t>
            </a:r>
            <a:r>
              <a:rPr lang="en-US" sz="28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8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dụng</a:t>
            </a:r>
            <a:r>
              <a:rPr lang="en-US" sz="28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ReactJS, Node.js, MySQL; </a:t>
            </a:r>
            <a:r>
              <a:rPr lang="en-US" sz="28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kiến</a:t>
            </a:r>
            <a:r>
              <a:rPr lang="en-US" sz="28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8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trúc</a:t>
            </a:r>
            <a:r>
              <a:rPr lang="en-US" sz="28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RESTful API </a:t>
            </a:r>
            <a:r>
              <a:rPr lang="en-US" sz="28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ổn</a:t>
            </a:r>
            <a:r>
              <a:rPr lang="en-US" sz="28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8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định</a:t>
            </a:r>
            <a:endParaRPr lang="en-US" sz="2800" dirty="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  <a:p>
            <a:pPr algn="l">
              <a:lnSpc>
                <a:spcPts val="4200"/>
              </a:lnSpc>
            </a:pPr>
            <a:endParaRPr lang="en-US" sz="2800" dirty="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  <a:p>
            <a:pPr algn="l">
              <a:lnSpc>
                <a:spcPts val="4200"/>
              </a:lnSpc>
            </a:pPr>
            <a:r>
              <a:rPr lang="en-US" sz="28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Bảo</a:t>
            </a:r>
            <a:r>
              <a:rPr lang="en-US" sz="28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mật</a:t>
            </a:r>
            <a:r>
              <a:rPr lang="en-US" sz="28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tối</a:t>
            </a:r>
            <a:r>
              <a:rPr lang="en-US" sz="28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2800" b="1" dirty="0" err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ưu</a:t>
            </a:r>
            <a:r>
              <a:rPr lang="en-US" sz="2800" b="1" dirty="0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:</a:t>
            </a:r>
            <a:r>
              <a:rPr lang="en-US" sz="28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8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Xác</a:t>
            </a:r>
            <a:r>
              <a:rPr lang="en-US" sz="28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8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thực</a:t>
            </a:r>
            <a:r>
              <a:rPr lang="en-US" sz="28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qua JWT </a:t>
            </a:r>
            <a:r>
              <a:rPr lang="en-US" sz="28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và</a:t>
            </a:r>
            <a:r>
              <a:rPr lang="en-US" sz="28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8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phân</a:t>
            </a:r>
            <a:r>
              <a:rPr lang="en-US" sz="28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8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quyền</a:t>
            </a:r>
            <a:r>
              <a:rPr lang="en-US" sz="28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8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người</a:t>
            </a:r>
            <a:r>
              <a:rPr lang="en-US" sz="28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8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dùng</a:t>
            </a:r>
            <a:r>
              <a:rPr lang="en-US" sz="28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8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chặt</a:t>
            </a:r>
            <a:r>
              <a:rPr lang="en-US" sz="2800" dirty="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</a:t>
            </a:r>
            <a:r>
              <a:rPr lang="en-US" sz="2800" dirty="0" err="1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chẽ</a:t>
            </a:r>
            <a:endParaRPr lang="en-US" sz="2800" dirty="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3104257" y="75565"/>
            <a:ext cx="11157704" cy="953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sz="5600" b="1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4. Kết luận và hướng phát triển</a:t>
            </a:r>
            <a:endParaRPr lang="en-US" sz="5600" b="1">
              <a:solidFill>
                <a:srgbClr val="F4B342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279161" y="2482823"/>
            <a:ext cx="7931979" cy="14814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20"/>
              </a:lnSpc>
              <a:spcBef>
                <a:spcPct val="0"/>
              </a:spcBef>
            </a:pPr>
            <a:r>
              <a:rPr lang="en-US" sz="28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Đề tài đã hoàn thành các mục tiêu đề ra, Xây dựng thành công mộn hệ thống hỗ trợ học tập hoàn chỉnh:</a:t>
            </a:r>
            <a:endParaRPr lang="en-US" sz="2800" b="1">
              <a:solidFill>
                <a:srgbClr val="000000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1028700" y="1527149"/>
            <a:ext cx="2552700" cy="64389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600"/>
              </a:lnSpc>
              <a:spcBef>
                <a:spcPct val="0"/>
              </a:spcBef>
            </a:pPr>
            <a:r>
              <a:rPr lang="en-US" sz="4000" b="1" dirty="0" err="1">
                <a:solidFill>
                  <a:srgbClr val="360185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Kết</a:t>
            </a:r>
            <a:r>
              <a:rPr lang="en-US" sz="4000" b="1" dirty="0">
                <a:solidFill>
                  <a:srgbClr val="360185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 </a:t>
            </a:r>
            <a:r>
              <a:rPr lang="en-US" sz="4000" b="1" dirty="0" err="1">
                <a:solidFill>
                  <a:srgbClr val="360185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luận</a:t>
            </a:r>
            <a:endParaRPr lang="en-US" sz="4000" b="1" dirty="0">
              <a:solidFill>
                <a:srgbClr val="360185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11698495" y="2895574"/>
            <a:ext cx="5787087" cy="6464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320"/>
              </a:lnSpc>
              <a:spcBef>
                <a:spcPct val="0"/>
              </a:spcBef>
            </a:pPr>
            <a:r>
              <a:rPr lang="en-US" sz="3800" b="1">
                <a:solidFill>
                  <a:srgbClr val="360185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Hạn chế của hệ thống</a:t>
            </a:r>
            <a:endParaRPr lang="en-US" sz="3800" b="1">
              <a:solidFill>
                <a:srgbClr val="360185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12589212" y="4071613"/>
            <a:ext cx="5187803" cy="31819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Triển khai:</a:t>
            </a:r>
            <a:r>
              <a:rPr lang="en-US" sz="260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Hiện chỉ hoạt động ở môi trường cục bộ (Localhost), chưa đưa lên server</a:t>
            </a:r>
            <a:endParaRPr lang="en-US" sz="260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  <a:p>
            <a:pPr algn="l">
              <a:lnSpc>
                <a:spcPts val="3640"/>
              </a:lnSpc>
              <a:spcBef>
                <a:spcPct val="0"/>
              </a:spcBef>
            </a:pPr>
            <a:endParaRPr lang="en-US" sz="260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  <a:p>
            <a:pPr algn="l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Trải nghiệm người dùng:</a:t>
            </a:r>
            <a:r>
              <a:rPr lang="en-US" sz="260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 Giao diện chưa tối ưu hoàn toàn cho thiết bị di động (Responsive)</a:t>
            </a:r>
            <a:endParaRPr lang="en-US" sz="260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256807"/>
            <a:chOff x="0" y="0"/>
            <a:chExt cx="4816593" cy="33101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331011"/>
            </a:xfrm>
            <a:custGeom>
              <a:avLst/>
              <a:gdLst/>
              <a:ahLst/>
              <a:cxnLst/>
              <a:rect l="l" t="t" r="r" b="b"/>
              <a:pathLst>
                <a:path w="4816592" h="331011">
                  <a:moveTo>
                    <a:pt x="0" y="0"/>
                  </a:moveTo>
                  <a:lnTo>
                    <a:pt x="4816592" y="0"/>
                  </a:lnTo>
                  <a:lnTo>
                    <a:pt x="4816592" y="331011"/>
                  </a:lnTo>
                  <a:lnTo>
                    <a:pt x="0" y="331011"/>
                  </a:lnTo>
                  <a:close/>
                </a:path>
              </a:pathLst>
            </a:custGeom>
            <a:solidFill>
              <a:srgbClr val="360185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816593" cy="3786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</a:p>
          </p:txBody>
        </p:sp>
      </p:grpSp>
      <p:sp>
        <p:nvSpPr>
          <p:cNvPr id="5" name="AutoShape 5"/>
          <p:cNvSpPr/>
          <p:nvPr/>
        </p:nvSpPr>
        <p:spPr>
          <a:xfrm>
            <a:off x="9230906" y="3512486"/>
            <a:ext cx="0" cy="4369662"/>
          </a:xfrm>
          <a:prstGeom prst="line">
            <a:avLst/>
          </a:prstGeom>
          <a:ln w="952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6" name="AutoShape 6"/>
          <p:cNvSpPr/>
          <p:nvPr/>
        </p:nvSpPr>
        <p:spPr>
          <a:xfrm flipH="1" flipV="1">
            <a:off x="8602267" y="4684322"/>
            <a:ext cx="628639" cy="0"/>
          </a:xfrm>
          <a:prstGeom prst="line">
            <a:avLst/>
          </a:prstGeom>
          <a:ln w="952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7" name="AutoShape 7"/>
          <p:cNvSpPr/>
          <p:nvPr/>
        </p:nvSpPr>
        <p:spPr>
          <a:xfrm flipH="1" flipV="1">
            <a:off x="9230906" y="6113072"/>
            <a:ext cx="623669" cy="0"/>
          </a:xfrm>
          <a:prstGeom prst="line">
            <a:avLst/>
          </a:prstGeom>
          <a:ln w="952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8" name="Freeform 8"/>
          <p:cNvSpPr/>
          <p:nvPr/>
        </p:nvSpPr>
        <p:spPr>
          <a:xfrm>
            <a:off x="10229278" y="5227414"/>
            <a:ext cx="932312" cy="1676067"/>
          </a:xfrm>
          <a:custGeom>
            <a:avLst/>
            <a:gdLst/>
            <a:ahLst/>
            <a:cxnLst/>
            <a:rect l="l" t="t" r="r" b="b"/>
            <a:pathLst>
              <a:path w="932312" h="1676067">
                <a:moveTo>
                  <a:pt x="0" y="0"/>
                </a:moveTo>
                <a:lnTo>
                  <a:pt x="932313" y="0"/>
                </a:lnTo>
                <a:lnTo>
                  <a:pt x="932313" y="1676067"/>
                </a:lnTo>
                <a:lnTo>
                  <a:pt x="0" y="1676067"/>
                </a:lnTo>
                <a:lnTo>
                  <a:pt x="0" y="0"/>
                </a:lnTo>
                <a:close/>
              </a:path>
            </a:pathLst>
          </a:custGeom>
          <a:blipFill>
            <a:blip r:embed="rId1"/>
            <a:stretch>
              <a:fillRect/>
            </a:stretch>
          </a:blipFill>
        </p:spPr>
      </p:sp>
      <p:sp>
        <p:nvSpPr>
          <p:cNvPr id="9" name="AutoShape 9"/>
          <p:cNvSpPr/>
          <p:nvPr/>
        </p:nvSpPr>
        <p:spPr>
          <a:xfrm flipH="1">
            <a:off x="8602267" y="7836216"/>
            <a:ext cx="628639" cy="0"/>
          </a:xfrm>
          <a:prstGeom prst="line">
            <a:avLst/>
          </a:prstGeom>
          <a:ln w="952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0" name="Freeform 10"/>
          <p:cNvSpPr/>
          <p:nvPr/>
        </p:nvSpPr>
        <p:spPr>
          <a:xfrm>
            <a:off x="445618" y="7527146"/>
            <a:ext cx="808587" cy="939943"/>
          </a:xfrm>
          <a:custGeom>
            <a:avLst/>
            <a:gdLst/>
            <a:ahLst/>
            <a:cxnLst/>
            <a:rect l="l" t="t" r="r" b="b"/>
            <a:pathLst>
              <a:path w="808587" h="939943">
                <a:moveTo>
                  <a:pt x="0" y="0"/>
                </a:moveTo>
                <a:lnTo>
                  <a:pt x="808587" y="0"/>
                </a:lnTo>
                <a:lnTo>
                  <a:pt x="808587" y="939942"/>
                </a:lnTo>
                <a:lnTo>
                  <a:pt x="0" y="93994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471123" y="3951130"/>
            <a:ext cx="1115153" cy="1276284"/>
          </a:xfrm>
          <a:custGeom>
            <a:avLst/>
            <a:gdLst/>
            <a:ahLst/>
            <a:cxnLst/>
            <a:rect l="l" t="t" r="r" b="b"/>
            <a:pathLst>
              <a:path w="1115153" h="1276284">
                <a:moveTo>
                  <a:pt x="0" y="0"/>
                </a:moveTo>
                <a:lnTo>
                  <a:pt x="1115154" y="0"/>
                </a:lnTo>
                <a:lnTo>
                  <a:pt x="1115154" y="1276284"/>
                </a:lnTo>
                <a:lnTo>
                  <a:pt x="0" y="12762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3104257" y="75565"/>
            <a:ext cx="11157704" cy="953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sz="5600" b="1">
                <a:solidFill>
                  <a:srgbClr val="F4B34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4. Kết luận và hướng phát triển</a:t>
            </a:r>
            <a:endParaRPr lang="en-US" sz="5600" b="1">
              <a:solidFill>
                <a:srgbClr val="F4B342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849911" y="1678885"/>
            <a:ext cx="5669535" cy="6794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600"/>
              </a:lnSpc>
              <a:spcBef>
                <a:spcPct val="0"/>
              </a:spcBef>
            </a:pPr>
            <a:r>
              <a:rPr lang="en-US" sz="4000" b="1">
                <a:solidFill>
                  <a:srgbClr val="360185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Hướng phát triển</a:t>
            </a:r>
            <a:endParaRPr lang="en-US" sz="4000" b="1">
              <a:solidFill>
                <a:srgbClr val="360185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1468398" y="2578401"/>
            <a:ext cx="15351205" cy="4387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Để hệ thống trở thành một công cụ mạnh mẽ hơn, các hướng phát triển trong tương lai gồm:</a:t>
            </a:r>
            <a:endParaRPr lang="en-US" sz="2600" b="1">
              <a:solidFill>
                <a:srgbClr val="000000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564657" y="4305312"/>
            <a:ext cx="6352619" cy="8248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sz="24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Bổ sang dạng bài tập nâng cao: </a:t>
            </a:r>
            <a:r>
              <a:rPr lang="en-US" sz="240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tự luận, nộp file và các hình thức đánh giá khác</a:t>
            </a:r>
            <a:endParaRPr lang="en-US" sz="240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11536294" y="5419652"/>
            <a:ext cx="6306088" cy="1243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sz="24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Tối ưu hóa cho thiết bị di động: </a:t>
            </a:r>
            <a:r>
              <a:rPr lang="en-US" sz="240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cải thiện giao diện để mang lại trỉa nghiệm học tập trên điện thoại và máy tính bảng</a:t>
            </a:r>
            <a:endParaRPr lang="en-US" sz="240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1387555" y="7571103"/>
            <a:ext cx="6911170" cy="1243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sz="2400" b="1">
                <a:solidFill>
                  <a:srgbClr val="000000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Xây dựng hệ thống thông báo thời gian thực:</a:t>
            </a:r>
            <a:endParaRPr lang="en-US" sz="2400" b="1">
              <a:solidFill>
                <a:srgbClr val="000000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sz="2400">
                <a:solidFill>
                  <a:srgbClr val="000000"/>
                </a:solidFill>
                <a:latin typeface="Tahoma" panose="020B0604030504040204"/>
                <a:ea typeface="Tahoma" panose="020B0604030504040204"/>
                <a:cs typeface="Tahoma" panose="020B0604030504040204"/>
                <a:sym typeface="Tahoma" panose="020B0604030504040204"/>
              </a:rPr>
              <a:t>gửi thông báo từc thì vè khóa học, nhắc nhở lịch học,..</a:t>
            </a:r>
            <a:endParaRPr lang="en-US" sz="2400">
              <a:solidFill>
                <a:srgbClr val="000000"/>
              </a:solidFill>
              <a:latin typeface="Tahoma" panose="020B0604030504040204"/>
              <a:ea typeface="Tahoma" panose="020B0604030504040204"/>
              <a:cs typeface="Tahoma" panose="020B0604030504040204"/>
              <a:sym typeface="Tahoma" panose="020B0604030504040204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9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98128" y="4341178"/>
            <a:ext cx="16491745" cy="1749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5000" b="1">
                <a:solidFill>
                  <a:srgbClr val="360185"/>
                </a:solidFill>
                <a:latin typeface="Canva Sans Bold" panose="020B0803030501040103"/>
                <a:ea typeface="Canva Sans Bold" panose="020B0803030501040103"/>
                <a:cs typeface="Canva Sans Bold" panose="020B0803030501040103"/>
                <a:sym typeface="Canva Sans Bold" panose="020B0803030501040103"/>
              </a:rPr>
              <a:t>Xin cảm ơn Quý Thầy Cô đã dành thời gian lắng nghe</a:t>
            </a:r>
            <a:endParaRPr lang="en-US" sz="5000" b="1">
              <a:solidFill>
                <a:srgbClr val="360185"/>
              </a:solidFill>
              <a:latin typeface="Canva Sans Bold" panose="020B0803030501040103"/>
              <a:ea typeface="Canva Sans Bold" panose="020B0803030501040103"/>
              <a:cs typeface="Canva Sans Bold" panose="020B0803030501040103"/>
              <a:sym typeface="Canva Sans Bold" panose="020B0803030501040103"/>
            </a:endParaRPr>
          </a:p>
          <a:p>
            <a:pPr algn="ctr">
              <a:lnSpc>
                <a:spcPts val="7000"/>
              </a:lnSpc>
            </a:pPr>
            <a:r>
              <a:rPr lang="en-US" sz="5000" b="1">
                <a:solidFill>
                  <a:srgbClr val="360185"/>
                </a:solidFill>
                <a:latin typeface="Canva Sans Bold" panose="020B0803030501040103"/>
                <a:ea typeface="Canva Sans Bold" panose="020B0803030501040103"/>
                <a:cs typeface="Canva Sans Bold" panose="020B0803030501040103"/>
                <a:sym typeface="Canva Sans Bold" panose="020B0803030501040103"/>
              </a:rPr>
              <a:t>Rất mong nhận được những góp ý quý báu từ thầy cô</a:t>
            </a:r>
            <a:endParaRPr lang="en-US" sz="5000" b="1">
              <a:solidFill>
                <a:srgbClr val="360185"/>
              </a:solidFill>
              <a:latin typeface="Canva Sans Bold" panose="020B0803030501040103"/>
              <a:ea typeface="Canva Sans Bold" panose="020B0803030501040103"/>
              <a:cs typeface="Canva Sans Bold" panose="020B0803030501040103"/>
              <a:sym typeface="Canva Sans Bold" panose="020B0803030501040103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5034518" y="904875"/>
            <a:ext cx="8218964" cy="1184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00"/>
              </a:lnSpc>
              <a:spcBef>
                <a:spcPct val="0"/>
              </a:spcBef>
            </a:pPr>
            <a:r>
              <a:rPr lang="en-US" sz="7000" b="1">
                <a:solidFill>
                  <a:srgbClr val="FCB802"/>
                </a:solidFill>
                <a:latin typeface="Tahoma Bold" panose="020B0804030504040204"/>
                <a:ea typeface="Tahoma Bold" panose="020B0804030504040204"/>
                <a:cs typeface="Tahoma Bold" panose="020B0804030504040204"/>
                <a:sym typeface="Tahoma Bold" panose="020B0804030504040204"/>
              </a:rPr>
              <a:t>Trân trọng cảm ơn</a:t>
            </a:r>
            <a:endParaRPr lang="en-US" sz="7000" b="1">
              <a:solidFill>
                <a:srgbClr val="FCB802"/>
              </a:solidFill>
              <a:latin typeface="Tahoma Bold" panose="020B0804030504040204"/>
              <a:ea typeface="Tahoma Bold" panose="020B0804030504040204"/>
              <a:cs typeface="Tahoma Bold" panose="020B0804030504040204"/>
              <a:sym typeface="Tahoma Bold" panose="020B08040305040402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5233</Words>
  <Application>WPS Presentation</Application>
  <PresentationFormat>Custom</PresentationFormat>
  <Paragraphs>243</Paragraphs>
  <Slides>18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29" baseType="lpstr">
      <vt:lpstr>Arial</vt:lpstr>
      <vt:lpstr>SimSun</vt:lpstr>
      <vt:lpstr>Wingdings</vt:lpstr>
      <vt:lpstr>Tahoma Bold</vt:lpstr>
      <vt:lpstr>Tahoma</vt:lpstr>
      <vt:lpstr>Arial</vt:lpstr>
      <vt:lpstr>Canva Sans Bold</vt:lpstr>
      <vt:lpstr>Calibri</vt:lpstr>
      <vt:lpstr>Microsoft YaHei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Baocaodoan</dc:title>
  <dc:creator/>
  <cp:lastModifiedBy>Huy Le</cp:lastModifiedBy>
  <cp:revision>5</cp:revision>
  <dcterms:created xsi:type="dcterms:W3CDTF">2006-08-16T00:00:00Z</dcterms:created>
  <dcterms:modified xsi:type="dcterms:W3CDTF">2026-01-05T04:21:16Z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9585DA6888B046B6B5B5FAC52AD3868E_12</vt:lpwstr>
  </property>
  <property fmtid="{D5CDD505-2E9C-101B-9397-08002B2CF9AE}" pid="3" name="KSOProductBuildVer">
    <vt:lpwstr>1033-12.2.0.23196</vt:lpwstr>
  </property>
</Properties>
</file>