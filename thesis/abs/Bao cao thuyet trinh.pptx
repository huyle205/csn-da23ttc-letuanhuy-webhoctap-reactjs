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nva Sans Bold" panose="020B0604020202020204" charset="0"/>
      <p:regular r:id="rId24"/>
    </p:embeddedFont>
    <p:embeddedFont>
      <p:font typeface="Tahoma" panose="020B0604030504040204" pitchFamily="34" charset="0"/>
      <p:regular r:id="rId25"/>
      <p:bold r:id="rId26"/>
    </p:embeddedFont>
    <p:embeddedFont>
      <p:font typeface="Tahoma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9.svg"/><Relationship Id="rId7" Type="http://schemas.openxmlformats.org/officeDocument/2006/relationships/image" Target="../media/image14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17.svg"/><Relationship Id="rId4" Type="http://schemas.openxmlformats.org/officeDocument/2006/relationships/image" Target="../media/image20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364777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12636" y="148019"/>
            <a:ext cx="1099788" cy="1099788"/>
          </a:xfrm>
          <a:custGeom>
            <a:avLst/>
            <a:gdLst/>
            <a:ahLst/>
            <a:cxnLst/>
            <a:rect l="l" t="t" r="r" b="b"/>
            <a:pathLst>
              <a:path w="1099788" h="1099788">
                <a:moveTo>
                  <a:pt x="0" y="0"/>
                </a:moveTo>
                <a:lnTo>
                  <a:pt x="1099788" y="0"/>
                </a:lnTo>
                <a:lnTo>
                  <a:pt x="1099788" y="1099788"/>
                </a:lnTo>
                <a:lnTo>
                  <a:pt x="0" y="109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61231" y="307388"/>
            <a:ext cx="5921454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TRƯỜNG KỸ THUẬT VÀ CÔNG NGHỆ</a:t>
            </a:r>
          </a:p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KHOA CÔNG NGHỆ THÔNG TIN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12770" y="1509395"/>
            <a:ext cx="12062460" cy="7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BÁO CÁO THỰC TẬP ĐỒ ÁN CƠ SỞ NGÀNH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96526" y="2499316"/>
            <a:ext cx="149494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38737" y="6984277"/>
            <a:ext cx="5342013" cy="181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 VIÊN THỰC HIỆN: 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 TÊN: LÊ TUẤN HUY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LỚP: DA23TTC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MSSV: 110123105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3715931"/>
            <a:ext cx="18288000" cy="233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THIẾT KẾ WEBSITE HỖ TRỢ HỌC TẬP 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CHO SINH VIÊN CÔNG NGHỆ THÔNG TIN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TRƯỜNG ĐẠI HỌC TRÀ VINH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984277"/>
            <a:ext cx="5596890" cy="895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GIẢNG VIÊN HƯỚNG DẪN: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THS. NGUYỄN HOÀNG DUY THIỆN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56014" y="75565"/>
            <a:ext cx="6854190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Nội dung trình bày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42627" y="2337794"/>
            <a:ext cx="11441363" cy="1059048"/>
            <a:chOff x="0" y="0"/>
            <a:chExt cx="15255151" cy="1412065"/>
          </a:xfrm>
        </p:grpSpPr>
        <p:grpSp>
          <p:nvGrpSpPr>
            <p:cNvPr id="7" name="Group 7"/>
            <p:cNvGrpSpPr/>
            <p:nvPr/>
          </p:nvGrpSpPr>
          <p:grpSpPr>
            <a:xfrm>
              <a:off x="1305248" y="0"/>
              <a:ext cx="13949903" cy="1412065"/>
              <a:chOff x="0" y="0"/>
              <a:chExt cx="2755536" cy="27892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755536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2755536" h="278926">
                    <a:moveTo>
                      <a:pt x="12580" y="0"/>
                    </a:moveTo>
                    <a:lnTo>
                      <a:pt x="2742957" y="0"/>
                    </a:lnTo>
                    <a:cubicBezTo>
                      <a:pt x="2749904" y="0"/>
                      <a:pt x="2755536" y="5632"/>
                      <a:pt x="2755536" y="12580"/>
                    </a:cubicBezTo>
                    <a:lnTo>
                      <a:pt x="2755536" y="266347"/>
                    </a:lnTo>
                    <a:cubicBezTo>
                      <a:pt x="2755536" y="273294"/>
                      <a:pt x="2749904" y="278926"/>
                      <a:pt x="2742957" y="278926"/>
                    </a:cubicBezTo>
                    <a:lnTo>
                      <a:pt x="12580" y="278926"/>
                    </a:lnTo>
                    <a:cubicBezTo>
                      <a:pt x="5632" y="278926"/>
                      <a:pt x="0" y="273294"/>
                      <a:pt x="0" y="266347"/>
                    </a:cubicBezTo>
                    <a:lnTo>
                      <a:pt x="0" y="12580"/>
                    </a:lnTo>
                    <a:cubicBezTo>
                      <a:pt x="0" y="5632"/>
                      <a:pt x="5632" y="0"/>
                      <a:pt x="12580" y="0"/>
                    </a:cubicBezTo>
                    <a:close/>
                  </a:path>
                </a:pathLst>
              </a:custGeom>
              <a:solidFill>
                <a:srgbClr val="360185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2755536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3444054" cy="1412065"/>
              <a:chOff x="0" y="0"/>
              <a:chExt cx="680307" cy="2789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80307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680307" h="278926">
                    <a:moveTo>
                      <a:pt x="0" y="0"/>
                    </a:moveTo>
                    <a:lnTo>
                      <a:pt x="477107" y="0"/>
                    </a:lnTo>
                    <a:lnTo>
                      <a:pt x="680307" y="139463"/>
                    </a:lnTo>
                    <a:lnTo>
                      <a:pt x="477107" y="278926"/>
                    </a:lnTo>
                    <a:lnTo>
                      <a:pt x="0" y="278926"/>
                    </a:lnTo>
                    <a:lnTo>
                      <a:pt x="203200" y="1394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B342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7800" y="-47625"/>
                <a:ext cx="426307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5270810" y="2499018"/>
            <a:ext cx="493999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Giới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thiệu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đề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tài</a:t>
            </a:r>
            <a:endParaRPr lang="en-US" sz="3999" b="1" dirty="0">
              <a:solidFill>
                <a:srgbClr val="FDF9E8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02323" y="4270662"/>
            <a:ext cx="511135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Tổng quan hệ thống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31861" y="2550639"/>
            <a:ext cx="32349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55354" y="4270662"/>
            <a:ext cx="32349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842627" y="3820639"/>
            <a:ext cx="11441363" cy="1059048"/>
            <a:chOff x="0" y="0"/>
            <a:chExt cx="15255151" cy="1412065"/>
          </a:xfrm>
        </p:grpSpPr>
        <p:grpSp>
          <p:nvGrpSpPr>
            <p:cNvPr id="18" name="Group 18"/>
            <p:cNvGrpSpPr/>
            <p:nvPr/>
          </p:nvGrpSpPr>
          <p:grpSpPr>
            <a:xfrm>
              <a:off x="1305248" y="0"/>
              <a:ext cx="13949903" cy="1412065"/>
              <a:chOff x="0" y="0"/>
              <a:chExt cx="2755536" cy="2789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755536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2755536" h="278926">
                    <a:moveTo>
                      <a:pt x="12580" y="0"/>
                    </a:moveTo>
                    <a:lnTo>
                      <a:pt x="2742957" y="0"/>
                    </a:lnTo>
                    <a:cubicBezTo>
                      <a:pt x="2749904" y="0"/>
                      <a:pt x="2755536" y="5632"/>
                      <a:pt x="2755536" y="12580"/>
                    </a:cubicBezTo>
                    <a:lnTo>
                      <a:pt x="2755536" y="266347"/>
                    </a:lnTo>
                    <a:cubicBezTo>
                      <a:pt x="2755536" y="273294"/>
                      <a:pt x="2749904" y="278926"/>
                      <a:pt x="2742957" y="278926"/>
                    </a:cubicBezTo>
                    <a:lnTo>
                      <a:pt x="12580" y="278926"/>
                    </a:lnTo>
                    <a:cubicBezTo>
                      <a:pt x="5632" y="278926"/>
                      <a:pt x="0" y="273294"/>
                      <a:pt x="0" y="266347"/>
                    </a:cubicBezTo>
                    <a:lnTo>
                      <a:pt x="0" y="12580"/>
                    </a:lnTo>
                    <a:cubicBezTo>
                      <a:pt x="0" y="5632"/>
                      <a:pt x="5632" y="0"/>
                      <a:pt x="12580" y="0"/>
                    </a:cubicBezTo>
                    <a:close/>
                  </a:path>
                </a:pathLst>
              </a:custGeom>
              <a:solidFill>
                <a:srgbClr val="360185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2755536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3444054" cy="1412065"/>
              <a:chOff x="0" y="0"/>
              <a:chExt cx="680307" cy="2789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80307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680307" h="278926">
                    <a:moveTo>
                      <a:pt x="0" y="0"/>
                    </a:moveTo>
                    <a:lnTo>
                      <a:pt x="477107" y="0"/>
                    </a:lnTo>
                    <a:lnTo>
                      <a:pt x="680307" y="139463"/>
                    </a:lnTo>
                    <a:lnTo>
                      <a:pt x="477107" y="278926"/>
                    </a:lnTo>
                    <a:lnTo>
                      <a:pt x="0" y="278926"/>
                    </a:lnTo>
                    <a:lnTo>
                      <a:pt x="203200" y="1394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B342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77800" y="-47625"/>
                <a:ext cx="426307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5270810" y="3981863"/>
            <a:ext cx="600679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Tổng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quan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endParaRPr lang="en-US" sz="3999" b="1" dirty="0">
              <a:solidFill>
                <a:srgbClr val="FDF9E8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031861" y="3969037"/>
            <a:ext cx="32349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2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842627" y="5346413"/>
            <a:ext cx="11441363" cy="1059048"/>
            <a:chOff x="0" y="0"/>
            <a:chExt cx="15255151" cy="1412065"/>
          </a:xfrm>
        </p:grpSpPr>
        <p:grpSp>
          <p:nvGrpSpPr>
            <p:cNvPr id="27" name="Group 27"/>
            <p:cNvGrpSpPr/>
            <p:nvPr/>
          </p:nvGrpSpPr>
          <p:grpSpPr>
            <a:xfrm>
              <a:off x="1305248" y="0"/>
              <a:ext cx="13949903" cy="1412065"/>
              <a:chOff x="0" y="0"/>
              <a:chExt cx="2755536" cy="2789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755536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2755536" h="278926">
                    <a:moveTo>
                      <a:pt x="12580" y="0"/>
                    </a:moveTo>
                    <a:lnTo>
                      <a:pt x="2742957" y="0"/>
                    </a:lnTo>
                    <a:cubicBezTo>
                      <a:pt x="2749904" y="0"/>
                      <a:pt x="2755536" y="5632"/>
                      <a:pt x="2755536" y="12580"/>
                    </a:cubicBezTo>
                    <a:lnTo>
                      <a:pt x="2755536" y="266347"/>
                    </a:lnTo>
                    <a:cubicBezTo>
                      <a:pt x="2755536" y="273294"/>
                      <a:pt x="2749904" y="278926"/>
                      <a:pt x="2742957" y="278926"/>
                    </a:cubicBezTo>
                    <a:lnTo>
                      <a:pt x="12580" y="278926"/>
                    </a:lnTo>
                    <a:cubicBezTo>
                      <a:pt x="5632" y="278926"/>
                      <a:pt x="0" y="273294"/>
                      <a:pt x="0" y="266347"/>
                    </a:cubicBezTo>
                    <a:lnTo>
                      <a:pt x="0" y="12580"/>
                    </a:lnTo>
                    <a:cubicBezTo>
                      <a:pt x="0" y="5632"/>
                      <a:pt x="5632" y="0"/>
                      <a:pt x="12580" y="0"/>
                    </a:cubicBezTo>
                    <a:close/>
                  </a:path>
                </a:pathLst>
              </a:custGeom>
              <a:solidFill>
                <a:srgbClr val="360185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2755536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3444054" cy="1412065"/>
              <a:chOff x="0" y="0"/>
              <a:chExt cx="680307" cy="2789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680307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680307" h="278926">
                    <a:moveTo>
                      <a:pt x="0" y="0"/>
                    </a:moveTo>
                    <a:lnTo>
                      <a:pt x="477107" y="0"/>
                    </a:lnTo>
                    <a:lnTo>
                      <a:pt x="680307" y="139463"/>
                    </a:lnTo>
                    <a:lnTo>
                      <a:pt x="477107" y="278926"/>
                    </a:lnTo>
                    <a:lnTo>
                      <a:pt x="0" y="278926"/>
                    </a:lnTo>
                    <a:lnTo>
                      <a:pt x="203200" y="1394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B342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77800" y="-47625"/>
                <a:ext cx="426307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5270810" y="5507637"/>
            <a:ext cx="532099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Kết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quả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đạt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được</a:t>
            </a:r>
            <a:endParaRPr lang="en-US" sz="3999" b="1" dirty="0">
              <a:solidFill>
                <a:srgbClr val="FDF9E8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702323" y="7279281"/>
            <a:ext cx="511135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Tổng quan hệ thống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676731" y="6829258"/>
            <a:ext cx="11607259" cy="1059048"/>
            <a:chOff x="0" y="0"/>
            <a:chExt cx="15476346" cy="1412065"/>
          </a:xfrm>
        </p:grpSpPr>
        <p:grpSp>
          <p:nvGrpSpPr>
            <p:cNvPr id="36" name="Group 36"/>
            <p:cNvGrpSpPr/>
            <p:nvPr/>
          </p:nvGrpSpPr>
          <p:grpSpPr>
            <a:xfrm>
              <a:off x="1324173" y="0"/>
              <a:ext cx="14152172" cy="1412065"/>
              <a:chOff x="0" y="0"/>
              <a:chExt cx="2795491" cy="2789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795491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2795491" h="278926">
                    <a:moveTo>
                      <a:pt x="12400" y="0"/>
                    </a:moveTo>
                    <a:lnTo>
                      <a:pt x="2783091" y="0"/>
                    </a:lnTo>
                    <a:cubicBezTo>
                      <a:pt x="2789939" y="0"/>
                      <a:pt x="2795491" y="5552"/>
                      <a:pt x="2795491" y="12400"/>
                    </a:cubicBezTo>
                    <a:lnTo>
                      <a:pt x="2795491" y="266527"/>
                    </a:lnTo>
                    <a:cubicBezTo>
                      <a:pt x="2795491" y="269815"/>
                      <a:pt x="2794184" y="272969"/>
                      <a:pt x="2791859" y="275295"/>
                    </a:cubicBezTo>
                    <a:cubicBezTo>
                      <a:pt x="2789534" y="277620"/>
                      <a:pt x="2786380" y="278926"/>
                      <a:pt x="2783091" y="278926"/>
                    </a:cubicBezTo>
                    <a:lnTo>
                      <a:pt x="12400" y="278926"/>
                    </a:lnTo>
                    <a:cubicBezTo>
                      <a:pt x="9111" y="278926"/>
                      <a:pt x="5957" y="277620"/>
                      <a:pt x="3632" y="275295"/>
                    </a:cubicBezTo>
                    <a:cubicBezTo>
                      <a:pt x="1306" y="272969"/>
                      <a:pt x="0" y="269815"/>
                      <a:pt x="0" y="266527"/>
                    </a:cubicBezTo>
                    <a:lnTo>
                      <a:pt x="0" y="12400"/>
                    </a:lnTo>
                    <a:cubicBezTo>
                      <a:pt x="0" y="9111"/>
                      <a:pt x="1306" y="5957"/>
                      <a:pt x="3632" y="3632"/>
                    </a:cubicBezTo>
                    <a:cubicBezTo>
                      <a:pt x="5957" y="1306"/>
                      <a:pt x="9111" y="0"/>
                      <a:pt x="12400" y="0"/>
                    </a:cubicBezTo>
                    <a:close/>
                  </a:path>
                </a:pathLst>
              </a:custGeom>
              <a:solidFill>
                <a:srgbClr val="360185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0" y="-47625"/>
                <a:ext cx="2795491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0" y="0"/>
              <a:ext cx="3493992" cy="1412065"/>
              <a:chOff x="0" y="0"/>
              <a:chExt cx="690171" cy="2789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690171" cy="278926"/>
              </a:xfrm>
              <a:custGeom>
                <a:avLst/>
                <a:gdLst/>
                <a:ahLst/>
                <a:cxnLst/>
                <a:rect l="l" t="t" r="r" b="b"/>
                <a:pathLst>
                  <a:path w="690171" h="278926">
                    <a:moveTo>
                      <a:pt x="0" y="0"/>
                    </a:moveTo>
                    <a:lnTo>
                      <a:pt x="486971" y="0"/>
                    </a:lnTo>
                    <a:lnTo>
                      <a:pt x="690171" y="139463"/>
                    </a:lnTo>
                    <a:lnTo>
                      <a:pt x="486971" y="278926"/>
                    </a:lnTo>
                    <a:lnTo>
                      <a:pt x="0" y="278926"/>
                    </a:lnTo>
                    <a:lnTo>
                      <a:pt x="203200" y="1394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B342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77800" y="-47625"/>
                <a:ext cx="436171" cy="32655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endParaRPr/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5270810" y="6990482"/>
            <a:ext cx="768319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Kết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luận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và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hướng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phát</a:t>
            </a:r>
            <a:r>
              <a:rPr lang="en-US" sz="39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9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triển</a:t>
            </a:r>
            <a:endParaRPr lang="en-US" sz="3999" b="1" dirty="0">
              <a:solidFill>
                <a:srgbClr val="FDF9E8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031861" y="5521612"/>
            <a:ext cx="32349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031861" y="6990482"/>
            <a:ext cx="323493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03533" y="75565"/>
            <a:ext cx="655915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1. Giới thiệu đề tài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9069" y="1697430"/>
            <a:ext cx="43165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Bối cảnh thực tế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64372" y="8279820"/>
            <a:ext cx="17159256" cy="1356418"/>
            <a:chOff x="0" y="0"/>
            <a:chExt cx="4519310" cy="3572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19310" cy="357246"/>
            </a:xfrm>
            <a:custGeom>
              <a:avLst/>
              <a:gdLst/>
              <a:ahLst/>
              <a:cxnLst/>
              <a:rect l="l" t="t" r="r" b="b"/>
              <a:pathLst>
                <a:path w="4519310" h="357246">
                  <a:moveTo>
                    <a:pt x="7670" y="0"/>
                  </a:moveTo>
                  <a:lnTo>
                    <a:pt x="4511640" y="0"/>
                  </a:lnTo>
                  <a:cubicBezTo>
                    <a:pt x="4515876" y="0"/>
                    <a:pt x="4519310" y="3434"/>
                    <a:pt x="4519310" y="7670"/>
                  </a:cubicBezTo>
                  <a:lnTo>
                    <a:pt x="4519310" y="349576"/>
                  </a:lnTo>
                  <a:cubicBezTo>
                    <a:pt x="4519310" y="353812"/>
                    <a:pt x="4515876" y="357246"/>
                    <a:pt x="4511640" y="357246"/>
                  </a:cubicBezTo>
                  <a:lnTo>
                    <a:pt x="7670" y="357246"/>
                  </a:lnTo>
                  <a:cubicBezTo>
                    <a:pt x="3434" y="357246"/>
                    <a:pt x="0" y="353812"/>
                    <a:pt x="0" y="349576"/>
                  </a:cubicBezTo>
                  <a:lnTo>
                    <a:pt x="0" y="7670"/>
                  </a:lnTo>
                  <a:cubicBezTo>
                    <a:pt x="0" y="3434"/>
                    <a:pt x="3434" y="0"/>
                    <a:pt x="7670" y="0"/>
                  </a:cubicBez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519310" cy="4048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37876" y="8431614"/>
            <a:ext cx="16483206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=&gt;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Nhu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cầu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cấp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thiết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về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một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công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cụ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tập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hiệu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quả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và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linh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hoạt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để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hỗ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trợ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sinh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viên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ngoài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giờ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chính</a:t>
            </a:r>
            <a:r>
              <a:rPr lang="en-US" sz="2799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khóa</a:t>
            </a:r>
            <a:endParaRPr lang="en-US" sz="2799" b="1" dirty="0">
              <a:solidFill>
                <a:srgbClr val="FDF9E8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7876" y="2478171"/>
            <a:ext cx="11024810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Sinh viên ngành Công nghệ thông tin phải tiếp cần với khối lượng kiến thức lớn, trong khi thời lượng học trên lớp có hạn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9069" y="3591326"/>
            <a:ext cx="4727235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Những thách thức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7876" y="4394602"/>
            <a:ext cx="1142804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Thời lượng trên lớp có hạn: </a:t>
            </a:r>
            <a:r>
              <a:rPr lang="en-US" sz="2999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 nắm vững toàn bộ nội dung ngay tại buổi học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7876" y="5617730"/>
            <a:ext cx="1142804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Khó</a:t>
            </a:r>
            <a:r>
              <a:rPr lang="en-US" sz="29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khăn</a:t>
            </a:r>
            <a:r>
              <a:rPr lang="en-US" sz="29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trong</a:t>
            </a:r>
            <a:r>
              <a:rPr lang="en-US" sz="29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việc</a:t>
            </a:r>
            <a:r>
              <a:rPr lang="en-US" sz="29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ôn</a:t>
            </a:r>
            <a:r>
              <a:rPr lang="en-US" sz="29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tập</a:t>
            </a:r>
            <a:r>
              <a:rPr lang="en-US" sz="29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Việc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xem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lại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bài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giảng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ôn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trước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kỳ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gặp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nhiều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khó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khăn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chỉ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dựa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vào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tài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liệu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rời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rạc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7876" y="6840858"/>
            <a:ext cx="11428041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Khối lượng kiến thức lớn: </a:t>
            </a:r>
            <a:r>
              <a:rPr lang="en-US" sz="2999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Các môn chuyên ngành đòi hỏi sinh viên phải tiếp cận với lượng kiến thức khổng lồ</a:t>
            </a:r>
            <a:r>
              <a:rPr lang="en-US" sz="29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329501" y="6646430"/>
            <a:ext cx="1367271" cy="1292692"/>
          </a:xfrm>
          <a:custGeom>
            <a:avLst/>
            <a:gdLst/>
            <a:ahLst/>
            <a:cxnLst/>
            <a:rect l="l" t="t" r="r" b="b"/>
            <a:pathLst>
              <a:path w="1367271" h="1292692">
                <a:moveTo>
                  <a:pt x="0" y="0"/>
                </a:moveTo>
                <a:lnTo>
                  <a:pt x="1367271" y="0"/>
                </a:lnTo>
                <a:lnTo>
                  <a:pt x="1367271" y="1292693"/>
                </a:lnTo>
                <a:lnTo>
                  <a:pt x="0" y="1292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915686" y="3434375"/>
            <a:ext cx="1629699" cy="1653753"/>
          </a:xfrm>
          <a:custGeom>
            <a:avLst/>
            <a:gdLst/>
            <a:ahLst/>
            <a:cxnLst/>
            <a:rect l="l" t="t" r="r" b="b"/>
            <a:pathLst>
              <a:path w="1629699" h="1653753">
                <a:moveTo>
                  <a:pt x="0" y="0"/>
                </a:moveTo>
                <a:lnTo>
                  <a:pt x="1629699" y="0"/>
                </a:lnTo>
                <a:lnTo>
                  <a:pt x="1629699" y="1653753"/>
                </a:lnTo>
                <a:lnTo>
                  <a:pt x="0" y="16537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810366" y="5143500"/>
            <a:ext cx="1610716" cy="1347144"/>
          </a:xfrm>
          <a:custGeom>
            <a:avLst/>
            <a:gdLst/>
            <a:ahLst/>
            <a:cxnLst/>
            <a:rect l="l" t="t" r="r" b="b"/>
            <a:pathLst>
              <a:path w="1610716" h="1347144">
                <a:moveTo>
                  <a:pt x="0" y="0"/>
                </a:moveTo>
                <a:lnTo>
                  <a:pt x="1610716" y="0"/>
                </a:lnTo>
                <a:lnTo>
                  <a:pt x="1610716" y="1347144"/>
                </a:lnTo>
                <a:lnTo>
                  <a:pt x="0" y="134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531572" y="2685216"/>
            <a:ext cx="6977900" cy="5683816"/>
          </a:xfrm>
          <a:custGeom>
            <a:avLst/>
            <a:gdLst/>
            <a:ahLst/>
            <a:cxnLst/>
            <a:rect l="l" t="t" r="r" b="b"/>
            <a:pathLst>
              <a:path w="6977900" h="5683816">
                <a:moveTo>
                  <a:pt x="0" y="0"/>
                </a:moveTo>
                <a:lnTo>
                  <a:pt x="6977900" y="0"/>
                </a:lnTo>
                <a:lnTo>
                  <a:pt x="6977900" y="5683816"/>
                </a:lnTo>
                <a:lnTo>
                  <a:pt x="0" y="5683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403533" y="75565"/>
            <a:ext cx="655915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1. Giới thiệu đề tài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9069" y="1697430"/>
            <a:ext cx="43165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Giải pháp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542492"/>
            <a:ext cx="8904312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Xây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dựng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một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tập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trực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tuyến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được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thiết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kế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riêng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cho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sinh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viên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Công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nghệ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Thông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tin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Trường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Đại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Trà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Vinh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9069" y="4195397"/>
            <a:ext cx="5172169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Mục tiêu của đề tài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9069" y="6549757"/>
            <a:ext cx="899013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Tăng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tính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chủ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động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giúp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viên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không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bị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hạn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chế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thời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gian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học</a:t>
            </a:r>
            <a:endParaRPr lang="en-US" sz="3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9069" y="5285228"/>
            <a:ext cx="899013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Hỗ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trợ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sinh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viên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tập</a:t>
            </a:r>
            <a:r>
              <a:rPr lang="en-US" sz="30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cung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cấp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môi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trường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để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viên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ôn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kiến</a:t>
            </a:r>
            <a:r>
              <a:rPr lang="en-US" sz="30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thức</a:t>
            </a:r>
            <a:endParaRPr lang="en-US" sz="30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89069" y="7816582"/>
            <a:ext cx="899013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Hỗ trợ giảng viên: </a:t>
            </a:r>
            <a:r>
              <a:rPr lang="en-US" sz="30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dễ dàng chia sẽ bài giảng, tài liệu, bài kiểm tra,...</a:t>
            </a: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AA8C5E34-44DD-4913-981E-934951A04DED}"/>
              </a:ext>
            </a:extLst>
          </p:cNvPr>
          <p:cNvSpPr/>
          <p:nvPr/>
        </p:nvSpPr>
        <p:spPr>
          <a:xfrm>
            <a:off x="10628036" y="3200699"/>
            <a:ext cx="6784971" cy="3868170"/>
          </a:xfrm>
          <a:custGeom>
            <a:avLst/>
            <a:gdLst/>
            <a:ahLst/>
            <a:cxnLst/>
            <a:rect l="l" t="t" r="r" b="b"/>
            <a:pathLst>
              <a:path w="5895340" h="3041650">
                <a:moveTo>
                  <a:pt x="5768340" y="3041650"/>
                </a:moveTo>
                <a:lnTo>
                  <a:pt x="127000" y="3041650"/>
                </a:lnTo>
                <a:cubicBezTo>
                  <a:pt x="57150" y="3041650"/>
                  <a:pt x="0" y="2984500"/>
                  <a:pt x="0" y="2914650"/>
                </a:cubicBezTo>
                <a:lnTo>
                  <a:pt x="0" y="0"/>
                </a:lnTo>
                <a:lnTo>
                  <a:pt x="5895340" y="0"/>
                </a:lnTo>
                <a:lnTo>
                  <a:pt x="5895340" y="2914650"/>
                </a:lnTo>
                <a:cubicBezTo>
                  <a:pt x="5895340" y="2985770"/>
                  <a:pt x="5838190" y="3041650"/>
                  <a:pt x="5768340" y="3041650"/>
                </a:cubicBezTo>
                <a:close/>
              </a:path>
            </a:pathLst>
          </a:custGeom>
          <a:blipFill>
            <a:blip r:embed="rId4"/>
            <a:stretch>
              <a:fillRect t="-2716" b="-59959"/>
            </a:stretch>
          </a:blipFill>
        </p:spPr>
        <p:txBody>
          <a:bodyPr/>
          <a:lstStyle/>
          <a:p>
            <a:endParaRPr lang="vi-V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065471"/>
            <a:ext cx="3458117" cy="4821716"/>
            <a:chOff x="0" y="0"/>
            <a:chExt cx="910780" cy="1269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0780" cy="1269917"/>
            </a:xfrm>
            <a:custGeom>
              <a:avLst/>
              <a:gdLst/>
              <a:ahLst/>
              <a:cxnLst/>
              <a:rect l="l" t="t" r="r" b="b"/>
              <a:pathLst>
                <a:path w="910780" h="1269917">
                  <a:moveTo>
                    <a:pt x="38059" y="0"/>
                  </a:moveTo>
                  <a:lnTo>
                    <a:pt x="872721" y="0"/>
                  </a:lnTo>
                  <a:cubicBezTo>
                    <a:pt x="882815" y="0"/>
                    <a:pt x="892495" y="4010"/>
                    <a:pt x="899633" y="11147"/>
                  </a:cubicBezTo>
                  <a:cubicBezTo>
                    <a:pt x="906770" y="18285"/>
                    <a:pt x="910780" y="27965"/>
                    <a:pt x="910780" y="38059"/>
                  </a:cubicBezTo>
                  <a:lnTo>
                    <a:pt x="910780" y="1231858"/>
                  </a:lnTo>
                  <a:cubicBezTo>
                    <a:pt x="910780" y="1241952"/>
                    <a:pt x="906770" y="1251632"/>
                    <a:pt x="899633" y="1258770"/>
                  </a:cubicBezTo>
                  <a:cubicBezTo>
                    <a:pt x="892495" y="1265907"/>
                    <a:pt x="882815" y="1269917"/>
                    <a:pt x="872721" y="1269917"/>
                  </a:cubicBezTo>
                  <a:lnTo>
                    <a:pt x="38059" y="1269917"/>
                  </a:lnTo>
                  <a:cubicBezTo>
                    <a:pt x="27965" y="1269917"/>
                    <a:pt x="18285" y="1265907"/>
                    <a:pt x="11147" y="1258770"/>
                  </a:cubicBezTo>
                  <a:cubicBezTo>
                    <a:pt x="4010" y="1251632"/>
                    <a:pt x="0" y="1241952"/>
                    <a:pt x="0" y="1231858"/>
                  </a:cubicBezTo>
                  <a:lnTo>
                    <a:pt x="0" y="38059"/>
                  </a:lnTo>
                  <a:cubicBezTo>
                    <a:pt x="0" y="27965"/>
                    <a:pt x="4010" y="18285"/>
                    <a:pt x="11147" y="11147"/>
                  </a:cubicBezTo>
                  <a:cubicBezTo>
                    <a:pt x="18285" y="4010"/>
                    <a:pt x="27965" y="0"/>
                    <a:pt x="3805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0780" cy="1317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4709" y="4358550"/>
            <a:ext cx="3086100" cy="1133010"/>
            <a:chOff x="0" y="0"/>
            <a:chExt cx="812800" cy="2984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98406"/>
            </a:xfrm>
            <a:custGeom>
              <a:avLst/>
              <a:gdLst/>
              <a:ahLst/>
              <a:cxnLst/>
              <a:rect l="l" t="t" r="r" b="b"/>
              <a:pathLst>
                <a:path w="812800" h="298406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55759"/>
                  </a:lnTo>
                  <a:cubicBezTo>
                    <a:pt x="812800" y="279312"/>
                    <a:pt x="793706" y="298406"/>
                    <a:pt x="770153" y="298406"/>
                  </a:cubicBezTo>
                  <a:lnTo>
                    <a:pt x="42647" y="298406"/>
                  </a:lnTo>
                  <a:cubicBezTo>
                    <a:pt x="31336" y="298406"/>
                    <a:pt x="20489" y="293913"/>
                    <a:pt x="12491" y="285915"/>
                  </a:cubicBezTo>
                  <a:cubicBezTo>
                    <a:pt x="4493" y="277917"/>
                    <a:pt x="0" y="267070"/>
                    <a:pt x="0" y="255759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34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FDF9E8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CLIENT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DF9E8"/>
                  </a:solidFill>
                  <a:latin typeface="Tahoma"/>
                  <a:ea typeface="Tahoma"/>
                  <a:cs typeface="Tahoma"/>
                  <a:sym typeface="Tahoma"/>
                </a:rPr>
                <a:t>(Frontend)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10483" y="4065471"/>
            <a:ext cx="3458117" cy="4782407"/>
            <a:chOff x="0" y="0"/>
            <a:chExt cx="910780" cy="12595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0780" cy="1259564"/>
            </a:xfrm>
            <a:custGeom>
              <a:avLst/>
              <a:gdLst/>
              <a:ahLst/>
              <a:cxnLst/>
              <a:rect l="l" t="t" r="r" b="b"/>
              <a:pathLst>
                <a:path w="910780" h="1259564">
                  <a:moveTo>
                    <a:pt x="38059" y="0"/>
                  </a:moveTo>
                  <a:lnTo>
                    <a:pt x="872721" y="0"/>
                  </a:lnTo>
                  <a:cubicBezTo>
                    <a:pt x="882815" y="0"/>
                    <a:pt x="892495" y="4010"/>
                    <a:pt x="899633" y="11147"/>
                  </a:cubicBezTo>
                  <a:cubicBezTo>
                    <a:pt x="906770" y="18285"/>
                    <a:pt x="910780" y="27965"/>
                    <a:pt x="910780" y="38059"/>
                  </a:cubicBezTo>
                  <a:lnTo>
                    <a:pt x="910780" y="1221505"/>
                  </a:lnTo>
                  <a:cubicBezTo>
                    <a:pt x="910780" y="1231599"/>
                    <a:pt x="906770" y="1241279"/>
                    <a:pt x="899633" y="1248417"/>
                  </a:cubicBezTo>
                  <a:cubicBezTo>
                    <a:pt x="892495" y="1255554"/>
                    <a:pt x="882815" y="1259564"/>
                    <a:pt x="872721" y="1259564"/>
                  </a:cubicBezTo>
                  <a:lnTo>
                    <a:pt x="38059" y="1259564"/>
                  </a:lnTo>
                  <a:cubicBezTo>
                    <a:pt x="27965" y="1259564"/>
                    <a:pt x="18285" y="1255554"/>
                    <a:pt x="11147" y="1248417"/>
                  </a:cubicBezTo>
                  <a:cubicBezTo>
                    <a:pt x="4010" y="1241279"/>
                    <a:pt x="0" y="1231599"/>
                    <a:pt x="0" y="1221505"/>
                  </a:cubicBezTo>
                  <a:lnTo>
                    <a:pt x="0" y="38059"/>
                  </a:lnTo>
                  <a:cubicBezTo>
                    <a:pt x="0" y="27965"/>
                    <a:pt x="4010" y="18285"/>
                    <a:pt x="11147" y="11147"/>
                  </a:cubicBezTo>
                  <a:cubicBezTo>
                    <a:pt x="18285" y="4010"/>
                    <a:pt x="27965" y="0"/>
                    <a:pt x="3805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910780" cy="1307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996492" y="4358550"/>
            <a:ext cx="3086100" cy="1133010"/>
            <a:chOff x="0" y="0"/>
            <a:chExt cx="812800" cy="2984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298406"/>
            </a:xfrm>
            <a:custGeom>
              <a:avLst/>
              <a:gdLst/>
              <a:ahLst/>
              <a:cxnLst/>
              <a:rect l="l" t="t" r="r" b="b"/>
              <a:pathLst>
                <a:path w="812800" h="298406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55759"/>
                  </a:lnTo>
                  <a:cubicBezTo>
                    <a:pt x="812800" y="279312"/>
                    <a:pt x="793706" y="298406"/>
                    <a:pt x="770153" y="298406"/>
                  </a:cubicBezTo>
                  <a:lnTo>
                    <a:pt x="42647" y="298406"/>
                  </a:lnTo>
                  <a:cubicBezTo>
                    <a:pt x="31336" y="298406"/>
                    <a:pt x="20489" y="293913"/>
                    <a:pt x="12491" y="285915"/>
                  </a:cubicBezTo>
                  <a:cubicBezTo>
                    <a:pt x="4493" y="277917"/>
                    <a:pt x="0" y="267070"/>
                    <a:pt x="0" y="255759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34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FDF9E8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DATABASE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326314" y="5806278"/>
            <a:ext cx="2107055" cy="735554"/>
          </a:xfrm>
          <a:custGeom>
            <a:avLst/>
            <a:gdLst/>
            <a:ahLst/>
            <a:cxnLst/>
            <a:rect l="l" t="t" r="r" b="b"/>
            <a:pathLst>
              <a:path w="2107055" h="735554">
                <a:moveTo>
                  <a:pt x="0" y="0"/>
                </a:moveTo>
                <a:lnTo>
                  <a:pt x="2107054" y="0"/>
                </a:lnTo>
                <a:lnTo>
                  <a:pt x="2107054" y="735554"/>
                </a:lnTo>
                <a:lnTo>
                  <a:pt x="0" y="73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26314" y="6856550"/>
            <a:ext cx="2732484" cy="569966"/>
          </a:xfrm>
          <a:custGeom>
            <a:avLst/>
            <a:gdLst/>
            <a:ahLst/>
            <a:cxnLst/>
            <a:rect l="l" t="t" r="r" b="b"/>
            <a:pathLst>
              <a:path w="2732484" h="569966">
                <a:moveTo>
                  <a:pt x="0" y="0"/>
                </a:moveTo>
                <a:lnTo>
                  <a:pt x="2732484" y="0"/>
                </a:lnTo>
                <a:lnTo>
                  <a:pt x="2732484" y="569966"/>
                </a:lnTo>
                <a:lnTo>
                  <a:pt x="0" y="569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14" t="-219543" r="-4287" b="-215490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828505" y="3643171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grpSp>
        <p:nvGrpSpPr>
          <p:cNvPr id="20" name="Group 20"/>
          <p:cNvGrpSpPr/>
          <p:nvPr/>
        </p:nvGrpSpPr>
        <p:grpSpPr>
          <a:xfrm>
            <a:off x="7639244" y="4065471"/>
            <a:ext cx="3458117" cy="4821716"/>
            <a:chOff x="0" y="0"/>
            <a:chExt cx="910780" cy="12699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0780" cy="1269917"/>
            </a:xfrm>
            <a:custGeom>
              <a:avLst/>
              <a:gdLst/>
              <a:ahLst/>
              <a:cxnLst/>
              <a:rect l="l" t="t" r="r" b="b"/>
              <a:pathLst>
                <a:path w="910780" h="1269917">
                  <a:moveTo>
                    <a:pt x="38059" y="0"/>
                  </a:moveTo>
                  <a:lnTo>
                    <a:pt x="872721" y="0"/>
                  </a:lnTo>
                  <a:cubicBezTo>
                    <a:pt x="882815" y="0"/>
                    <a:pt x="892495" y="4010"/>
                    <a:pt x="899633" y="11147"/>
                  </a:cubicBezTo>
                  <a:cubicBezTo>
                    <a:pt x="906770" y="18285"/>
                    <a:pt x="910780" y="27965"/>
                    <a:pt x="910780" y="38059"/>
                  </a:cubicBezTo>
                  <a:lnTo>
                    <a:pt x="910780" y="1231858"/>
                  </a:lnTo>
                  <a:cubicBezTo>
                    <a:pt x="910780" y="1241952"/>
                    <a:pt x="906770" y="1251632"/>
                    <a:pt x="899633" y="1258770"/>
                  </a:cubicBezTo>
                  <a:cubicBezTo>
                    <a:pt x="892495" y="1265907"/>
                    <a:pt x="882815" y="1269917"/>
                    <a:pt x="872721" y="1269917"/>
                  </a:cubicBezTo>
                  <a:lnTo>
                    <a:pt x="38059" y="1269917"/>
                  </a:lnTo>
                  <a:cubicBezTo>
                    <a:pt x="27965" y="1269917"/>
                    <a:pt x="18285" y="1265907"/>
                    <a:pt x="11147" y="1258770"/>
                  </a:cubicBezTo>
                  <a:cubicBezTo>
                    <a:pt x="4010" y="1251632"/>
                    <a:pt x="0" y="1241952"/>
                    <a:pt x="0" y="1231858"/>
                  </a:cubicBezTo>
                  <a:lnTo>
                    <a:pt x="0" y="38059"/>
                  </a:lnTo>
                  <a:cubicBezTo>
                    <a:pt x="0" y="27965"/>
                    <a:pt x="4010" y="18285"/>
                    <a:pt x="11147" y="11147"/>
                  </a:cubicBezTo>
                  <a:cubicBezTo>
                    <a:pt x="18285" y="4010"/>
                    <a:pt x="27965" y="0"/>
                    <a:pt x="3805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10780" cy="1317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25252" y="4358550"/>
            <a:ext cx="3086100" cy="1133010"/>
            <a:chOff x="0" y="0"/>
            <a:chExt cx="812800" cy="2984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298406"/>
            </a:xfrm>
            <a:custGeom>
              <a:avLst/>
              <a:gdLst/>
              <a:ahLst/>
              <a:cxnLst/>
              <a:rect l="l" t="t" r="r" b="b"/>
              <a:pathLst>
                <a:path w="812800" h="298406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255759"/>
                  </a:lnTo>
                  <a:cubicBezTo>
                    <a:pt x="812800" y="279312"/>
                    <a:pt x="793706" y="298406"/>
                    <a:pt x="770153" y="298406"/>
                  </a:cubicBezTo>
                  <a:lnTo>
                    <a:pt x="42647" y="298406"/>
                  </a:lnTo>
                  <a:cubicBezTo>
                    <a:pt x="31336" y="298406"/>
                    <a:pt x="20489" y="293913"/>
                    <a:pt x="12491" y="285915"/>
                  </a:cubicBezTo>
                  <a:cubicBezTo>
                    <a:pt x="4493" y="277917"/>
                    <a:pt x="0" y="267070"/>
                    <a:pt x="0" y="255759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812800" cy="3460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FDF9E8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SERVER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DF9E8"/>
                  </a:solidFill>
                  <a:latin typeface="Tahoma"/>
                  <a:ea typeface="Tahoma"/>
                  <a:cs typeface="Tahoma"/>
                  <a:sym typeface="Tahoma"/>
                </a:rPr>
                <a:t>(Backend)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19980" y="5491560"/>
            <a:ext cx="3086100" cy="1649973"/>
            <a:chOff x="0" y="0"/>
            <a:chExt cx="812800" cy="4345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434561"/>
            </a:xfrm>
            <a:custGeom>
              <a:avLst/>
              <a:gdLst/>
              <a:ahLst/>
              <a:cxnLst/>
              <a:rect l="l" t="t" r="r" b="b"/>
              <a:pathLst>
                <a:path w="812800" h="434561">
                  <a:moveTo>
                    <a:pt x="273050" y="0"/>
                  </a:moveTo>
                  <a:lnTo>
                    <a:pt x="0" y="217280"/>
                  </a:lnTo>
                  <a:lnTo>
                    <a:pt x="273050" y="434561"/>
                  </a:lnTo>
                  <a:lnTo>
                    <a:pt x="273050" y="301211"/>
                  </a:lnTo>
                  <a:lnTo>
                    <a:pt x="539750" y="301211"/>
                  </a:lnTo>
                  <a:lnTo>
                    <a:pt x="539750" y="434561"/>
                  </a:lnTo>
                  <a:lnTo>
                    <a:pt x="812800" y="217280"/>
                  </a:lnTo>
                  <a:lnTo>
                    <a:pt x="539750" y="0"/>
                  </a:lnTo>
                  <a:lnTo>
                    <a:pt x="539750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360185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600" y="92075"/>
              <a:ext cx="609600" cy="202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097361" y="5491560"/>
            <a:ext cx="2713122" cy="1649973"/>
            <a:chOff x="0" y="0"/>
            <a:chExt cx="714567" cy="43456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4567" cy="434561"/>
            </a:xfrm>
            <a:custGeom>
              <a:avLst/>
              <a:gdLst/>
              <a:ahLst/>
              <a:cxnLst/>
              <a:rect l="l" t="t" r="r" b="b"/>
              <a:pathLst>
                <a:path w="714567" h="434561">
                  <a:moveTo>
                    <a:pt x="273050" y="0"/>
                  </a:moveTo>
                  <a:lnTo>
                    <a:pt x="0" y="217280"/>
                  </a:lnTo>
                  <a:lnTo>
                    <a:pt x="273050" y="434561"/>
                  </a:lnTo>
                  <a:lnTo>
                    <a:pt x="273050" y="301211"/>
                  </a:lnTo>
                  <a:lnTo>
                    <a:pt x="441517" y="301211"/>
                  </a:lnTo>
                  <a:lnTo>
                    <a:pt x="441517" y="434561"/>
                  </a:lnTo>
                  <a:lnTo>
                    <a:pt x="714567" y="217280"/>
                  </a:lnTo>
                  <a:lnTo>
                    <a:pt x="441517" y="0"/>
                  </a:lnTo>
                  <a:lnTo>
                    <a:pt x="441517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01600" y="92075"/>
              <a:ext cx="511367" cy="2027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8564634" y="5663010"/>
            <a:ext cx="803668" cy="885807"/>
          </a:xfrm>
          <a:custGeom>
            <a:avLst/>
            <a:gdLst/>
            <a:ahLst/>
            <a:cxnLst/>
            <a:rect l="l" t="t" r="r" b="b"/>
            <a:pathLst>
              <a:path w="803668" h="885807">
                <a:moveTo>
                  <a:pt x="0" y="0"/>
                </a:moveTo>
                <a:lnTo>
                  <a:pt x="803668" y="0"/>
                </a:lnTo>
                <a:lnTo>
                  <a:pt x="803668" y="885807"/>
                </a:lnTo>
                <a:lnTo>
                  <a:pt x="0" y="8858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8304574" y="6720267"/>
            <a:ext cx="2094294" cy="569966"/>
          </a:xfrm>
          <a:custGeom>
            <a:avLst/>
            <a:gdLst/>
            <a:ahLst/>
            <a:cxnLst/>
            <a:rect l="l" t="t" r="r" b="b"/>
            <a:pathLst>
              <a:path w="2094294" h="569966">
                <a:moveTo>
                  <a:pt x="0" y="0"/>
                </a:moveTo>
                <a:lnTo>
                  <a:pt x="2094294" y="0"/>
                </a:lnTo>
                <a:lnTo>
                  <a:pt x="2094294" y="569966"/>
                </a:lnTo>
                <a:lnTo>
                  <a:pt x="0" y="5699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577945" y="5811271"/>
            <a:ext cx="1923193" cy="1010550"/>
          </a:xfrm>
          <a:custGeom>
            <a:avLst/>
            <a:gdLst/>
            <a:ahLst/>
            <a:cxnLst/>
            <a:rect l="l" t="t" r="r" b="b"/>
            <a:pathLst>
              <a:path w="1923193" h="1010550">
                <a:moveTo>
                  <a:pt x="0" y="0"/>
                </a:moveTo>
                <a:lnTo>
                  <a:pt x="1923193" y="0"/>
                </a:lnTo>
                <a:lnTo>
                  <a:pt x="1923193" y="1010551"/>
                </a:lnTo>
                <a:lnTo>
                  <a:pt x="0" y="10105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4663162" y="75565"/>
            <a:ext cx="859563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2.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Tổng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quan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endParaRPr lang="en-US" sz="5600" b="1" dirty="0">
              <a:solidFill>
                <a:srgbClr val="F4B342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789069" y="1697430"/>
            <a:ext cx="108268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Kiến trúc hệ thống: hiện đại và linh hoạt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28700" y="2479210"/>
            <a:ext cx="1667920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Hệ thống được xây dựng với Frontend và Backend tách biệt, giao tiếp qua RESTful API.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26314" y="7803304"/>
            <a:ext cx="273248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D1826"/>
                </a:solidFill>
                <a:latin typeface="Tahoma Bold"/>
                <a:ea typeface="Tahoma Bold"/>
                <a:cs typeface="Tahoma Bold"/>
                <a:sym typeface="Tahoma Bold"/>
              </a:rPr>
              <a:t>Giao diện người dùng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57614" y="6073342"/>
            <a:ext cx="2142325" cy="390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DF9E8"/>
                </a:solidFill>
                <a:latin typeface="Tahoma Bold"/>
                <a:ea typeface="Tahoma Bold"/>
                <a:cs typeface="Tahoma Bold"/>
                <a:sym typeface="Tahoma Bold"/>
              </a:rPr>
              <a:t>RESTFUL API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95782" y="7803304"/>
            <a:ext cx="2711878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D1826"/>
                </a:solidFill>
                <a:latin typeface="Tahoma Bold"/>
                <a:ea typeface="Tahoma Bold"/>
                <a:cs typeface="Tahoma Bold"/>
                <a:sym typeface="Tahoma Bold"/>
              </a:rPr>
              <a:t>Xử lý logic, xác thực,</a:t>
            </a:r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D1826"/>
                </a:solidFill>
                <a:latin typeface="Tahoma Bold"/>
                <a:ea typeface="Tahoma Bold"/>
                <a:cs typeface="Tahoma Bold"/>
                <a:sym typeface="Tahoma Bold"/>
              </a:rPr>
              <a:t>quản lý nghiệp vụ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D1826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3996492" y="7450879"/>
            <a:ext cx="3272109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D1826"/>
                </a:solidFill>
                <a:latin typeface="Tahoma Bold"/>
                <a:ea typeface="Tahoma Bold"/>
                <a:cs typeface="Tahoma Bold"/>
                <a:sym typeface="Tahoma Bold"/>
              </a:rPr>
              <a:t>Lưu trữ dự liệu hệ thống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D1826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7619" y="2872181"/>
            <a:ext cx="5406471" cy="6386119"/>
            <a:chOff x="0" y="0"/>
            <a:chExt cx="1423927" cy="16819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3927" cy="1681941"/>
            </a:xfrm>
            <a:custGeom>
              <a:avLst/>
              <a:gdLst/>
              <a:ahLst/>
              <a:cxnLst/>
              <a:rect l="l" t="t" r="r" b="b"/>
              <a:pathLst>
                <a:path w="1423927" h="1681941">
                  <a:moveTo>
                    <a:pt x="24344" y="0"/>
                  </a:moveTo>
                  <a:lnTo>
                    <a:pt x="1399583" y="0"/>
                  </a:lnTo>
                  <a:cubicBezTo>
                    <a:pt x="1413028" y="0"/>
                    <a:pt x="1423927" y="10899"/>
                    <a:pt x="1423927" y="24344"/>
                  </a:cubicBezTo>
                  <a:lnTo>
                    <a:pt x="1423927" y="1657597"/>
                  </a:lnTo>
                  <a:cubicBezTo>
                    <a:pt x="1423927" y="1664054"/>
                    <a:pt x="1421362" y="1670246"/>
                    <a:pt x="1416797" y="1674811"/>
                  </a:cubicBezTo>
                  <a:cubicBezTo>
                    <a:pt x="1412231" y="1679376"/>
                    <a:pt x="1406039" y="1681941"/>
                    <a:pt x="1399583" y="1681941"/>
                  </a:cubicBezTo>
                  <a:lnTo>
                    <a:pt x="24344" y="1681941"/>
                  </a:lnTo>
                  <a:cubicBezTo>
                    <a:pt x="10899" y="1681941"/>
                    <a:pt x="0" y="1671042"/>
                    <a:pt x="0" y="1657597"/>
                  </a:cubicBezTo>
                  <a:lnTo>
                    <a:pt x="0" y="24344"/>
                  </a:lnTo>
                  <a:cubicBezTo>
                    <a:pt x="0" y="10899"/>
                    <a:pt x="10899" y="0"/>
                    <a:pt x="24344" y="0"/>
                  </a:cubicBezTo>
                  <a:close/>
                </a:path>
              </a:pathLst>
            </a:custGeom>
            <a:solidFill>
              <a:srgbClr val="FDF9E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423927" cy="1729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49549" y="2872181"/>
            <a:ext cx="5254071" cy="6386119"/>
            <a:chOff x="0" y="0"/>
            <a:chExt cx="1383788" cy="16819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3788" cy="1681941"/>
            </a:xfrm>
            <a:custGeom>
              <a:avLst/>
              <a:gdLst/>
              <a:ahLst/>
              <a:cxnLst/>
              <a:rect l="l" t="t" r="r" b="b"/>
              <a:pathLst>
                <a:path w="1383788" h="1681941">
                  <a:moveTo>
                    <a:pt x="25050" y="0"/>
                  </a:moveTo>
                  <a:lnTo>
                    <a:pt x="1358739" y="0"/>
                  </a:lnTo>
                  <a:cubicBezTo>
                    <a:pt x="1365382" y="0"/>
                    <a:pt x="1371754" y="2639"/>
                    <a:pt x="1376451" y="7337"/>
                  </a:cubicBezTo>
                  <a:cubicBezTo>
                    <a:pt x="1381149" y="12035"/>
                    <a:pt x="1383788" y="18406"/>
                    <a:pt x="1383788" y="25050"/>
                  </a:cubicBezTo>
                  <a:lnTo>
                    <a:pt x="1383788" y="1656891"/>
                  </a:lnTo>
                  <a:cubicBezTo>
                    <a:pt x="1383788" y="1663535"/>
                    <a:pt x="1381149" y="1669906"/>
                    <a:pt x="1376451" y="1674604"/>
                  </a:cubicBezTo>
                  <a:cubicBezTo>
                    <a:pt x="1371754" y="1679302"/>
                    <a:pt x="1365382" y="1681941"/>
                    <a:pt x="1358739" y="1681941"/>
                  </a:cubicBezTo>
                  <a:lnTo>
                    <a:pt x="25050" y="1681941"/>
                  </a:lnTo>
                  <a:cubicBezTo>
                    <a:pt x="18406" y="1681941"/>
                    <a:pt x="12035" y="1679302"/>
                    <a:pt x="7337" y="1674604"/>
                  </a:cubicBezTo>
                  <a:cubicBezTo>
                    <a:pt x="2639" y="1669906"/>
                    <a:pt x="0" y="1663535"/>
                    <a:pt x="0" y="1656891"/>
                  </a:cubicBezTo>
                  <a:lnTo>
                    <a:pt x="0" y="25050"/>
                  </a:lnTo>
                  <a:cubicBezTo>
                    <a:pt x="0" y="18406"/>
                    <a:pt x="2639" y="12035"/>
                    <a:pt x="7337" y="7337"/>
                  </a:cubicBezTo>
                  <a:cubicBezTo>
                    <a:pt x="12035" y="2639"/>
                    <a:pt x="18406" y="0"/>
                    <a:pt x="25050" y="0"/>
                  </a:cubicBezTo>
                  <a:close/>
                </a:path>
              </a:pathLst>
            </a:custGeom>
            <a:solidFill>
              <a:srgbClr val="FDF9E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383788" cy="1729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10029" y="2872181"/>
            <a:ext cx="5273121" cy="6386119"/>
            <a:chOff x="0" y="0"/>
            <a:chExt cx="1388806" cy="16819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8806" cy="1681941"/>
            </a:xfrm>
            <a:custGeom>
              <a:avLst/>
              <a:gdLst/>
              <a:ahLst/>
              <a:cxnLst/>
              <a:rect l="l" t="t" r="r" b="b"/>
              <a:pathLst>
                <a:path w="1388806" h="1681941">
                  <a:moveTo>
                    <a:pt x="24959" y="0"/>
                  </a:moveTo>
                  <a:lnTo>
                    <a:pt x="1363847" y="0"/>
                  </a:lnTo>
                  <a:cubicBezTo>
                    <a:pt x="1370466" y="0"/>
                    <a:pt x="1376815" y="2630"/>
                    <a:pt x="1381495" y="7310"/>
                  </a:cubicBezTo>
                  <a:cubicBezTo>
                    <a:pt x="1386176" y="11991"/>
                    <a:pt x="1388806" y="18340"/>
                    <a:pt x="1388806" y="24959"/>
                  </a:cubicBezTo>
                  <a:lnTo>
                    <a:pt x="1388806" y="1656982"/>
                  </a:lnTo>
                  <a:cubicBezTo>
                    <a:pt x="1388806" y="1663601"/>
                    <a:pt x="1386176" y="1669950"/>
                    <a:pt x="1381495" y="1674631"/>
                  </a:cubicBezTo>
                  <a:cubicBezTo>
                    <a:pt x="1376815" y="1679311"/>
                    <a:pt x="1370466" y="1681941"/>
                    <a:pt x="1363847" y="1681941"/>
                  </a:cubicBezTo>
                  <a:lnTo>
                    <a:pt x="24959" y="1681941"/>
                  </a:lnTo>
                  <a:cubicBezTo>
                    <a:pt x="18340" y="1681941"/>
                    <a:pt x="11991" y="1679311"/>
                    <a:pt x="7310" y="1674631"/>
                  </a:cubicBezTo>
                  <a:cubicBezTo>
                    <a:pt x="2630" y="1669950"/>
                    <a:pt x="0" y="1663601"/>
                    <a:pt x="0" y="1656982"/>
                  </a:cubicBezTo>
                  <a:lnTo>
                    <a:pt x="0" y="24959"/>
                  </a:lnTo>
                  <a:cubicBezTo>
                    <a:pt x="0" y="18340"/>
                    <a:pt x="2630" y="11991"/>
                    <a:pt x="7310" y="7310"/>
                  </a:cubicBezTo>
                  <a:cubicBezTo>
                    <a:pt x="11991" y="2630"/>
                    <a:pt x="18340" y="0"/>
                    <a:pt x="24959" y="0"/>
                  </a:cubicBezTo>
                  <a:close/>
                </a:path>
              </a:pathLst>
            </a:custGeom>
            <a:solidFill>
              <a:srgbClr val="FDF9E8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88806" cy="1729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89069" y="3950970"/>
            <a:ext cx="990106" cy="927099"/>
          </a:xfrm>
          <a:custGeom>
            <a:avLst/>
            <a:gdLst/>
            <a:ahLst/>
            <a:cxnLst/>
            <a:rect l="l" t="t" r="r" b="b"/>
            <a:pathLst>
              <a:path w="990106" h="927099">
                <a:moveTo>
                  <a:pt x="0" y="0"/>
                </a:moveTo>
                <a:lnTo>
                  <a:pt x="990106" y="0"/>
                </a:lnTo>
                <a:lnTo>
                  <a:pt x="990106" y="927100"/>
                </a:lnTo>
                <a:lnTo>
                  <a:pt x="0" y="927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54748" y="5559935"/>
            <a:ext cx="1024427" cy="669954"/>
          </a:xfrm>
          <a:custGeom>
            <a:avLst/>
            <a:gdLst/>
            <a:ahLst/>
            <a:cxnLst/>
            <a:rect l="l" t="t" r="r" b="b"/>
            <a:pathLst>
              <a:path w="1024427" h="669954">
                <a:moveTo>
                  <a:pt x="0" y="0"/>
                </a:moveTo>
                <a:lnTo>
                  <a:pt x="1024427" y="0"/>
                </a:lnTo>
                <a:lnTo>
                  <a:pt x="1024427" y="669954"/>
                </a:lnTo>
                <a:lnTo>
                  <a:pt x="0" y="669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98" r="-4498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89069" y="7190105"/>
            <a:ext cx="896790" cy="883666"/>
          </a:xfrm>
          <a:custGeom>
            <a:avLst/>
            <a:gdLst/>
            <a:ahLst/>
            <a:cxnLst/>
            <a:rect l="l" t="t" r="r" b="b"/>
            <a:pathLst>
              <a:path w="896790" h="883666">
                <a:moveTo>
                  <a:pt x="0" y="0"/>
                </a:moveTo>
                <a:lnTo>
                  <a:pt x="896790" y="0"/>
                </a:lnTo>
                <a:lnTo>
                  <a:pt x="896790" y="883666"/>
                </a:lnTo>
                <a:lnTo>
                  <a:pt x="0" y="883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773934" y="4414520"/>
            <a:ext cx="803668" cy="885807"/>
          </a:xfrm>
          <a:custGeom>
            <a:avLst/>
            <a:gdLst/>
            <a:ahLst/>
            <a:cxnLst/>
            <a:rect l="l" t="t" r="r" b="b"/>
            <a:pathLst>
              <a:path w="803668" h="885807">
                <a:moveTo>
                  <a:pt x="0" y="0"/>
                </a:moveTo>
                <a:lnTo>
                  <a:pt x="803668" y="0"/>
                </a:lnTo>
                <a:lnTo>
                  <a:pt x="803668" y="885807"/>
                </a:lnTo>
                <a:lnTo>
                  <a:pt x="0" y="885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609370" y="6975970"/>
            <a:ext cx="1161447" cy="428269"/>
          </a:xfrm>
          <a:custGeom>
            <a:avLst/>
            <a:gdLst/>
            <a:ahLst/>
            <a:cxnLst/>
            <a:rect l="l" t="t" r="r" b="b"/>
            <a:pathLst>
              <a:path w="1161447" h="428269">
                <a:moveTo>
                  <a:pt x="0" y="0"/>
                </a:moveTo>
                <a:lnTo>
                  <a:pt x="1161447" y="0"/>
                </a:lnTo>
                <a:lnTo>
                  <a:pt x="1161447" y="428269"/>
                </a:lnTo>
                <a:lnTo>
                  <a:pt x="0" y="428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r="-35489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556095" y="4551213"/>
            <a:ext cx="1281522" cy="673381"/>
          </a:xfrm>
          <a:custGeom>
            <a:avLst/>
            <a:gdLst/>
            <a:ahLst/>
            <a:cxnLst/>
            <a:rect l="l" t="t" r="r" b="b"/>
            <a:pathLst>
              <a:path w="1281522" h="673381">
                <a:moveTo>
                  <a:pt x="0" y="0"/>
                </a:moveTo>
                <a:lnTo>
                  <a:pt x="1281522" y="0"/>
                </a:lnTo>
                <a:lnTo>
                  <a:pt x="1281522" y="673381"/>
                </a:lnTo>
                <a:lnTo>
                  <a:pt x="0" y="6733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537930" y="6591935"/>
            <a:ext cx="1299687" cy="812304"/>
          </a:xfrm>
          <a:custGeom>
            <a:avLst/>
            <a:gdLst/>
            <a:ahLst/>
            <a:cxnLst/>
            <a:rect l="l" t="t" r="r" b="b"/>
            <a:pathLst>
              <a:path w="1299687" h="812304">
                <a:moveTo>
                  <a:pt x="0" y="0"/>
                </a:moveTo>
                <a:lnTo>
                  <a:pt x="1299687" y="0"/>
                </a:lnTo>
                <a:lnTo>
                  <a:pt x="1299687" y="812304"/>
                </a:lnTo>
                <a:lnTo>
                  <a:pt x="0" y="8123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770817" y="4032559"/>
            <a:ext cx="3845082" cy="166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Node.js: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Môi trường chạy JavaScript phía server với 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cơ chế bất đồng bộ, hiệu suất cao.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63162" y="75565"/>
            <a:ext cx="821463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2.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Tổng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quan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endParaRPr lang="en-US" sz="5600" b="1" dirty="0">
              <a:solidFill>
                <a:srgbClr val="F4B342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9069" y="1697430"/>
            <a:ext cx="108268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Nền tảng công nghệ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39118" y="3107055"/>
            <a:ext cx="184917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Frontend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55094" y="3147695"/>
            <a:ext cx="1738180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Backend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74753" y="3066415"/>
            <a:ext cx="3019822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Database &amp; 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Authentication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79175" y="3978275"/>
            <a:ext cx="4244915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ReactJS: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Thư viện xây dựng giao diện dựa trên component.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79175" y="5260340"/>
            <a:ext cx="4244915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Tailwind CSS: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Framework CSS giúp thiết kế giao diện nhanh và linh hoạt.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10519" y="7047561"/>
            <a:ext cx="4213571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Vite: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Công cụ hỗ trợ build và phát triển ứng dụng với tốc độ siêu nhanh.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70817" y="6544310"/>
            <a:ext cx="393755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ExpressJS: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Framework tối giản giúp xây dựng API và ứng dụng web trên Node.js.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28117" y="4288155"/>
            <a:ext cx="343324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MySQL: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Hệ quản trị cơ sở dữ liệu quan hệ 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mã nguồn mở và tin cậy.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028117" y="6239841"/>
            <a:ext cx="343324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JWT: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Phương thức xác thực và phân quyền người dùng an toàn.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14075" y="2264443"/>
            <a:ext cx="1368325" cy="1539016"/>
          </a:xfrm>
          <a:custGeom>
            <a:avLst/>
            <a:gdLst/>
            <a:ahLst/>
            <a:cxnLst/>
            <a:rect l="l" t="t" r="r" b="b"/>
            <a:pathLst>
              <a:path w="1368325" h="1539016">
                <a:moveTo>
                  <a:pt x="0" y="0"/>
                </a:moveTo>
                <a:lnTo>
                  <a:pt x="1368324" y="0"/>
                </a:lnTo>
                <a:lnTo>
                  <a:pt x="1368324" y="1539016"/>
                </a:lnTo>
                <a:lnTo>
                  <a:pt x="0" y="1539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63162" y="75565"/>
            <a:ext cx="844323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2.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Tổng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quan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5600" b="1" dirty="0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5600" b="1" dirty="0" err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endParaRPr lang="en-US" sz="5600" b="1" dirty="0">
              <a:solidFill>
                <a:srgbClr val="F4B342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89069" y="1496971"/>
            <a:ext cx="108268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Phân quyền và chức năng theo vài trò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2820280" y="3049484"/>
            <a:ext cx="5623538" cy="10692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9812143" y="2922420"/>
            <a:ext cx="5543633" cy="116361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9198237" y="3803459"/>
            <a:ext cx="0" cy="28257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375569" y="4118683"/>
            <a:ext cx="5543544" cy="5425367"/>
            <a:chOff x="0" y="0"/>
            <a:chExt cx="1460028" cy="14289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0028" cy="1428903"/>
            </a:xfrm>
            <a:custGeom>
              <a:avLst/>
              <a:gdLst/>
              <a:ahLst/>
              <a:cxnLst/>
              <a:rect l="l" t="t" r="r" b="b"/>
              <a:pathLst>
                <a:path w="1460028" h="1428903">
                  <a:moveTo>
                    <a:pt x="23742" y="0"/>
                  </a:moveTo>
                  <a:lnTo>
                    <a:pt x="1436286" y="0"/>
                  </a:lnTo>
                  <a:cubicBezTo>
                    <a:pt x="1449399" y="0"/>
                    <a:pt x="1460028" y="10629"/>
                    <a:pt x="1460028" y="23742"/>
                  </a:cubicBezTo>
                  <a:lnTo>
                    <a:pt x="1460028" y="1405162"/>
                  </a:lnTo>
                  <a:cubicBezTo>
                    <a:pt x="1460028" y="1418274"/>
                    <a:pt x="1449399" y="1428903"/>
                    <a:pt x="1436286" y="1428903"/>
                  </a:cubicBezTo>
                  <a:lnTo>
                    <a:pt x="23742" y="1428903"/>
                  </a:lnTo>
                  <a:cubicBezTo>
                    <a:pt x="10629" y="1428903"/>
                    <a:pt x="0" y="1418274"/>
                    <a:pt x="0" y="1405162"/>
                  </a:cubicBezTo>
                  <a:lnTo>
                    <a:pt x="0" y="23742"/>
                  </a:lnTo>
                  <a:cubicBezTo>
                    <a:pt x="0" y="10629"/>
                    <a:pt x="10629" y="0"/>
                    <a:pt x="23742" y="0"/>
                  </a:cubicBezTo>
                  <a:close/>
                </a:path>
              </a:pathLst>
            </a:custGeom>
            <a:solidFill>
              <a:srgbClr val="C9E8F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460028" cy="1476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05480" y="4423483"/>
            <a:ext cx="3086100" cy="787937"/>
            <a:chOff x="0" y="0"/>
            <a:chExt cx="812800" cy="2075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207523"/>
            </a:xfrm>
            <a:custGeom>
              <a:avLst/>
              <a:gdLst/>
              <a:ahLst/>
              <a:cxnLst/>
              <a:rect l="l" t="t" r="r" b="b"/>
              <a:pathLst>
                <a:path w="812800" h="207523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4876"/>
                  </a:lnTo>
                  <a:cubicBezTo>
                    <a:pt x="812800" y="188429"/>
                    <a:pt x="793706" y="207523"/>
                    <a:pt x="770153" y="207523"/>
                  </a:cubicBezTo>
                  <a:lnTo>
                    <a:pt x="42647" y="207523"/>
                  </a:lnTo>
                  <a:cubicBezTo>
                    <a:pt x="31336" y="207523"/>
                    <a:pt x="20489" y="203029"/>
                    <a:pt x="12491" y="195032"/>
                  </a:cubicBezTo>
                  <a:cubicBezTo>
                    <a:pt x="4493" y="187034"/>
                    <a:pt x="0" y="176186"/>
                    <a:pt x="0" y="164876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812800" cy="255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5569" y="4299658"/>
            <a:ext cx="5541165" cy="392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2799" b="1">
                <a:solidFill>
                  <a:srgbClr val="0D1826"/>
                </a:solidFill>
                <a:latin typeface="Tahoma Bold"/>
                <a:ea typeface="Tahoma Bold"/>
                <a:cs typeface="Tahoma Bold"/>
                <a:sym typeface="Tahoma Bold"/>
              </a:rPr>
              <a:t>Sinh viên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Xác thực: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đăng ký, đăng nhập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Khám phá: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 kiếm khóa học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 tập: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tham gia học, xem video bài giảng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Ôn tập: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làm bài trắc nghiệm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Theo dõi 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xem tiến độ học tập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202484" y="4086030"/>
            <a:ext cx="5562594" cy="5458020"/>
            <a:chOff x="0" y="0"/>
            <a:chExt cx="1465045" cy="14375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5045" cy="1437503"/>
            </a:xfrm>
            <a:custGeom>
              <a:avLst/>
              <a:gdLst/>
              <a:ahLst/>
              <a:cxnLst/>
              <a:rect l="l" t="t" r="r" b="b"/>
              <a:pathLst>
                <a:path w="1465045" h="1437503">
                  <a:moveTo>
                    <a:pt x="23660" y="0"/>
                  </a:moveTo>
                  <a:lnTo>
                    <a:pt x="1441385" y="0"/>
                  </a:lnTo>
                  <a:cubicBezTo>
                    <a:pt x="1447660" y="0"/>
                    <a:pt x="1453678" y="2493"/>
                    <a:pt x="1458115" y="6930"/>
                  </a:cubicBezTo>
                  <a:cubicBezTo>
                    <a:pt x="1462552" y="11367"/>
                    <a:pt x="1465045" y="17385"/>
                    <a:pt x="1465045" y="23660"/>
                  </a:cubicBezTo>
                  <a:lnTo>
                    <a:pt x="1465045" y="1413843"/>
                  </a:lnTo>
                  <a:cubicBezTo>
                    <a:pt x="1465045" y="1420118"/>
                    <a:pt x="1462552" y="1426136"/>
                    <a:pt x="1458115" y="1430573"/>
                  </a:cubicBezTo>
                  <a:cubicBezTo>
                    <a:pt x="1453678" y="1435011"/>
                    <a:pt x="1447660" y="1437503"/>
                    <a:pt x="1441385" y="1437503"/>
                  </a:cubicBezTo>
                  <a:lnTo>
                    <a:pt x="23660" y="1437503"/>
                  </a:lnTo>
                  <a:cubicBezTo>
                    <a:pt x="17385" y="1437503"/>
                    <a:pt x="11367" y="1435011"/>
                    <a:pt x="6930" y="1430573"/>
                  </a:cubicBezTo>
                  <a:cubicBezTo>
                    <a:pt x="2493" y="1426136"/>
                    <a:pt x="0" y="1420118"/>
                    <a:pt x="0" y="1413843"/>
                  </a:cubicBezTo>
                  <a:lnTo>
                    <a:pt x="0" y="23660"/>
                  </a:lnTo>
                  <a:cubicBezTo>
                    <a:pt x="0" y="17385"/>
                    <a:pt x="2493" y="11367"/>
                    <a:pt x="6930" y="6930"/>
                  </a:cubicBezTo>
                  <a:cubicBezTo>
                    <a:pt x="11367" y="2493"/>
                    <a:pt x="17385" y="0"/>
                    <a:pt x="23660" y="0"/>
                  </a:cubicBezTo>
                  <a:close/>
                </a:path>
              </a:pathLst>
            </a:custGeom>
            <a:solidFill>
              <a:srgbClr val="C9E8F7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465045" cy="1485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50827" y="4086030"/>
            <a:ext cx="5857998" cy="5458020"/>
            <a:chOff x="0" y="0"/>
            <a:chExt cx="1542847" cy="14375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42847" cy="1437503"/>
            </a:xfrm>
            <a:custGeom>
              <a:avLst/>
              <a:gdLst/>
              <a:ahLst/>
              <a:cxnLst/>
              <a:rect l="l" t="t" r="r" b="b"/>
              <a:pathLst>
                <a:path w="1542847" h="1437503">
                  <a:moveTo>
                    <a:pt x="22467" y="0"/>
                  </a:moveTo>
                  <a:lnTo>
                    <a:pt x="1520380" y="0"/>
                  </a:lnTo>
                  <a:cubicBezTo>
                    <a:pt x="1526339" y="0"/>
                    <a:pt x="1532053" y="2367"/>
                    <a:pt x="1536267" y="6580"/>
                  </a:cubicBezTo>
                  <a:cubicBezTo>
                    <a:pt x="1540480" y="10794"/>
                    <a:pt x="1542847" y="16509"/>
                    <a:pt x="1542847" y="22467"/>
                  </a:cubicBezTo>
                  <a:lnTo>
                    <a:pt x="1542847" y="1415036"/>
                  </a:lnTo>
                  <a:cubicBezTo>
                    <a:pt x="1542847" y="1420995"/>
                    <a:pt x="1540480" y="1426709"/>
                    <a:pt x="1536267" y="1430923"/>
                  </a:cubicBezTo>
                  <a:cubicBezTo>
                    <a:pt x="1532053" y="1435136"/>
                    <a:pt x="1526339" y="1437503"/>
                    <a:pt x="1520380" y="1437503"/>
                  </a:cubicBezTo>
                  <a:lnTo>
                    <a:pt x="22467" y="1437503"/>
                  </a:lnTo>
                  <a:cubicBezTo>
                    <a:pt x="16509" y="1437503"/>
                    <a:pt x="10794" y="1435136"/>
                    <a:pt x="6580" y="1430923"/>
                  </a:cubicBezTo>
                  <a:cubicBezTo>
                    <a:pt x="2367" y="1426709"/>
                    <a:pt x="0" y="1420995"/>
                    <a:pt x="0" y="1415036"/>
                  </a:cubicBezTo>
                  <a:lnTo>
                    <a:pt x="0" y="22467"/>
                  </a:lnTo>
                  <a:cubicBezTo>
                    <a:pt x="0" y="16509"/>
                    <a:pt x="2367" y="10794"/>
                    <a:pt x="6580" y="6580"/>
                  </a:cubicBezTo>
                  <a:cubicBezTo>
                    <a:pt x="10794" y="2367"/>
                    <a:pt x="16509" y="0"/>
                    <a:pt x="22467" y="0"/>
                  </a:cubicBezTo>
                  <a:close/>
                </a:path>
              </a:pathLst>
            </a:custGeom>
            <a:solidFill>
              <a:srgbClr val="C9E8F7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542847" cy="1485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40731" y="4423483"/>
            <a:ext cx="3086100" cy="787937"/>
            <a:chOff x="0" y="0"/>
            <a:chExt cx="812800" cy="20752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207523"/>
            </a:xfrm>
            <a:custGeom>
              <a:avLst/>
              <a:gdLst/>
              <a:ahLst/>
              <a:cxnLst/>
              <a:rect l="l" t="t" r="r" b="b"/>
              <a:pathLst>
                <a:path w="812800" h="207523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4876"/>
                  </a:lnTo>
                  <a:cubicBezTo>
                    <a:pt x="812800" y="188429"/>
                    <a:pt x="793706" y="207523"/>
                    <a:pt x="770153" y="207523"/>
                  </a:cubicBezTo>
                  <a:lnTo>
                    <a:pt x="42647" y="207523"/>
                  </a:lnTo>
                  <a:cubicBezTo>
                    <a:pt x="31336" y="207523"/>
                    <a:pt x="20489" y="203029"/>
                    <a:pt x="12491" y="195032"/>
                  </a:cubicBezTo>
                  <a:cubicBezTo>
                    <a:pt x="4493" y="187034"/>
                    <a:pt x="0" y="176186"/>
                    <a:pt x="0" y="164876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12800" cy="255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202484" y="4299658"/>
            <a:ext cx="5413415" cy="4919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2799" b="1">
                <a:solidFill>
                  <a:srgbClr val="0D1826"/>
                </a:solidFill>
                <a:latin typeface="Tahoma Bold"/>
                <a:ea typeface="Tahoma Bold"/>
                <a:cs typeface="Tahoma Bold"/>
                <a:sym typeface="Tahoma Bold"/>
              </a:rPr>
              <a:t>Giảng viên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Quản lý khóa học: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tạo, sửa, xóa khóa học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Quản lý bài học: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thêm, sửa, xóa bài học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Quàn lý kiểm tra: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thêm, sửa, xóa bài kiểm 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Theo dõi 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xem danh sách sinh viên tham gia khóa học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436776" y="4423483"/>
            <a:ext cx="3086100" cy="787937"/>
            <a:chOff x="0" y="0"/>
            <a:chExt cx="812800" cy="20752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207523"/>
            </a:xfrm>
            <a:custGeom>
              <a:avLst/>
              <a:gdLst/>
              <a:ahLst/>
              <a:cxnLst/>
              <a:rect l="l" t="t" r="r" b="b"/>
              <a:pathLst>
                <a:path w="812800" h="207523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164876"/>
                  </a:lnTo>
                  <a:cubicBezTo>
                    <a:pt x="812800" y="188429"/>
                    <a:pt x="793706" y="207523"/>
                    <a:pt x="770153" y="207523"/>
                  </a:cubicBezTo>
                  <a:lnTo>
                    <a:pt x="42647" y="207523"/>
                  </a:lnTo>
                  <a:cubicBezTo>
                    <a:pt x="31336" y="207523"/>
                    <a:pt x="20489" y="203029"/>
                    <a:pt x="12491" y="195032"/>
                  </a:cubicBezTo>
                  <a:cubicBezTo>
                    <a:pt x="4493" y="187034"/>
                    <a:pt x="0" y="176186"/>
                    <a:pt x="0" y="164876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DC128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812800" cy="255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050827" y="4299658"/>
            <a:ext cx="5857998" cy="392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2799" b="1">
                <a:solidFill>
                  <a:srgbClr val="0D1826"/>
                </a:solidFill>
                <a:latin typeface="Tahoma Bold"/>
                <a:ea typeface="Tahoma Bold"/>
                <a:cs typeface="Tahoma Bold"/>
                <a:sym typeface="Tahoma Bold"/>
              </a:rPr>
              <a:t>Quản trị viên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Quản lý người dùng 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quản lý toàn bộ danh sách người dùng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Quản lý hệ thống: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quản lý toàn bộ danh sách khóa học</a:t>
            </a:r>
          </a:p>
          <a:p>
            <a:pPr marL="561341" lvl="1" indent="-280670" algn="l">
              <a:lnSpc>
                <a:spcPts val="390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Thống kê: 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theo dõi dữ liệu của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999417" y="3294189"/>
            <a:ext cx="9828664" cy="5391821"/>
            <a:chOff x="0" y="0"/>
            <a:chExt cx="5908040" cy="3241040"/>
          </a:xfrm>
        </p:grpSpPr>
        <p:sp>
          <p:nvSpPr>
            <p:cNvPr id="6" name="Freeform 6"/>
            <p:cNvSpPr/>
            <p:nvPr/>
          </p:nvSpPr>
          <p:spPr>
            <a:xfrm>
              <a:off x="10160" y="12700"/>
              <a:ext cx="5895340" cy="186690"/>
            </a:xfrm>
            <a:custGeom>
              <a:avLst/>
              <a:gdLst/>
              <a:ahLst/>
              <a:cxnLst/>
              <a:rect l="l" t="t" r="r" b="b"/>
              <a:pathLst>
                <a:path w="5895340" h="18669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2"/>
              <a:stretch>
                <a:fillRect t="-2716" b="-59959"/>
              </a:stretch>
            </a:blipFill>
          </p:spPr>
          <p:txBody>
            <a:bodyPr/>
            <a:lstStyle/>
            <a:p>
              <a:endParaRPr lang="vi-VN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9069" y="1496971"/>
            <a:ext cx="108268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Trải nghiệm học tập của sinh viên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502" y="2255964"/>
            <a:ext cx="1530989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 diện trực quan, giúp sinh viên dễ dàng tìm kiếm, tham gia và theo dõi tiến độ học tập</a:t>
            </a:r>
          </a:p>
        </p:txBody>
      </p:sp>
      <p:sp>
        <p:nvSpPr>
          <p:cNvPr id="14" name="AutoShape 14"/>
          <p:cNvSpPr/>
          <p:nvPr/>
        </p:nvSpPr>
        <p:spPr>
          <a:xfrm>
            <a:off x="2899889" y="6063489"/>
            <a:ext cx="4400686" cy="25046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5584335"/>
            <a:ext cx="4400686" cy="390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Lọc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khóa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theo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năm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endParaRPr lang="en-US" sz="2400" b="1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999417" y="3294189"/>
            <a:ext cx="9828664" cy="5391821"/>
            <a:chOff x="0" y="0"/>
            <a:chExt cx="5908040" cy="3241040"/>
          </a:xfrm>
        </p:grpSpPr>
        <p:sp>
          <p:nvSpPr>
            <p:cNvPr id="6" name="Freeform 6"/>
            <p:cNvSpPr/>
            <p:nvPr/>
          </p:nvSpPr>
          <p:spPr>
            <a:xfrm>
              <a:off x="10160" y="12700"/>
              <a:ext cx="5895340" cy="186690"/>
            </a:xfrm>
            <a:custGeom>
              <a:avLst/>
              <a:gdLst/>
              <a:ahLst/>
              <a:cxnLst/>
              <a:rect l="l" t="t" r="r" b="b"/>
              <a:pathLst>
                <a:path w="5895340" h="18669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2"/>
              <a:stretch>
                <a:fillRect b="-2380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3381545" y="5729208"/>
            <a:ext cx="4323621" cy="4056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069" y="1496971"/>
            <a:ext cx="108268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Trải nghiệm học tập của sinh viên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4501" y="2255964"/>
            <a:ext cx="15819061" cy="482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diện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trực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giúp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viên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dễ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dàng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kiếm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tham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và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theo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dõi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tiến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độ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học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</a:t>
            </a:r>
            <a:endParaRPr lang="en-US" sz="29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32586" y="4904343"/>
            <a:ext cx="4406214" cy="824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Theo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dõi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tiến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độ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hoàn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thành</a:t>
            </a:r>
            <a:endParaRPr lang="en-US" sz="2400" b="1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qua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thanh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trạng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thái</a:t>
            </a:r>
            <a:endParaRPr lang="en-US" sz="2400" b="1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606539" y="2988384"/>
            <a:ext cx="7652761" cy="6292992"/>
            <a:chOff x="0" y="0"/>
            <a:chExt cx="4188460" cy="3444240"/>
          </a:xfrm>
        </p:grpSpPr>
        <p:sp>
          <p:nvSpPr>
            <p:cNvPr id="6" name="Freeform 6"/>
            <p:cNvSpPr/>
            <p:nvPr/>
          </p:nvSpPr>
          <p:spPr>
            <a:xfrm>
              <a:off x="38100" y="38100"/>
              <a:ext cx="4105910" cy="3368040"/>
            </a:xfrm>
            <a:custGeom>
              <a:avLst/>
              <a:gdLst/>
              <a:ahLst/>
              <a:cxnLst/>
              <a:rect l="l" t="t" r="r" b="b"/>
              <a:pathLst>
                <a:path w="4105910" h="3368040">
                  <a:moveTo>
                    <a:pt x="0" y="0"/>
                  </a:moveTo>
                  <a:lnTo>
                    <a:pt x="4105910" y="0"/>
                  </a:lnTo>
                  <a:lnTo>
                    <a:pt x="4105910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2"/>
              <a:stretch>
                <a:fillRect r="-4657" b="-3755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6350" y="6350"/>
              <a:ext cx="4175760" cy="3431540"/>
            </a:xfrm>
            <a:custGeom>
              <a:avLst/>
              <a:gdLst/>
              <a:ahLst/>
              <a:cxnLst/>
              <a:rect l="l" t="t" r="r" b="b"/>
              <a:pathLst>
                <a:path w="4175760" h="343154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  <a:moveTo>
                    <a:pt x="4112260" y="0"/>
                  </a:moveTo>
                  <a:lnTo>
                    <a:pt x="4112260" y="63500"/>
                  </a:lnTo>
                  <a:lnTo>
                    <a:pt x="4175760" y="63500"/>
                  </a:lnTo>
                  <a:lnTo>
                    <a:pt x="4175760" y="0"/>
                  </a:lnTo>
                  <a:lnTo>
                    <a:pt x="4112260" y="0"/>
                  </a:lnTo>
                  <a:close/>
                  <a:moveTo>
                    <a:pt x="2056130" y="63500"/>
                  </a:moveTo>
                  <a:lnTo>
                    <a:pt x="2119630" y="63500"/>
                  </a:lnTo>
                  <a:lnTo>
                    <a:pt x="2119630" y="0"/>
                  </a:lnTo>
                  <a:lnTo>
                    <a:pt x="2056130" y="0"/>
                  </a:lnTo>
                  <a:lnTo>
                    <a:pt x="2056130" y="63500"/>
                  </a:lnTo>
                  <a:close/>
                  <a:moveTo>
                    <a:pt x="0" y="3431540"/>
                  </a:moveTo>
                  <a:lnTo>
                    <a:pt x="63500" y="3431540"/>
                  </a:lnTo>
                  <a:lnTo>
                    <a:pt x="63500" y="3368040"/>
                  </a:lnTo>
                  <a:lnTo>
                    <a:pt x="0" y="3368040"/>
                  </a:lnTo>
                  <a:lnTo>
                    <a:pt x="0" y="3431540"/>
                  </a:lnTo>
                  <a:close/>
                  <a:moveTo>
                    <a:pt x="4112260" y="3431540"/>
                  </a:moveTo>
                  <a:lnTo>
                    <a:pt x="4175760" y="3431540"/>
                  </a:lnTo>
                  <a:lnTo>
                    <a:pt x="4175760" y="3368040"/>
                  </a:lnTo>
                  <a:lnTo>
                    <a:pt x="4112260" y="3368040"/>
                  </a:lnTo>
                  <a:lnTo>
                    <a:pt x="4112260" y="3431540"/>
                  </a:lnTo>
                  <a:close/>
                  <a:moveTo>
                    <a:pt x="2056130" y="3431540"/>
                  </a:moveTo>
                  <a:lnTo>
                    <a:pt x="2119630" y="3431540"/>
                  </a:lnTo>
                  <a:lnTo>
                    <a:pt x="2119630" y="3368040"/>
                  </a:lnTo>
                  <a:lnTo>
                    <a:pt x="2056130" y="3368040"/>
                  </a:lnTo>
                  <a:lnTo>
                    <a:pt x="2056130" y="3431540"/>
                  </a:lnTo>
                  <a:close/>
                  <a:moveTo>
                    <a:pt x="4112260" y="1684020"/>
                  </a:moveTo>
                  <a:lnTo>
                    <a:pt x="4112260" y="1747520"/>
                  </a:lnTo>
                  <a:lnTo>
                    <a:pt x="4175760" y="1747520"/>
                  </a:lnTo>
                  <a:lnTo>
                    <a:pt x="4175760" y="1684020"/>
                  </a:lnTo>
                  <a:lnTo>
                    <a:pt x="4141470" y="1684020"/>
                  </a:lnTo>
                  <a:lnTo>
                    <a:pt x="4112260" y="1684020"/>
                  </a:lnTo>
                  <a:close/>
                  <a:moveTo>
                    <a:pt x="0" y="1747520"/>
                  </a:moveTo>
                  <a:lnTo>
                    <a:pt x="63500" y="1747520"/>
                  </a:lnTo>
                  <a:lnTo>
                    <a:pt x="63500" y="1684020"/>
                  </a:lnTo>
                  <a:lnTo>
                    <a:pt x="0" y="1684020"/>
                  </a:lnTo>
                  <a:lnTo>
                    <a:pt x="0" y="1747520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4188460" cy="3444240"/>
            </a:xfrm>
            <a:custGeom>
              <a:avLst/>
              <a:gdLst/>
              <a:ahLst/>
              <a:cxnLst/>
              <a:rect l="l" t="t" r="r" b="b"/>
              <a:pathLst>
                <a:path w="4188460" h="3444240">
                  <a:moveTo>
                    <a:pt x="4188460" y="76200"/>
                  </a:moveTo>
                  <a:lnTo>
                    <a:pt x="4188460" y="0"/>
                  </a:lnTo>
                  <a:lnTo>
                    <a:pt x="4112260" y="0"/>
                  </a:lnTo>
                  <a:lnTo>
                    <a:pt x="4112260" y="31750"/>
                  </a:lnTo>
                  <a:lnTo>
                    <a:pt x="2132330" y="31750"/>
                  </a:lnTo>
                  <a:lnTo>
                    <a:pt x="2132330" y="0"/>
                  </a:lnTo>
                  <a:lnTo>
                    <a:pt x="2056130" y="0"/>
                  </a:lnTo>
                  <a:lnTo>
                    <a:pt x="2056130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684020"/>
                  </a:lnTo>
                  <a:lnTo>
                    <a:pt x="0" y="1684020"/>
                  </a:lnTo>
                  <a:lnTo>
                    <a:pt x="0" y="1760220"/>
                  </a:lnTo>
                  <a:lnTo>
                    <a:pt x="31750" y="1760220"/>
                  </a:lnTo>
                  <a:lnTo>
                    <a:pt x="31750" y="3368040"/>
                  </a:lnTo>
                  <a:lnTo>
                    <a:pt x="0" y="3368040"/>
                  </a:lnTo>
                  <a:lnTo>
                    <a:pt x="0" y="3444240"/>
                  </a:lnTo>
                  <a:lnTo>
                    <a:pt x="76200" y="3444240"/>
                  </a:lnTo>
                  <a:lnTo>
                    <a:pt x="76200" y="3412490"/>
                  </a:lnTo>
                  <a:lnTo>
                    <a:pt x="2056130" y="3412490"/>
                  </a:lnTo>
                  <a:lnTo>
                    <a:pt x="2056130" y="3444240"/>
                  </a:lnTo>
                  <a:lnTo>
                    <a:pt x="2132330" y="3444240"/>
                  </a:lnTo>
                  <a:lnTo>
                    <a:pt x="2132330" y="3412490"/>
                  </a:lnTo>
                  <a:lnTo>
                    <a:pt x="4112260" y="3412490"/>
                  </a:lnTo>
                  <a:lnTo>
                    <a:pt x="4112260" y="3444240"/>
                  </a:lnTo>
                  <a:lnTo>
                    <a:pt x="4188460" y="3444240"/>
                  </a:lnTo>
                  <a:lnTo>
                    <a:pt x="4188460" y="3368040"/>
                  </a:lnTo>
                  <a:lnTo>
                    <a:pt x="4156710" y="3368040"/>
                  </a:lnTo>
                  <a:lnTo>
                    <a:pt x="4156710" y="1760220"/>
                  </a:lnTo>
                  <a:lnTo>
                    <a:pt x="4188460" y="1760220"/>
                  </a:lnTo>
                  <a:lnTo>
                    <a:pt x="4188460" y="1684020"/>
                  </a:lnTo>
                  <a:lnTo>
                    <a:pt x="4156710" y="1684020"/>
                  </a:lnTo>
                  <a:lnTo>
                    <a:pt x="4156710" y="76200"/>
                  </a:lnTo>
                  <a:lnTo>
                    <a:pt x="4188460" y="76200"/>
                  </a:lnTo>
                  <a:close/>
                  <a:moveTo>
                    <a:pt x="4124960" y="12700"/>
                  </a:moveTo>
                  <a:lnTo>
                    <a:pt x="4175760" y="12700"/>
                  </a:lnTo>
                  <a:lnTo>
                    <a:pt x="4175760" y="63500"/>
                  </a:lnTo>
                  <a:lnTo>
                    <a:pt x="4124960" y="63500"/>
                  </a:lnTo>
                  <a:lnTo>
                    <a:pt x="4124960" y="12700"/>
                  </a:lnTo>
                  <a:close/>
                  <a:moveTo>
                    <a:pt x="2068830" y="12700"/>
                  </a:moveTo>
                  <a:lnTo>
                    <a:pt x="2119630" y="12700"/>
                  </a:lnTo>
                  <a:lnTo>
                    <a:pt x="2119630" y="63500"/>
                  </a:lnTo>
                  <a:lnTo>
                    <a:pt x="2068830" y="63500"/>
                  </a:lnTo>
                  <a:lnTo>
                    <a:pt x="2068830" y="12700"/>
                  </a:lnTo>
                  <a:close/>
                  <a:moveTo>
                    <a:pt x="12700" y="63500"/>
                  </a:moveTo>
                  <a:lnTo>
                    <a:pt x="12700" y="12700"/>
                  </a:lnTo>
                  <a:lnTo>
                    <a:pt x="63500" y="12700"/>
                  </a:lnTo>
                  <a:lnTo>
                    <a:pt x="63500" y="63500"/>
                  </a:lnTo>
                  <a:lnTo>
                    <a:pt x="12700" y="63500"/>
                  </a:lnTo>
                  <a:close/>
                  <a:moveTo>
                    <a:pt x="12700" y="1747520"/>
                  </a:moveTo>
                  <a:lnTo>
                    <a:pt x="12700" y="1696720"/>
                  </a:lnTo>
                  <a:lnTo>
                    <a:pt x="63500" y="1696720"/>
                  </a:lnTo>
                  <a:lnTo>
                    <a:pt x="63500" y="1747520"/>
                  </a:lnTo>
                  <a:lnTo>
                    <a:pt x="12700" y="1747520"/>
                  </a:lnTo>
                  <a:close/>
                  <a:moveTo>
                    <a:pt x="63500" y="3431540"/>
                  </a:moveTo>
                  <a:lnTo>
                    <a:pt x="12700" y="3431540"/>
                  </a:lnTo>
                  <a:lnTo>
                    <a:pt x="12700" y="3380740"/>
                  </a:lnTo>
                  <a:lnTo>
                    <a:pt x="63500" y="3380740"/>
                  </a:lnTo>
                  <a:lnTo>
                    <a:pt x="63500" y="3431540"/>
                  </a:lnTo>
                  <a:close/>
                  <a:moveTo>
                    <a:pt x="2119630" y="3431540"/>
                  </a:moveTo>
                  <a:lnTo>
                    <a:pt x="2068830" y="3431540"/>
                  </a:lnTo>
                  <a:lnTo>
                    <a:pt x="2068830" y="3380740"/>
                  </a:lnTo>
                  <a:lnTo>
                    <a:pt x="2119630" y="3380740"/>
                  </a:lnTo>
                  <a:lnTo>
                    <a:pt x="2119630" y="3431540"/>
                  </a:lnTo>
                  <a:close/>
                  <a:moveTo>
                    <a:pt x="4175760" y="3380740"/>
                  </a:moveTo>
                  <a:lnTo>
                    <a:pt x="4175760" y="3431540"/>
                  </a:lnTo>
                  <a:lnTo>
                    <a:pt x="4124960" y="3431540"/>
                  </a:lnTo>
                  <a:lnTo>
                    <a:pt x="4124960" y="3380740"/>
                  </a:lnTo>
                  <a:lnTo>
                    <a:pt x="4175760" y="3380740"/>
                  </a:lnTo>
                  <a:close/>
                  <a:moveTo>
                    <a:pt x="4175760" y="1747520"/>
                  </a:moveTo>
                  <a:lnTo>
                    <a:pt x="4124960" y="1747520"/>
                  </a:lnTo>
                  <a:lnTo>
                    <a:pt x="4124960" y="1696720"/>
                  </a:lnTo>
                  <a:lnTo>
                    <a:pt x="4175760" y="1696720"/>
                  </a:lnTo>
                  <a:lnTo>
                    <a:pt x="4175760" y="1747520"/>
                  </a:lnTo>
                  <a:close/>
                  <a:moveTo>
                    <a:pt x="4144010" y="1684020"/>
                  </a:moveTo>
                  <a:lnTo>
                    <a:pt x="4112260" y="1684020"/>
                  </a:lnTo>
                  <a:lnTo>
                    <a:pt x="4112260" y="1760220"/>
                  </a:lnTo>
                  <a:lnTo>
                    <a:pt x="4144010" y="1760220"/>
                  </a:lnTo>
                  <a:lnTo>
                    <a:pt x="4144010" y="3368040"/>
                  </a:lnTo>
                  <a:lnTo>
                    <a:pt x="4112260" y="3368040"/>
                  </a:lnTo>
                  <a:lnTo>
                    <a:pt x="4112260" y="3399790"/>
                  </a:lnTo>
                  <a:lnTo>
                    <a:pt x="2132330" y="3399790"/>
                  </a:lnTo>
                  <a:lnTo>
                    <a:pt x="2132330" y="3368040"/>
                  </a:lnTo>
                  <a:lnTo>
                    <a:pt x="2056130" y="3368040"/>
                  </a:lnTo>
                  <a:lnTo>
                    <a:pt x="2056130" y="3399790"/>
                  </a:lnTo>
                  <a:lnTo>
                    <a:pt x="76200" y="3399790"/>
                  </a:lnTo>
                  <a:lnTo>
                    <a:pt x="76200" y="3368040"/>
                  </a:lnTo>
                  <a:lnTo>
                    <a:pt x="44450" y="3368040"/>
                  </a:lnTo>
                  <a:lnTo>
                    <a:pt x="44450" y="1760220"/>
                  </a:lnTo>
                  <a:lnTo>
                    <a:pt x="76200" y="1760220"/>
                  </a:lnTo>
                  <a:lnTo>
                    <a:pt x="76200" y="1684020"/>
                  </a:lnTo>
                  <a:lnTo>
                    <a:pt x="44450" y="168402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2056130" y="44450"/>
                  </a:lnTo>
                  <a:lnTo>
                    <a:pt x="2056130" y="76200"/>
                  </a:lnTo>
                  <a:lnTo>
                    <a:pt x="2132330" y="76200"/>
                  </a:lnTo>
                  <a:lnTo>
                    <a:pt x="2132330" y="44450"/>
                  </a:lnTo>
                  <a:lnTo>
                    <a:pt x="4112260" y="44450"/>
                  </a:lnTo>
                  <a:lnTo>
                    <a:pt x="4112260" y="76200"/>
                  </a:lnTo>
                  <a:lnTo>
                    <a:pt x="4144010" y="76200"/>
                  </a:lnTo>
                  <a:lnTo>
                    <a:pt x="4144010" y="1684020"/>
                  </a:lnTo>
                  <a:close/>
                </a:path>
              </a:pathLst>
            </a:custGeom>
            <a:solidFill>
              <a:srgbClr val="484FA2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9069" y="1496971"/>
            <a:ext cx="10826830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Trải nghiệm học tập của sinh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4501" y="2255964"/>
            <a:ext cx="15805273" cy="482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Giao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diện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trực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quan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giúp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viên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dễ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dàng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tìm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kiếm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tham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gia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và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theo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dõi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tiến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độ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học</a:t>
            </a:r>
            <a:r>
              <a:rPr lang="en-US" sz="29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</a:t>
            </a:r>
            <a:endParaRPr lang="en-US" sz="29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904298" y="3283973"/>
            <a:ext cx="5163502" cy="390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Khung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xem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video: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phát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bài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giảng</a:t>
            </a:r>
            <a:endParaRPr lang="en-US" sz="24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93703" y="3689737"/>
            <a:ext cx="6153110" cy="124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2572238" y="4904510"/>
            <a:ext cx="13992296" cy="9164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678419" y="4381562"/>
            <a:ext cx="360731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Danh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sách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điều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hướng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chuyển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đổi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và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đánh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dấu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bài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học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đã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hoàn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thành</a:t>
            </a:r>
            <a:endParaRPr lang="en-US" sz="24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" name="AutoShape 16"/>
          <p:cNvSpPr/>
          <p:nvPr/>
        </p:nvSpPr>
        <p:spPr>
          <a:xfrm flipV="1">
            <a:off x="6820669" y="8407493"/>
            <a:ext cx="5626145" cy="887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3062927" y="7850398"/>
            <a:ext cx="360731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Bài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tập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trắc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nghiệm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cũng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cố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kiến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thức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ngay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sau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mỗi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bài</a:t>
            </a:r>
            <a:r>
              <a:rPr lang="en-US" sz="2400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học</a:t>
            </a:r>
            <a:endParaRPr lang="en-US" sz="2400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847245" y="3546442"/>
            <a:ext cx="10412055" cy="5711858"/>
            <a:chOff x="0" y="0"/>
            <a:chExt cx="5908040" cy="3241040"/>
          </a:xfrm>
        </p:grpSpPr>
        <p:sp>
          <p:nvSpPr>
            <p:cNvPr id="6" name="Freeform 6"/>
            <p:cNvSpPr/>
            <p:nvPr/>
          </p:nvSpPr>
          <p:spPr>
            <a:xfrm>
              <a:off x="10160" y="12700"/>
              <a:ext cx="5895340" cy="186690"/>
            </a:xfrm>
            <a:custGeom>
              <a:avLst/>
              <a:gdLst/>
              <a:ahLst/>
              <a:cxnLst/>
              <a:rect l="l" t="t" r="r" b="b"/>
              <a:pathLst>
                <a:path w="5895340" h="18669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2"/>
              <a:stretch>
                <a:fillRect l="-2331" r="-5436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9069" y="1496971"/>
            <a:ext cx="11926584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Hỗ trợ giảng viên quản lý nội dung giảng dạy</a:t>
            </a:r>
          </a:p>
        </p:txBody>
      </p:sp>
      <p:sp>
        <p:nvSpPr>
          <p:cNvPr id="13" name="AutoShape 13"/>
          <p:cNvSpPr/>
          <p:nvPr/>
        </p:nvSpPr>
        <p:spPr>
          <a:xfrm>
            <a:off x="3711381" y="6470928"/>
            <a:ext cx="9450991" cy="3467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406536" y="5646063"/>
            <a:ext cx="4609690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Cung cấp các số liệu thống kê và các lối tắt chức năng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847245" y="3226379"/>
            <a:ext cx="10412055" cy="5711858"/>
            <a:chOff x="0" y="0"/>
            <a:chExt cx="5908040" cy="3241040"/>
          </a:xfrm>
        </p:grpSpPr>
        <p:sp>
          <p:nvSpPr>
            <p:cNvPr id="6" name="Freeform 6"/>
            <p:cNvSpPr/>
            <p:nvPr/>
          </p:nvSpPr>
          <p:spPr>
            <a:xfrm>
              <a:off x="10160" y="12700"/>
              <a:ext cx="5895340" cy="186690"/>
            </a:xfrm>
            <a:custGeom>
              <a:avLst/>
              <a:gdLst/>
              <a:ahLst/>
              <a:cxnLst/>
              <a:rect l="l" t="t" r="r" b="b"/>
              <a:pathLst>
                <a:path w="5895340" h="18669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2"/>
              <a:stretch>
                <a:fillRect l="-3884" r="-388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3264662" y="7278648"/>
            <a:ext cx="9450991" cy="2951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069" y="1496971"/>
            <a:ext cx="11926584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Hỗ trợ giảng viên quản lý nội dung giảng dạy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9817" y="6034683"/>
            <a:ext cx="460969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liệt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kê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danh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sách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khóa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cung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cáp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các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chức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năng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sửa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xóa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khóa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endParaRPr lang="en-US" sz="2400" b="1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292090" y="3226379"/>
            <a:ext cx="10412055" cy="5711858"/>
            <a:chOff x="0" y="0"/>
            <a:chExt cx="5908040" cy="3241040"/>
          </a:xfrm>
        </p:grpSpPr>
        <p:sp>
          <p:nvSpPr>
            <p:cNvPr id="6" name="Freeform 6"/>
            <p:cNvSpPr/>
            <p:nvPr/>
          </p:nvSpPr>
          <p:spPr>
            <a:xfrm>
              <a:off x="10160" y="12700"/>
              <a:ext cx="5895340" cy="186690"/>
            </a:xfrm>
            <a:custGeom>
              <a:avLst/>
              <a:gdLst/>
              <a:ahLst/>
              <a:cxnLst/>
              <a:rect l="l" t="t" r="r" b="b"/>
              <a:pathLst>
                <a:path w="5895340" h="18669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2"/>
              <a:stretch>
                <a:fillRect l="-7768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3733800" y="5555374"/>
            <a:ext cx="9450991" cy="2951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069" y="1496971"/>
            <a:ext cx="11926584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Hỗ trợ giảng viên quản lý nội dung giảng dạy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9817" y="4458986"/>
            <a:ext cx="460969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cho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phép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thêm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sửa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bài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tạo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câu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hỏi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trắc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nghiệm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cho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từng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bài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học</a:t>
            </a:r>
            <a:endParaRPr lang="en-US" sz="2400" b="1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292090" y="3226379"/>
            <a:ext cx="10412055" cy="5711858"/>
            <a:chOff x="0" y="0"/>
            <a:chExt cx="5908040" cy="3241040"/>
          </a:xfrm>
        </p:grpSpPr>
        <p:sp>
          <p:nvSpPr>
            <p:cNvPr id="6" name="Freeform 6"/>
            <p:cNvSpPr/>
            <p:nvPr/>
          </p:nvSpPr>
          <p:spPr>
            <a:xfrm>
              <a:off x="10160" y="12700"/>
              <a:ext cx="5895340" cy="186690"/>
            </a:xfrm>
            <a:custGeom>
              <a:avLst/>
              <a:gdLst/>
              <a:ahLst/>
              <a:cxnLst/>
              <a:rect l="l" t="t" r="r" b="b"/>
              <a:pathLst>
                <a:path w="5895340" h="18669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2"/>
              <a:stretch>
                <a:fillRect r="-7768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2819400" y="5503978"/>
            <a:ext cx="9753600" cy="57144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069" y="1496971"/>
            <a:ext cx="11926584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Hỗ trợ quản trị viên quản lý hệ thống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281" y="4161533"/>
            <a:ext cx="460969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Thống kê thông tin hệ thông và cung cấp các chức năng để quản lý hệ thống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292090" y="3226379"/>
            <a:ext cx="10412055" cy="5711858"/>
            <a:chOff x="0" y="0"/>
            <a:chExt cx="5908040" cy="3241040"/>
          </a:xfrm>
        </p:grpSpPr>
        <p:sp>
          <p:nvSpPr>
            <p:cNvPr id="6" name="Freeform 6"/>
            <p:cNvSpPr/>
            <p:nvPr/>
          </p:nvSpPr>
          <p:spPr>
            <a:xfrm>
              <a:off x="10160" y="12700"/>
              <a:ext cx="5895340" cy="186690"/>
            </a:xfrm>
            <a:custGeom>
              <a:avLst/>
              <a:gdLst/>
              <a:ahLst/>
              <a:cxnLst/>
              <a:rect l="l" t="t" r="r" b="b"/>
              <a:pathLst>
                <a:path w="5895340" h="186690">
                  <a:moveTo>
                    <a:pt x="0" y="186690"/>
                  </a:moveTo>
                  <a:lnTo>
                    <a:pt x="0" y="127000"/>
                  </a:lnTo>
                  <a:cubicBezTo>
                    <a:pt x="0" y="57150"/>
                    <a:pt x="57150" y="0"/>
                    <a:pt x="127000" y="0"/>
                  </a:cubicBezTo>
                  <a:lnTo>
                    <a:pt x="5768340" y="0"/>
                  </a:lnTo>
                  <a:cubicBezTo>
                    <a:pt x="5838190" y="0"/>
                    <a:pt x="5895340" y="57150"/>
                    <a:pt x="5895340" y="127000"/>
                  </a:cubicBezTo>
                  <a:lnTo>
                    <a:pt x="5895340" y="186690"/>
                  </a:lnTo>
                  <a:cubicBezTo>
                    <a:pt x="5895340" y="186690"/>
                    <a:pt x="0" y="186690"/>
                    <a:pt x="0" y="186690"/>
                  </a:cubicBezTo>
                  <a:close/>
                </a:path>
              </a:pathLst>
            </a:custGeom>
            <a:solidFill>
              <a:srgbClr val="F8DB5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" y="193040"/>
              <a:ext cx="5895340" cy="3041650"/>
            </a:xfrm>
            <a:custGeom>
              <a:avLst/>
              <a:gdLst/>
              <a:ahLst/>
              <a:cxnLst/>
              <a:rect l="l" t="t" r="r" b="b"/>
              <a:pathLst>
                <a:path w="5895340" h="3041650">
                  <a:moveTo>
                    <a:pt x="5768340" y="3041650"/>
                  </a:moveTo>
                  <a:lnTo>
                    <a:pt x="127000" y="3041650"/>
                  </a:lnTo>
                  <a:cubicBezTo>
                    <a:pt x="57150" y="3041650"/>
                    <a:pt x="0" y="2984500"/>
                    <a:pt x="0" y="2914650"/>
                  </a:cubicBezTo>
                  <a:lnTo>
                    <a:pt x="0" y="0"/>
                  </a:lnTo>
                  <a:lnTo>
                    <a:pt x="5895340" y="0"/>
                  </a:lnTo>
                  <a:lnTo>
                    <a:pt x="5895340" y="2914650"/>
                  </a:lnTo>
                  <a:cubicBezTo>
                    <a:pt x="5895340" y="2985770"/>
                    <a:pt x="5838190" y="3041650"/>
                    <a:pt x="5768340" y="3041650"/>
                  </a:cubicBezTo>
                  <a:close/>
                </a:path>
              </a:pathLst>
            </a:custGeom>
            <a:blipFill>
              <a:blip r:embed="rId2"/>
              <a:stretch>
                <a:fillRect r="-7768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5908040" cy="3241040"/>
            </a:xfrm>
            <a:custGeom>
              <a:avLst/>
              <a:gdLst/>
              <a:ahLst/>
              <a:cxnLst/>
              <a:rect l="l" t="t" r="r" b="b"/>
              <a:pathLst>
                <a:path w="5908040" h="3241040">
                  <a:moveTo>
                    <a:pt x="5774690" y="0"/>
                  </a:moveTo>
                  <a:lnTo>
                    <a:pt x="133350" y="0"/>
                  </a:lnTo>
                  <a:cubicBezTo>
                    <a:pt x="59690" y="0"/>
                    <a:pt x="0" y="59690"/>
                    <a:pt x="0" y="133350"/>
                  </a:cubicBezTo>
                  <a:lnTo>
                    <a:pt x="0" y="3107690"/>
                  </a:lnTo>
                  <a:cubicBezTo>
                    <a:pt x="0" y="3181350"/>
                    <a:pt x="59690" y="3241040"/>
                    <a:pt x="133350" y="3241040"/>
                  </a:cubicBezTo>
                  <a:lnTo>
                    <a:pt x="5774690" y="3241040"/>
                  </a:lnTo>
                  <a:cubicBezTo>
                    <a:pt x="5848350" y="3241040"/>
                    <a:pt x="5908040" y="3181350"/>
                    <a:pt x="5908040" y="3107690"/>
                  </a:cubicBezTo>
                  <a:lnTo>
                    <a:pt x="5908040" y="133350"/>
                  </a:lnTo>
                  <a:cubicBezTo>
                    <a:pt x="5908040" y="59690"/>
                    <a:pt x="5848350" y="0"/>
                    <a:pt x="5774690" y="0"/>
                  </a:cubicBezTo>
                  <a:close/>
                  <a:moveTo>
                    <a:pt x="5895340" y="3107690"/>
                  </a:moveTo>
                  <a:cubicBezTo>
                    <a:pt x="5895340" y="3175000"/>
                    <a:pt x="5842000" y="3228340"/>
                    <a:pt x="5774690" y="3228340"/>
                  </a:cubicBezTo>
                  <a:lnTo>
                    <a:pt x="133350" y="3228340"/>
                  </a:lnTo>
                  <a:cubicBezTo>
                    <a:pt x="67310" y="3228340"/>
                    <a:pt x="12700" y="3173730"/>
                    <a:pt x="12700" y="3107690"/>
                  </a:cubicBezTo>
                  <a:lnTo>
                    <a:pt x="12700" y="199390"/>
                  </a:lnTo>
                  <a:lnTo>
                    <a:pt x="5895340" y="199390"/>
                  </a:lnTo>
                  <a:lnTo>
                    <a:pt x="5895340" y="3107690"/>
                  </a:lnTo>
                  <a:close/>
                  <a:moveTo>
                    <a:pt x="5895340" y="186690"/>
                  </a:moveTo>
                  <a:lnTo>
                    <a:pt x="12700" y="186690"/>
                  </a:lnTo>
                  <a:lnTo>
                    <a:pt x="12700" y="133350"/>
                  </a:lnTo>
                  <a:cubicBezTo>
                    <a:pt x="12700" y="67310"/>
                    <a:pt x="67310" y="12700"/>
                    <a:pt x="133350" y="12700"/>
                  </a:cubicBezTo>
                  <a:lnTo>
                    <a:pt x="5774690" y="12700"/>
                  </a:lnTo>
                  <a:cubicBezTo>
                    <a:pt x="5840730" y="12700"/>
                    <a:pt x="5895340" y="67310"/>
                    <a:pt x="5895340" y="133350"/>
                  </a:cubicBezTo>
                  <a:lnTo>
                    <a:pt x="5895340" y="1866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49860" y="73660"/>
              <a:ext cx="299720" cy="63500"/>
            </a:xfrm>
            <a:custGeom>
              <a:avLst/>
              <a:gdLst/>
              <a:ahLst/>
              <a:cxnLst/>
              <a:rect l="l" t="t" r="r" b="b"/>
              <a:pathLst>
                <a:path w="299720" h="63500">
                  <a:moveTo>
                    <a:pt x="118110" y="0"/>
                  </a:moveTo>
                  <a:lnTo>
                    <a:pt x="181610" y="0"/>
                  </a:lnTo>
                  <a:lnTo>
                    <a:pt x="181610" y="63500"/>
                  </a:lnTo>
                  <a:lnTo>
                    <a:pt x="118110" y="63500"/>
                  </a:lnTo>
                  <a:lnTo>
                    <a:pt x="118110" y="0"/>
                  </a:lnTo>
                  <a:close/>
                  <a:moveTo>
                    <a:pt x="31750" y="0"/>
                  </a:moveTo>
                  <a:cubicBezTo>
                    <a:pt x="49530" y="0"/>
                    <a:pt x="63500" y="13970"/>
                    <a:pt x="63500" y="31750"/>
                  </a:cubicBezTo>
                  <a:cubicBezTo>
                    <a:pt x="63500" y="49530"/>
                    <a:pt x="49530" y="63500"/>
                    <a:pt x="31750" y="63500"/>
                  </a:cubicBezTo>
                  <a:cubicBezTo>
                    <a:pt x="13970" y="63500"/>
                    <a:pt x="0" y="49530"/>
                    <a:pt x="0" y="31750"/>
                  </a:cubicBezTo>
                  <a:cubicBezTo>
                    <a:pt x="0" y="13970"/>
                    <a:pt x="13970" y="0"/>
                    <a:pt x="31750" y="0"/>
                  </a:cubicBezTo>
                  <a:close/>
                  <a:moveTo>
                    <a:pt x="267970" y="0"/>
                  </a:moveTo>
                  <a:lnTo>
                    <a:pt x="236220" y="63500"/>
                  </a:lnTo>
                  <a:lnTo>
                    <a:pt x="299720" y="63500"/>
                  </a:lnTo>
                  <a:lnTo>
                    <a:pt x="267970" y="0"/>
                  </a:lnTo>
                  <a:close/>
                </a:path>
              </a:pathLst>
            </a:custGeom>
            <a:solidFill>
              <a:srgbClr val="484FA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91820" y="88900"/>
              <a:ext cx="5175250" cy="33020"/>
            </a:xfrm>
            <a:custGeom>
              <a:avLst/>
              <a:gdLst/>
              <a:ahLst/>
              <a:cxnLst/>
              <a:rect l="l" t="t" r="r" b="b"/>
              <a:pathLst>
                <a:path w="5175250" h="33020">
                  <a:moveTo>
                    <a:pt x="5158740" y="33020"/>
                  </a:moveTo>
                  <a:lnTo>
                    <a:pt x="16510" y="33020"/>
                  </a:lnTo>
                  <a:cubicBezTo>
                    <a:pt x="7620" y="33020"/>
                    <a:pt x="0" y="25400"/>
                    <a:pt x="0" y="16510"/>
                  </a:cubicBezTo>
                  <a:lnTo>
                    <a:pt x="0" y="16510"/>
                  </a:lnTo>
                  <a:cubicBezTo>
                    <a:pt x="0" y="7620"/>
                    <a:pt x="7620" y="0"/>
                    <a:pt x="16510" y="0"/>
                  </a:cubicBezTo>
                  <a:lnTo>
                    <a:pt x="5158740" y="0"/>
                  </a:lnTo>
                  <a:cubicBezTo>
                    <a:pt x="5167630" y="0"/>
                    <a:pt x="5175250" y="7620"/>
                    <a:pt x="5175250" y="16510"/>
                  </a:cubicBezTo>
                  <a:lnTo>
                    <a:pt x="5175250" y="16510"/>
                  </a:lnTo>
                  <a:cubicBezTo>
                    <a:pt x="5173980" y="25400"/>
                    <a:pt x="5167630" y="33020"/>
                    <a:pt x="5158740" y="33020"/>
                  </a:cubicBezTo>
                  <a:close/>
                </a:path>
              </a:pathLst>
            </a:custGeom>
            <a:solidFill>
              <a:srgbClr val="F26D6F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3124199" y="5723321"/>
            <a:ext cx="10124853" cy="373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5188863" y="75565"/>
            <a:ext cx="6988493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3. Kết quả đạt được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9069" y="1496971"/>
            <a:ext cx="11926584" cy="6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Hỗ trợ quản trị viên quản lý hệ thống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281" y="4161533"/>
            <a:ext cx="460969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kê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thông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tin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thông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và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cung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cấp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các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chức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năng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để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quản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lý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24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endParaRPr lang="en-US" sz="2400" b="1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26398" y="6385728"/>
            <a:ext cx="1065465" cy="867870"/>
          </a:xfrm>
          <a:custGeom>
            <a:avLst/>
            <a:gdLst/>
            <a:ahLst/>
            <a:cxnLst/>
            <a:rect l="l" t="t" r="r" b="b"/>
            <a:pathLst>
              <a:path w="1065465" h="867870">
                <a:moveTo>
                  <a:pt x="0" y="0"/>
                </a:moveTo>
                <a:lnTo>
                  <a:pt x="1065466" y="0"/>
                </a:lnTo>
                <a:lnTo>
                  <a:pt x="1065466" y="867870"/>
                </a:lnTo>
                <a:lnTo>
                  <a:pt x="0" y="867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91035" y="7844547"/>
            <a:ext cx="936191" cy="1019614"/>
          </a:xfrm>
          <a:custGeom>
            <a:avLst/>
            <a:gdLst/>
            <a:ahLst/>
            <a:cxnLst/>
            <a:rect l="l" t="t" r="r" b="b"/>
            <a:pathLst>
              <a:path w="936191" h="1019614">
                <a:moveTo>
                  <a:pt x="0" y="0"/>
                </a:moveTo>
                <a:lnTo>
                  <a:pt x="936192" y="0"/>
                </a:lnTo>
                <a:lnTo>
                  <a:pt x="936192" y="1019614"/>
                </a:lnTo>
                <a:lnTo>
                  <a:pt x="0" y="1019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6398" y="4537488"/>
            <a:ext cx="963744" cy="976168"/>
          </a:xfrm>
          <a:custGeom>
            <a:avLst/>
            <a:gdLst/>
            <a:ahLst/>
            <a:cxnLst/>
            <a:rect l="l" t="t" r="r" b="b"/>
            <a:pathLst>
              <a:path w="963744" h="976168">
                <a:moveTo>
                  <a:pt x="0" y="0"/>
                </a:moveTo>
                <a:lnTo>
                  <a:pt x="963744" y="0"/>
                </a:lnTo>
                <a:lnTo>
                  <a:pt x="963744" y="976168"/>
                </a:lnTo>
                <a:lnTo>
                  <a:pt x="0" y="976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994654" y="2549498"/>
            <a:ext cx="6782361" cy="6852162"/>
            <a:chOff x="0" y="0"/>
            <a:chExt cx="1786301" cy="18046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86301" cy="1804685"/>
            </a:xfrm>
            <a:custGeom>
              <a:avLst/>
              <a:gdLst/>
              <a:ahLst/>
              <a:cxnLst/>
              <a:rect l="l" t="t" r="r" b="b"/>
              <a:pathLst>
                <a:path w="1786301" h="1804685">
                  <a:moveTo>
                    <a:pt x="19405" y="0"/>
                  </a:moveTo>
                  <a:lnTo>
                    <a:pt x="1766896" y="0"/>
                  </a:lnTo>
                  <a:cubicBezTo>
                    <a:pt x="1772042" y="0"/>
                    <a:pt x="1776978" y="2044"/>
                    <a:pt x="1780617" y="5684"/>
                  </a:cubicBezTo>
                  <a:cubicBezTo>
                    <a:pt x="1784256" y="9323"/>
                    <a:pt x="1786301" y="14259"/>
                    <a:pt x="1786301" y="19405"/>
                  </a:cubicBezTo>
                  <a:lnTo>
                    <a:pt x="1786301" y="1785280"/>
                  </a:lnTo>
                  <a:cubicBezTo>
                    <a:pt x="1786301" y="1795997"/>
                    <a:pt x="1777613" y="1804685"/>
                    <a:pt x="1766896" y="1804685"/>
                  </a:cubicBezTo>
                  <a:lnTo>
                    <a:pt x="19405" y="1804685"/>
                  </a:lnTo>
                  <a:cubicBezTo>
                    <a:pt x="14259" y="1804685"/>
                    <a:pt x="9323" y="1802640"/>
                    <a:pt x="5684" y="1799001"/>
                  </a:cubicBezTo>
                  <a:cubicBezTo>
                    <a:pt x="2044" y="1795362"/>
                    <a:pt x="0" y="1790426"/>
                    <a:pt x="0" y="1785280"/>
                  </a:cubicBezTo>
                  <a:lnTo>
                    <a:pt x="0" y="19405"/>
                  </a:lnTo>
                  <a:cubicBezTo>
                    <a:pt x="0" y="14259"/>
                    <a:pt x="2044" y="9323"/>
                    <a:pt x="5684" y="5684"/>
                  </a:cubicBezTo>
                  <a:cubicBezTo>
                    <a:pt x="9323" y="2044"/>
                    <a:pt x="14259" y="0"/>
                    <a:pt x="19405" y="0"/>
                  </a:cubicBezTo>
                  <a:close/>
                </a:path>
              </a:pathLst>
            </a:custGeom>
            <a:solidFill>
              <a:srgbClr val="C9E8F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786301" cy="1852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356604" y="4352486"/>
            <a:ext cx="1050864" cy="791014"/>
          </a:xfrm>
          <a:custGeom>
            <a:avLst/>
            <a:gdLst/>
            <a:ahLst/>
            <a:cxnLst/>
            <a:rect l="l" t="t" r="r" b="b"/>
            <a:pathLst>
              <a:path w="1050864" h="791014">
                <a:moveTo>
                  <a:pt x="0" y="0"/>
                </a:moveTo>
                <a:lnTo>
                  <a:pt x="1050864" y="0"/>
                </a:lnTo>
                <a:lnTo>
                  <a:pt x="1050864" y="791014"/>
                </a:lnTo>
                <a:lnTo>
                  <a:pt x="0" y="791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454112" y="6096000"/>
            <a:ext cx="953356" cy="1037441"/>
          </a:xfrm>
          <a:custGeom>
            <a:avLst/>
            <a:gdLst/>
            <a:ahLst/>
            <a:cxnLst/>
            <a:rect l="l" t="t" r="r" b="b"/>
            <a:pathLst>
              <a:path w="953356" h="1037441">
                <a:moveTo>
                  <a:pt x="0" y="0"/>
                </a:moveTo>
                <a:lnTo>
                  <a:pt x="953356" y="0"/>
                </a:lnTo>
                <a:lnTo>
                  <a:pt x="953356" y="1037441"/>
                </a:lnTo>
                <a:lnTo>
                  <a:pt x="0" y="1037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455497" y="4285811"/>
            <a:ext cx="8539157" cy="457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Hoàn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thiện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hệ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thống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Website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hỗ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trợ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học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tập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đầy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đủ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tính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năng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cho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Sinh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viên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Giảng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viên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và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Quản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trị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viên</a:t>
            </a:r>
            <a:endParaRPr lang="en-US" sz="27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4199"/>
              </a:lnSpc>
            </a:pP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Công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nghệ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hiện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đại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Sử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dụng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ReactJS, Node.js, MySQL;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kiến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trúc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RESTful API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ổn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định</a:t>
            </a:r>
            <a:endParaRPr lang="en-US" sz="27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4199"/>
              </a:lnSpc>
            </a:pPr>
            <a:endParaRPr lang="en-US" sz="27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4199"/>
              </a:lnSpc>
            </a:pP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Bảo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mật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tối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2799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ưu</a:t>
            </a:r>
            <a:r>
              <a:rPr lang="en-US" sz="2799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: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Xác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thực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qua JWT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và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phân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quyền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người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dùng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chặt</a:t>
            </a:r>
            <a:r>
              <a:rPr lang="en-US" sz="2799" dirty="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799" dirty="0" err="1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chẽ</a:t>
            </a:r>
            <a:endParaRPr lang="en-US" sz="2799" dirty="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104257" y="75565"/>
            <a:ext cx="1115770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4. Kết luận và hướng phát triển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9161" y="2482823"/>
            <a:ext cx="7931979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Đề tài đã hoàn thành các mục tiêu đề ra, Xây dựng thành công mộn hệ thống hỗ trợ học tập hoàn chỉnh: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527149"/>
            <a:ext cx="255270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 dirty="0" err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Kết</a:t>
            </a:r>
            <a:r>
              <a:rPr lang="en-US" sz="4000" b="1" dirty="0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4000" b="1" dirty="0" err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luận</a:t>
            </a:r>
            <a:endParaRPr lang="en-US" sz="4000" b="1" dirty="0">
              <a:solidFill>
                <a:srgbClr val="360185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698495" y="2895574"/>
            <a:ext cx="5787087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Hạn chế của hệ thống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89212" y="4071613"/>
            <a:ext cx="5187803" cy="318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Triển khai: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Hiện chỉ hoạt động ở môi trường cục bộ (Localhost), chưa đưa lên server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Trải nghiệm người dùng:</a:t>
            </a:r>
            <a:r>
              <a:rPr lang="en-US" sz="26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Giao diện chưa tối ưu hoàn toàn cho thiết bị di động (Responsive)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256807"/>
            <a:chOff x="0" y="0"/>
            <a:chExt cx="4816593" cy="331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31011"/>
            </a:xfrm>
            <a:custGeom>
              <a:avLst/>
              <a:gdLst/>
              <a:ahLst/>
              <a:cxnLst/>
              <a:rect l="l" t="t" r="r" b="b"/>
              <a:pathLst>
                <a:path w="4816592" h="331011">
                  <a:moveTo>
                    <a:pt x="0" y="0"/>
                  </a:moveTo>
                  <a:lnTo>
                    <a:pt x="4816592" y="0"/>
                  </a:lnTo>
                  <a:lnTo>
                    <a:pt x="4816592" y="331011"/>
                  </a:lnTo>
                  <a:lnTo>
                    <a:pt x="0" y="331011"/>
                  </a:lnTo>
                  <a:close/>
                </a:path>
              </a:pathLst>
            </a:custGeom>
            <a:solidFill>
              <a:srgbClr val="3601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378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9230906" y="3512486"/>
            <a:ext cx="0" cy="4369662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H="1" flipV="1">
            <a:off x="8602267" y="4684322"/>
            <a:ext cx="628639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H="1" flipV="1">
            <a:off x="9230906" y="6113072"/>
            <a:ext cx="623669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0229278" y="5227414"/>
            <a:ext cx="932312" cy="1676067"/>
          </a:xfrm>
          <a:custGeom>
            <a:avLst/>
            <a:gdLst/>
            <a:ahLst/>
            <a:cxnLst/>
            <a:rect l="l" t="t" r="r" b="b"/>
            <a:pathLst>
              <a:path w="932312" h="1676067">
                <a:moveTo>
                  <a:pt x="0" y="0"/>
                </a:moveTo>
                <a:lnTo>
                  <a:pt x="932313" y="0"/>
                </a:lnTo>
                <a:lnTo>
                  <a:pt x="932313" y="1676067"/>
                </a:lnTo>
                <a:lnTo>
                  <a:pt x="0" y="1676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H="1">
            <a:off x="8602267" y="7836216"/>
            <a:ext cx="628639" cy="0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445618" y="7527146"/>
            <a:ext cx="808587" cy="939943"/>
          </a:xfrm>
          <a:custGeom>
            <a:avLst/>
            <a:gdLst/>
            <a:ahLst/>
            <a:cxnLst/>
            <a:rect l="l" t="t" r="r" b="b"/>
            <a:pathLst>
              <a:path w="808587" h="939943">
                <a:moveTo>
                  <a:pt x="0" y="0"/>
                </a:moveTo>
                <a:lnTo>
                  <a:pt x="808587" y="0"/>
                </a:lnTo>
                <a:lnTo>
                  <a:pt x="808587" y="939942"/>
                </a:lnTo>
                <a:lnTo>
                  <a:pt x="0" y="9399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1123" y="3951130"/>
            <a:ext cx="1115153" cy="1276284"/>
          </a:xfrm>
          <a:custGeom>
            <a:avLst/>
            <a:gdLst/>
            <a:ahLst/>
            <a:cxnLst/>
            <a:rect l="l" t="t" r="r" b="b"/>
            <a:pathLst>
              <a:path w="1115153" h="1276284">
                <a:moveTo>
                  <a:pt x="0" y="0"/>
                </a:moveTo>
                <a:lnTo>
                  <a:pt x="1115154" y="0"/>
                </a:lnTo>
                <a:lnTo>
                  <a:pt x="1115154" y="1276284"/>
                </a:lnTo>
                <a:lnTo>
                  <a:pt x="0" y="1276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04257" y="75565"/>
            <a:ext cx="11157704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F4B342"/>
                </a:solidFill>
                <a:latin typeface="Tahoma Bold"/>
                <a:ea typeface="Tahoma Bold"/>
                <a:cs typeface="Tahoma Bold"/>
                <a:sym typeface="Tahoma Bold"/>
              </a:rPr>
              <a:t>4. Kết luận và hướng phát triển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9911" y="1678885"/>
            <a:ext cx="5669535" cy="679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360185"/>
                </a:solidFill>
                <a:latin typeface="Tahoma Bold"/>
                <a:ea typeface="Tahoma Bold"/>
                <a:cs typeface="Tahoma Bold"/>
                <a:sym typeface="Tahoma Bold"/>
              </a:rPr>
              <a:t>Hướng phát triển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398" y="2578401"/>
            <a:ext cx="1535120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Để hệ thống trở thành một công cụ mạnh mẽ hơn, các hướng phát triển trong tương lai gồm: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4657" y="4305312"/>
            <a:ext cx="6352619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Bổ sang dạng bài tập nâng cao: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tự luận, nộp file và các hình thức đánh giá khác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36294" y="5419652"/>
            <a:ext cx="6306088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Tối ưu hóa cho thiết bị di động: </a:t>
            </a: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cải thiện giao diện để mang lại trỉa nghiệm học tập trên điện thoại và máy tính bảng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87555" y="7571103"/>
            <a:ext cx="6911170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Xây dựng hệ thống thông báo thời gian thực: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gửi thông báo từc thì vè khóa học, nhắc nhở lịch học,..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8128" y="4341178"/>
            <a:ext cx="16491745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36018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Xin cảm ơn Quý Thầy Cô đã dành thời gian lắng nghe</a:t>
            </a:r>
          </a:p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36018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Rất mong nhận được những góp ý quý báu từ thầy cô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34518" y="904875"/>
            <a:ext cx="821896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CB802"/>
                </a:solidFill>
                <a:latin typeface="Tahoma Bold"/>
                <a:ea typeface="Tahoma Bold"/>
                <a:cs typeface="Tahoma Bold"/>
                <a:sym typeface="Tahoma Bold"/>
              </a:rPr>
              <a:t>Trân trọng cảm 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1260</Words>
  <Application>Microsoft Office PowerPoint</Application>
  <PresentationFormat>Custom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Tahoma</vt:lpstr>
      <vt:lpstr>Canva Sans Bold</vt:lpstr>
      <vt:lpstr>Tahoma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Baocaodoan</dc:title>
  <cp:lastModifiedBy>ASUS PC</cp:lastModifiedBy>
  <cp:revision>2</cp:revision>
  <dcterms:created xsi:type="dcterms:W3CDTF">2006-08-16T00:00:00Z</dcterms:created>
  <dcterms:modified xsi:type="dcterms:W3CDTF">2026-01-04T16:59:40Z</dcterms:modified>
  <dc:identifier>DAG9XLHF_xo</dc:identifier>
</cp:coreProperties>
</file>